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  <p:sldMasterId id="2147483685" r:id="rId2"/>
    <p:sldMasterId id="2147483700" r:id="rId3"/>
  </p:sldMasterIdLst>
  <p:notesMasterIdLst>
    <p:notesMasterId r:id="rId35"/>
  </p:notesMasterIdLst>
  <p:sldIdLst>
    <p:sldId id="260" r:id="rId4"/>
    <p:sldId id="693" r:id="rId5"/>
    <p:sldId id="739" r:id="rId6"/>
    <p:sldId id="735" r:id="rId7"/>
    <p:sldId id="737" r:id="rId8"/>
    <p:sldId id="738" r:id="rId9"/>
    <p:sldId id="759" r:id="rId10"/>
    <p:sldId id="760" r:id="rId11"/>
    <p:sldId id="740" r:id="rId12"/>
    <p:sldId id="736" r:id="rId13"/>
    <p:sldId id="741" r:id="rId14"/>
    <p:sldId id="742" r:id="rId15"/>
    <p:sldId id="745" r:id="rId16"/>
    <p:sldId id="744" r:id="rId17"/>
    <p:sldId id="746" r:id="rId18"/>
    <p:sldId id="747" r:id="rId19"/>
    <p:sldId id="748" r:id="rId20"/>
    <p:sldId id="749" r:id="rId21"/>
    <p:sldId id="750" r:id="rId22"/>
    <p:sldId id="751" r:id="rId23"/>
    <p:sldId id="761" r:id="rId24"/>
    <p:sldId id="762" r:id="rId25"/>
    <p:sldId id="752" r:id="rId26"/>
    <p:sldId id="753" r:id="rId27"/>
    <p:sldId id="754" r:id="rId28"/>
    <p:sldId id="763" r:id="rId29"/>
    <p:sldId id="755" r:id="rId30"/>
    <p:sldId id="756" r:id="rId31"/>
    <p:sldId id="743" r:id="rId32"/>
    <p:sldId id="758" r:id="rId33"/>
    <p:sldId id="75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ần Mặc định" id="{3FF95120-09F4-4CA9-8B73-3D5976CCB4A5}">
          <p14:sldIdLst>
            <p14:sldId id="260"/>
            <p14:sldId id="693"/>
            <p14:sldId id="739"/>
            <p14:sldId id="735"/>
            <p14:sldId id="737"/>
            <p14:sldId id="738"/>
            <p14:sldId id="759"/>
            <p14:sldId id="760"/>
            <p14:sldId id="740"/>
            <p14:sldId id="736"/>
            <p14:sldId id="741"/>
            <p14:sldId id="742"/>
            <p14:sldId id="745"/>
            <p14:sldId id="744"/>
            <p14:sldId id="746"/>
            <p14:sldId id="747"/>
            <p14:sldId id="748"/>
            <p14:sldId id="749"/>
            <p14:sldId id="750"/>
            <p14:sldId id="751"/>
            <p14:sldId id="761"/>
            <p14:sldId id="762"/>
            <p14:sldId id="752"/>
            <p14:sldId id="753"/>
          </p14:sldIdLst>
        </p14:section>
        <p14:section name="Mục chưa có tên" id="{965ADAC3-96DE-4B70-BEF4-901A4341B931}">
          <p14:sldIdLst>
            <p14:sldId id="754"/>
            <p14:sldId id="763"/>
            <p14:sldId id="755"/>
            <p14:sldId id="756"/>
            <p14:sldId id="743"/>
            <p14:sldId id="758"/>
            <p14:sldId id="7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9F9F9"/>
    <a:srgbClr val="0000FF"/>
    <a:srgbClr val="FF5A33"/>
    <a:srgbClr val="5C0000"/>
    <a:srgbClr val="FF99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F6BAA-1E32-A934-EAAB-483F7D2667C7}" v="5" dt="2025-11-13T15:55:20.890"/>
    <p1510:client id="{0A0128D7-B079-4042-BB45-AE3637CC31BE}" v="103" dt="2025-11-13T17:12:16.609"/>
    <p1510:client id="{1744F55D-91DE-9420-B8A0-9C18E63CD225}" v="92" dt="2025-11-13T16:19:54.969"/>
    <p1510:client id="{B2637282-B4FE-8A78-3246-4FAB139A5736}" v="367" dt="2025-11-13T17:12:43.9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1.jpeg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môn</a:t>
            </a:r>
            <a:r>
              <a:rPr lang="en-US"/>
              <a:t> </a:t>
            </a:r>
            <a:r>
              <a:rPr lang="en-US" err="1"/>
              <a:t>học</a:t>
            </a: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0F569-7858-4DA0-90EC-1AB4E27FD37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BF4A2-3C6A-4F75-888A-07ED3E036AE1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D6C1-3F2F-45EB-987A-C333A3F63A61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5BAD-EFF8-4C7A-B0DF-BCD8E1EDD234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0EC59-39C3-490C-989D-62C2812C1A9B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>
                <a:solidFill>
                  <a:schemeClr val="bg1"/>
                </a:solidFill>
              </a:rPr>
              <a:t>DEM</a:t>
            </a:r>
            <a:r>
              <a:rPr lang="en-US" sz="11500" b="1">
                <a:solidFill>
                  <a:schemeClr val="bg1"/>
                </a:solidFill>
              </a:rPr>
              <a:t>O</a:t>
            </a:r>
          </a:p>
          <a:p>
            <a:endParaRPr lang="en-US" sz="180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E7A03-E2FE-4721-9011-4149F834CB0D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A484-BC91-49D0-8F8D-18D3315E6030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5B53-1F78-4F01-ABED-88EEBD7C407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CF842-59AF-427C-ACBC-D36D24E0CB1B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A41B8-5FEA-4CA2-B7CF-78A09B3BA53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err="1"/>
              <a:t>Tiêu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Silde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mục</a:t>
            </a:r>
            <a:r>
              <a:rPr lang="en-US"/>
              <a:t> </a:t>
            </a:r>
            <a:r>
              <a:rPr lang="en-US" err="1"/>
              <a:t>lớn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viết</a:t>
            </a:r>
            <a:r>
              <a:rPr lang="en-US"/>
              <a:t> …….</a:t>
            </a:r>
          </a:p>
          <a:p>
            <a:r>
              <a:rPr lang="en-US"/>
              <a:t>960, abstract, background, banner, bar, box, business, button, circle, clean,</a:t>
            </a:r>
          </a:p>
          <a:p>
            <a:r>
              <a:rPr lang="en-US" b="1" err="1"/>
              <a:t>Nôi</a:t>
            </a:r>
            <a:r>
              <a:rPr lang="en-US" b="1"/>
              <a:t> dung </a:t>
            </a:r>
            <a:r>
              <a:rPr lang="en-US" b="1" err="1"/>
              <a:t>cần</a:t>
            </a:r>
            <a:r>
              <a:rPr lang="en-US" b="1"/>
              <a:t> </a:t>
            </a:r>
            <a:r>
              <a:rPr lang="en-US" b="1" err="1"/>
              <a:t>nhấn</a:t>
            </a:r>
            <a:r>
              <a:rPr lang="en-US" b="1"/>
              <a:t> </a:t>
            </a:r>
            <a:r>
              <a:rPr lang="en-US" b="1" err="1"/>
              <a:t>mạnh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môn</a:t>
            </a:r>
            <a:r>
              <a:rPr lang="en-US"/>
              <a:t> </a:t>
            </a:r>
            <a:r>
              <a:rPr lang="en-US" err="1"/>
              <a:t>học</a:t>
            </a: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727650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2193-23DB-41F7-8BF6-4C300FD984A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27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7700-9881-4068-A618-B0854BF98A29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26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0C555-A095-4004-896C-F93A2C2FFF74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51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4AA7-F24F-4C86-A294-9EEE76562DCF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49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D2F3-C4A3-4E01-A15B-F44AEB66B5E3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>
                <a:solidFill>
                  <a:schemeClr val="bg1"/>
                </a:solidFill>
              </a:rPr>
              <a:t>DEM</a:t>
            </a:r>
            <a:r>
              <a:rPr lang="en-US" sz="11500" b="1">
                <a:solidFill>
                  <a:schemeClr val="bg1"/>
                </a:solidFill>
              </a:rPr>
              <a:t>O</a:t>
            </a:r>
          </a:p>
          <a:p>
            <a:endParaRPr lang="en-US" sz="180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107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78A5-AC0E-46A7-AB93-36A408E5A84E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85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A17-2609-472D-A24A-46A4009C4779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4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B35A-6815-4F8C-BA27-6EA423ADD2B6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41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1452-B787-4BDA-8B46-09E07DDAE83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45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263F-335F-4E4F-89FF-FFC4C60B48BD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14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14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err="1"/>
              <a:t>Tiêu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Silde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mục</a:t>
            </a:r>
            <a:r>
              <a:rPr lang="en-US"/>
              <a:t> </a:t>
            </a:r>
            <a:r>
              <a:rPr lang="en-US" err="1"/>
              <a:t>lớn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viết</a:t>
            </a:r>
            <a:r>
              <a:rPr lang="en-US"/>
              <a:t> …….</a:t>
            </a:r>
          </a:p>
          <a:p>
            <a:r>
              <a:rPr lang="en-US"/>
              <a:t>960, abstract, background, banner, bar, box, business, button, circle, clean,</a:t>
            </a:r>
          </a:p>
          <a:p>
            <a:r>
              <a:rPr lang="en-US" b="1" err="1"/>
              <a:t>Nôi</a:t>
            </a:r>
            <a:r>
              <a:rPr lang="en-US" b="1"/>
              <a:t> dung </a:t>
            </a:r>
            <a:r>
              <a:rPr lang="en-US" b="1" err="1"/>
              <a:t>cần</a:t>
            </a:r>
            <a:r>
              <a:rPr lang="en-US" b="1"/>
              <a:t> </a:t>
            </a:r>
            <a:r>
              <a:rPr lang="en-US" b="1" err="1"/>
              <a:t>nhấn</a:t>
            </a:r>
            <a:r>
              <a:rPr lang="en-US" b="1"/>
              <a:t> </a:t>
            </a:r>
            <a:r>
              <a:rPr lang="en-US" b="1" err="1"/>
              <a:t>mạnh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22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07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58" y="228600"/>
            <a:ext cx="11315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6558"/>
            <a:ext cx="4978400" cy="1214039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58" y="5791200"/>
            <a:ext cx="10604500" cy="79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8863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3"/>
              </a:buBlip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buFontTx/>
              <a:buBlip>
                <a:blip r:embed="rId4"/>
              </a:buBlip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buFontTx/>
              <a:buBlip>
                <a:blip r:embed="rId5"/>
              </a:buBlip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 dirty="0"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38F81FAE-D748-4BFC-A8B0-D2E750E88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LOGO FPT POLYTECHNIC.jp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28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 i="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269FD7F-F1B9-4EBE-8876-2DA927AD4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9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ACBE273D-A5B0-43E9-B55F-D261AD9B2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50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E4E63BF6-D75B-49C2-9B0F-571DC542C4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70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F31B4AE-D66A-4FED-AD35-BAB7214338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9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26EE0-A18C-4D9F-96A6-A0314DB8E2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3" descr="nền slide thank you trắng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7350"/>
            <a:ext cx="12192000" cy="647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6299200" y="64008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Fpt-DaxlinePro-Bold" pitchFamily="2" charset="0"/>
              </a:rPr>
              <a:t>www.poly.edu.vn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315200" y="2438400"/>
            <a:ext cx="609600" cy="846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900">
                <a:solidFill>
                  <a:srgbClr val="00B0F0"/>
                </a:solidFill>
                <a:latin typeface="Fpt-DaxlinePro-Medium" pitchFamily="2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28018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9.gif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8.gif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7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9EB43-FFAC-41DE-A59C-D6CB37219A4E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15CBC-2209-45C5-89CB-A658839648C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3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  Click to edit Master text styles</a:t>
            </a:r>
          </a:p>
          <a:p>
            <a:pPr lvl="1"/>
            <a:r>
              <a:rPr lang="en-US"/>
              <a:t>  Second level</a:t>
            </a:r>
          </a:p>
          <a:p>
            <a:pPr lvl="2"/>
            <a:r>
              <a:rPr lang="en-US"/>
              <a:t> 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741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F7AF65-4B18-4BB1-B100-2EF3CDE782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2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070C0"/>
          </a:solidFill>
          <a:latin typeface="+mj-lt"/>
          <a:ea typeface="+mj-ea"/>
          <a:cs typeface="Tahoma" pitchFamily="34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9"/>
        </a:buBlip>
        <a:defRPr sz="3200" kern="1200">
          <a:solidFill>
            <a:schemeClr val="accent2">
              <a:lumMod val="75000"/>
            </a:schemeClr>
          </a:solidFill>
          <a:latin typeface="+mn-lt"/>
          <a:ea typeface="+mn-ea"/>
          <a:cs typeface="Tahom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0"/>
        </a:buBlip>
        <a:defRPr sz="2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1"/>
        </a:buBlip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9800" y="1651000"/>
            <a:ext cx="7772400" cy="12192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49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PHÂN TÍCH THÓI QUEN DÙNG MẠNG XÃ HỘI</a:t>
            </a:r>
            <a:endParaRPr lang="vi-VN" sz="4000" b="1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89762"/>
              </p:ext>
            </p:extLst>
          </p:nvPr>
        </p:nvGraphicFramePr>
        <p:xfrm>
          <a:off x="6172200" y="5410200"/>
          <a:ext cx="47244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GVHD:</a:t>
                      </a:r>
                      <a:r>
                        <a:rPr lang="en-US" b="1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b="1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Trần Văn Huy</a:t>
                      </a:r>
                      <a:endPara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6DA43E-B438-D82C-7EB2-1EC652E15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24686"/>
              </p:ext>
            </p:extLst>
          </p:nvPr>
        </p:nvGraphicFramePr>
        <p:xfrm>
          <a:off x="6172200" y="3182139"/>
          <a:ext cx="4724400" cy="22269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24590">
                  <a:extLst>
                    <a:ext uri="{9D8B030D-6E8A-4147-A177-3AD203B41FA5}">
                      <a16:colId xmlns:a16="http://schemas.microsoft.com/office/drawing/2014/main" val="2341460916"/>
                    </a:ext>
                  </a:extLst>
                </a:gridCol>
                <a:gridCol w="1499810">
                  <a:extLst>
                    <a:ext uri="{9D8B030D-6E8A-4147-A177-3AD203B41FA5}">
                      <a16:colId xmlns:a16="http://schemas.microsoft.com/office/drawing/2014/main" val="4001547888"/>
                    </a:ext>
                  </a:extLst>
                </a:gridCol>
              </a:tblGrid>
              <a:tr h="372717"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solidFill>
                            <a:schemeClr val="tx1"/>
                          </a:solidFill>
                          <a:latin typeface="+mj-lt"/>
                        </a:rPr>
                        <a:t>Thành viên</a:t>
                      </a:r>
                      <a:endParaRPr lang="en-US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solidFill>
                            <a:schemeClr val="tx1"/>
                          </a:solidFill>
                          <a:latin typeface="+mj-lt"/>
                        </a:rPr>
                        <a:t>Nhiệm vụ</a:t>
                      </a:r>
                      <a:endParaRPr lang="en-US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17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vi-VN">
                          <a:latin typeface="+mj-lt"/>
                        </a:rPr>
                        <a:t>Nguyễn Đình Mai Vy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>
                          <a:latin typeface="+mj-lt"/>
                        </a:rPr>
                        <a:t>Trưởng nhóm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6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vi-VN">
                          <a:latin typeface="+mj-lt"/>
                        </a:rPr>
                        <a:t>2. Lê Nhựt Thái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>
                          <a:latin typeface="+mj-lt"/>
                        </a:rPr>
                        <a:t>Thành viên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88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>
                          <a:latin typeface="+mj-lt"/>
                        </a:rPr>
                        <a:t>3. Phạm Nguyễn Bảo Thi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>
                          <a:latin typeface="+mj-lt"/>
                        </a:rPr>
                        <a:t>Thành viên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15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>
                          <a:latin typeface="+mj-lt"/>
                        </a:rPr>
                        <a:t>4. Nguyễn Thị Mỹ Huyền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>
                          <a:latin typeface="+mj-lt"/>
                        </a:rPr>
                        <a:t>Thành viên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98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>
                          <a:latin typeface="+mj-lt"/>
                        </a:rPr>
                        <a:t>5. Nguyễn Quốc Hưng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>
                          <a:latin typeface="+mj-lt"/>
                        </a:rPr>
                        <a:t>Thành viên</a:t>
                      </a:r>
                      <a:endParaRPr lang="en-US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3087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về dự án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Quá trình thực hiện dự án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Khó khăn &amp; Thuận lợi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dự án.</a:t>
            </a:r>
          </a:p>
          <a:p>
            <a:pPr>
              <a:buFont typeface="Wingdings" pitchFamily="2" charset="2"/>
              <a:buChar char="&amp;"/>
            </a:pPr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&amp;"/>
            </a:pPr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82B8-6478-8857-5780-0AB84DE3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Phân tích thói quen dùng MXH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DAE1D-46B1-075A-10B0-704C69B5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87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980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Thành viên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E8A6A6-9816-CA9D-EBC4-9984E695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7D1DC-E1D7-D542-D6C1-2487B587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13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 #1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791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Nguyễn Đình Mai </a:t>
            </a:r>
            <a:r>
              <a:rPr lang="vi-VN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Vy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Team Leader</a:t>
            </a:r>
          </a:p>
          <a:p>
            <a:pPr lvl="1"/>
            <a:r>
              <a:rPr lang="en-US" sz="2000"/>
              <a:t>Project Lead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Lên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hoạch</a:t>
            </a:r>
            <a:r>
              <a:rPr lang="en-US" sz="2000"/>
              <a:t> </a:t>
            </a:r>
            <a:r>
              <a:rPr lang="en-US" sz="2000" err="1"/>
              <a:t>và</a:t>
            </a:r>
            <a:r>
              <a:rPr lang="en-US" sz="2000"/>
              <a:t> </a:t>
            </a:r>
            <a:r>
              <a:rPr lang="en-US" sz="2000" err="1"/>
              <a:t>lịch</a:t>
            </a:r>
            <a:r>
              <a:rPr lang="en-US" sz="2000"/>
              <a:t> </a:t>
            </a:r>
            <a:r>
              <a:rPr lang="en-US" sz="2000" err="1"/>
              <a:t>trình</a:t>
            </a:r>
            <a:r>
              <a:rPr lang="en-US" sz="2000"/>
              <a:t> </a:t>
            </a:r>
            <a:r>
              <a:rPr lang="en-US" sz="2000" err="1"/>
              <a:t>dự</a:t>
            </a:r>
            <a:r>
              <a:rPr lang="en-US" sz="2000"/>
              <a:t> </a:t>
            </a:r>
            <a:r>
              <a:rPr lang="en-US" sz="2000" err="1"/>
              <a:t>án</a:t>
            </a:r>
            <a:r>
              <a:rPr lang="en-US" sz="2000"/>
              <a:t>.</a:t>
            </a:r>
          </a:p>
          <a:p>
            <a:pPr lvl="1"/>
            <a:r>
              <a:rPr lang="en-US" sz="2000"/>
              <a:t>Quản </a:t>
            </a:r>
            <a:r>
              <a:rPr lang="en-US" sz="2000" err="1"/>
              <a:t>lý</a:t>
            </a:r>
            <a:r>
              <a:rPr lang="en-US" sz="2000"/>
              <a:t> team, tasks.</a:t>
            </a:r>
          </a:p>
          <a:p>
            <a:pPr lvl="1"/>
            <a:r>
              <a:rPr lang="en-US" sz="2000"/>
              <a:t>Giao </a:t>
            </a:r>
            <a:r>
              <a:rPr lang="en-US" sz="2000" err="1"/>
              <a:t>tiếp</a:t>
            </a:r>
            <a:r>
              <a:rPr lang="en-US" sz="2000"/>
              <a:t> </a:t>
            </a:r>
            <a:r>
              <a:rPr lang="en-US" sz="2000" err="1"/>
              <a:t>làm</a:t>
            </a:r>
            <a:r>
              <a:rPr lang="en-US" sz="2000"/>
              <a:t> </a:t>
            </a:r>
            <a:r>
              <a:rPr lang="en-US" sz="2000" err="1"/>
              <a:t>việc</a:t>
            </a:r>
            <a:r>
              <a:rPr lang="en-US" sz="2000"/>
              <a:t> </a:t>
            </a:r>
            <a:r>
              <a:rPr lang="en-US" sz="2000" err="1"/>
              <a:t>với</a:t>
            </a:r>
            <a:r>
              <a:rPr lang="en-US" sz="2000"/>
              <a:t> </a:t>
            </a:r>
            <a:r>
              <a:rPr lang="en-US" sz="2000" err="1"/>
              <a:t>các</a:t>
            </a:r>
            <a:r>
              <a:rPr lang="en-US" sz="2000"/>
              <a:t> </a:t>
            </a:r>
            <a:r>
              <a:rPr lang="en-US" sz="2000" err="1"/>
              <a:t>bên</a:t>
            </a:r>
            <a:r>
              <a:rPr lang="en-US" sz="2000"/>
              <a:t> </a:t>
            </a:r>
            <a:r>
              <a:rPr lang="en-US" sz="2000" err="1"/>
              <a:t>liên</a:t>
            </a:r>
            <a:r>
              <a:rPr lang="en-US" sz="2000"/>
              <a:t> </a:t>
            </a:r>
            <a:r>
              <a:rPr lang="en-US" sz="2000" err="1"/>
              <a:t>quan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Thiết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hệ</a:t>
            </a:r>
            <a:r>
              <a:rPr lang="en-US" sz="2000"/>
              <a:t> </a:t>
            </a:r>
            <a:r>
              <a:rPr lang="en-US" sz="2000" err="1"/>
              <a:t>thống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Tạo</a:t>
            </a:r>
            <a:r>
              <a:rPr lang="en-US" sz="2000"/>
              <a:t> measure.</a:t>
            </a:r>
          </a:p>
          <a:p>
            <a:pPr lvl="1"/>
            <a:r>
              <a:rPr lang="en-US" sz="2000" err="1"/>
              <a:t>Viết</a:t>
            </a:r>
            <a:r>
              <a:rPr lang="en-US" sz="2000"/>
              <a:t> </a:t>
            </a:r>
            <a:r>
              <a:rPr lang="en-US" sz="2000" err="1"/>
              <a:t>báo</a:t>
            </a:r>
            <a:r>
              <a:rPr lang="en-US" sz="2000"/>
              <a:t> </a:t>
            </a:r>
            <a:r>
              <a:rPr lang="en-US" sz="2000" err="1"/>
              <a:t>cáo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Reports to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Giảng</a:t>
            </a:r>
            <a:r>
              <a:rPr lang="en-US" sz="2000"/>
              <a:t> </a:t>
            </a:r>
            <a:r>
              <a:rPr lang="en-US" sz="2000" err="1"/>
              <a:t>viên</a:t>
            </a:r>
            <a:r>
              <a:rPr lang="en-US" sz="2000"/>
              <a:t> (Product Owner).</a:t>
            </a:r>
          </a:p>
          <a:p>
            <a:pPr lvl="1"/>
            <a:endParaRPr lang="en-US" sz="2000"/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08E75-C89F-E4C4-EDA0-6BD86ABC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836D8-BC7B-7758-D7E2-79711F19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39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 #2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791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Lê Nhựt Thái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Business Analyst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Hỡ</a:t>
            </a:r>
            <a:r>
              <a:rPr lang="en-US" sz="2000"/>
              <a:t> </a:t>
            </a:r>
            <a:r>
              <a:rPr lang="en-US" sz="2000" err="1"/>
              <a:t>trợ</a:t>
            </a:r>
            <a:r>
              <a:rPr lang="en-US" sz="2000"/>
              <a:t> </a:t>
            </a:r>
            <a:r>
              <a:rPr lang="en-US" sz="2000" err="1"/>
              <a:t>xác</a:t>
            </a:r>
            <a:r>
              <a:rPr lang="en-US" sz="2000"/>
              <a:t> </a:t>
            </a:r>
            <a:r>
              <a:rPr lang="en-US" sz="2000" err="1"/>
              <a:t>định</a:t>
            </a:r>
            <a:r>
              <a:rPr lang="en-US" sz="2000"/>
              <a:t> </a:t>
            </a:r>
            <a:r>
              <a:rPr lang="en-US" sz="2000" err="1"/>
              <a:t>dự</a:t>
            </a:r>
            <a:r>
              <a:rPr lang="en-US" sz="2000"/>
              <a:t> </a:t>
            </a:r>
            <a:r>
              <a:rPr lang="en-US" sz="2000" err="1"/>
              <a:t>án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Tiếp</a:t>
            </a:r>
            <a:r>
              <a:rPr lang="en-US" sz="2000"/>
              <a:t> </a:t>
            </a:r>
            <a:r>
              <a:rPr lang="en-US" sz="2000" err="1"/>
              <a:t>nhận</a:t>
            </a:r>
            <a:r>
              <a:rPr lang="en-US" sz="2000"/>
              <a:t> </a:t>
            </a:r>
            <a:r>
              <a:rPr lang="en-US" sz="2000" err="1"/>
              <a:t>nhu</a:t>
            </a:r>
            <a:r>
              <a:rPr lang="en-US" sz="2000"/>
              <a:t> </a:t>
            </a:r>
            <a:r>
              <a:rPr lang="en-US" sz="2000" err="1"/>
              <a:t>cầu</a:t>
            </a:r>
            <a:r>
              <a:rPr lang="en-US" sz="2000"/>
              <a:t> </a:t>
            </a:r>
            <a:r>
              <a:rPr lang="en-US" sz="2000" err="1"/>
              <a:t>từ</a:t>
            </a:r>
            <a:r>
              <a:rPr lang="en-US" sz="2000"/>
              <a:t> </a:t>
            </a:r>
            <a:r>
              <a:rPr lang="en-US" sz="2000" err="1"/>
              <a:t>các</a:t>
            </a:r>
            <a:r>
              <a:rPr lang="en-US" sz="2000"/>
              <a:t> </a:t>
            </a:r>
            <a:r>
              <a:rPr lang="en-US" sz="2000" err="1"/>
              <a:t>bộ</a:t>
            </a:r>
            <a:r>
              <a:rPr lang="en-US" sz="2000"/>
              <a:t> </a:t>
            </a:r>
            <a:r>
              <a:rPr lang="en-US" sz="2000" err="1"/>
              <a:t>phân</a:t>
            </a:r>
            <a:r>
              <a:rPr lang="en-US" sz="2000"/>
              <a:t> </a:t>
            </a:r>
            <a:r>
              <a:rPr lang="en-US" sz="2000" err="1"/>
              <a:t>và</a:t>
            </a:r>
            <a:r>
              <a:rPr lang="en-US" sz="2000"/>
              <a:t> </a:t>
            </a:r>
            <a:r>
              <a:rPr lang="en-US" sz="2000" err="1"/>
              <a:t>người</a:t>
            </a:r>
            <a:r>
              <a:rPr lang="en-US" sz="2000"/>
              <a:t> </a:t>
            </a:r>
            <a:r>
              <a:rPr lang="en-US" sz="2000" err="1"/>
              <a:t>dùng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Kiểm</a:t>
            </a:r>
            <a:r>
              <a:rPr lang="en-US" sz="2000"/>
              <a:t> </a:t>
            </a:r>
            <a:r>
              <a:rPr lang="en-US" sz="2000" err="1"/>
              <a:t>tra</a:t>
            </a:r>
            <a:r>
              <a:rPr lang="en-US" sz="2000"/>
              <a:t> </a:t>
            </a:r>
            <a:r>
              <a:rPr lang="en-US" sz="2000" err="1"/>
              <a:t>sản</a:t>
            </a:r>
            <a:r>
              <a:rPr lang="en-US" sz="2000"/>
              <a:t> </a:t>
            </a:r>
            <a:r>
              <a:rPr lang="en-US" sz="2000" err="1"/>
              <a:t>phẩm</a:t>
            </a:r>
            <a:r>
              <a:rPr lang="en-US" sz="2000"/>
              <a:t> </a:t>
            </a:r>
            <a:r>
              <a:rPr lang="en-US" sz="2000" err="1"/>
              <a:t>có</a:t>
            </a:r>
            <a:r>
              <a:rPr lang="en-US" sz="2000"/>
              <a:t> </a:t>
            </a:r>
            <a:r>
              <a:rPr lang="en-US" sz="2000" err="1"/>
              <a:t>bàn</a:t>
            </a:r>
            <a:r>
              <a:rPr lang="en-US" sz="2000"/>
              <a:t> </a:t>
            </a:r>
            <a:r>
              <a:rPr lang="en-US" sz="2000" err="1"/>
              <a:t>giao</a:t>
            </a:r>
            <a:r>
              <a:rPr lang="en-US" sz="2000"/>
              <a:t> </a:t>
            </a:r>
            <a:r>
              <a:rPr lang="en-US" sz="2000" err="1"/>
              <a:t>như</a:t>
            </a:r>
            <a:r>
              <a:rPr lang="en-US" sz="2000"/>
              <a:t> </a:t>
            </a:r>
            <a:r>
              <a:rPr lang="en-US" sz="2000" err="1"/>
              <a:t>yêu</a:t>
            </a:r>
            <a:r>
              <a:rPr lang="en-US" sz="2000"/>
              <a:t> </a:t>
            </a:r>
            <a:r>
              <a:rPr lang="en-US" sz="2000" err="1"/>
              <a:t>cầu</a:t>
            </a:r>
            <a:r>
              <a:rPr lang="en-US" sz="2000"/>
              <a:t> </a:t>
            </a:r>
            <a:r>
              <a:rPr lang="en-US" sz="2000" err="1"/>
              <a:t>của</a:t>
            </a:r>
            <a:r>
              <a:rPr lang="en-US" sz="2000"/>
              <a:t> </a:t>
            </a:r>
            <a:r>
              <a:rPr lang="en-US" sz="2000" err="1"/>
              <a:t>khách</a:t>
            </a:r>
            <a:r>
              <a:rPr lang="en-US" sz="2000"/>
              <a:t> </a:t>
            </a:r>
            <a:r>
              <a:rPr lang="en-US" sz="2000" err="1"/>
              <a:t>hàng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Lập</a:t>
            </a:r>
            <a:r>
              <a:rPr lang="en-US" sz="2000"/>
              <a:t> </a:t>
            </a:r>
            <a:r>
              <a:rPr lang="en-US" sz="2000" err="1"/>
              <a:t>tài</a:t>
            </a:r>
            <a:r>
              <a:rPr lang="en-US" sz="2000"/>
              <a:t> </a:t>
            </a:r>
            <a:r>
              <a:rPr lang="en-US" sz="2000" err="1"/>
              <a:t>liệu</a:t>
            </a:r>
            <a:r>
              <a:rPr lang="en-US" sz="2000"/>
              <a:t> </a:t>
            </a:r>
            <a:r>
              <a:rPr lang="en-US" sz="2000" err="1"/>
              <a:t>của</a:t>
            </a:r>
            <a:r>
              <a:rPr lang="en-US" sz="2000"/>
              <a:t> </a:t>
            </a:r>
            <a:r>
              <a:rPr lang="en-US" sz="2000" err="1"/>
              <a:t>dự</a:t>
            </a:r>
            <a:r>
              <a:rPr lang="en-US" sz="2000"/>
              <a:t> </a:t>
            </a:r>
            <a:r>
              <a:rPr lang="en-US" sz="2000" err="1"/>
              <a:t>án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Kiểm</a:t>
            </a:r>
            <a:r>
              <a:rPr lang="en-US" sz="2000"/>
              <a:t> </a:t>
            </a:r>
            <a:r>
              <a:rPr lang="en-US" sz="2000" err="1"/>
              <a:t>tra</a:t>
            </a:r>
            <a:r>
              <a:rPr lang="en-US" sz="2000"/>
              <a:t> </a:t>
            </a:r>
            <a:r>
              <a:rPr lang="en-US" sz="2000" err="1"/>
              <a:t>sản</a:t>
            </a:r>
            <a:r>
              <a:rPr lang="en-US" sz="2000"/>
              <a:t> </a:t>
            </a:r>
            <a:r>
              <a:rPr lang="en-US" sz="2000" err="1"/>
              <a:t>phẩm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Viết</a:t>
            </a:r>
            <a:r>
              <a:rPr lang="en-US" sz="2000"/>
              <a:t> </a:t>
            </a:r>
            <a:r>
              <a:rPr lang="en-US" sz="2000" err="1"/>
              <a:t>báo</a:t>
            </a:r>
            <a:r>
              <a:rPr lang="en-US" sz="2000"/>
              <a:t> </a:t>
            </a:r>
            <a:r>
              <a:rPr lang="en-US" sz="2000" err="1"/>
              <a:t>cáo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Reports to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Giảng</a:t>
            </a:r>
            <a:r>
              <a:rPr lang="en-US" sz="2000"/>
              <a:t> </a:t>
            </a:r>
            <a:r>
              <a:rPr lang="en-US" sz="2000" err="1"/>
              <a:t>viên</a:t>
            </a:r>
            <a:r>
              <a:rPr lang="en-US" sz="2000"/>
              <a:t> (Product Owner).</a:t>
            </a:r>
          </a:p>
          <a:p>
            <a:pPr lvl="1"/>
            <a:r>
              <a:rPr lang="en-US" sz="2000"/>
              <a:t>Team lead.</a:t>
            </a:r>
          </a:p>
          <a:p>
            <a:pPr lvl="1"/>
            <a:endParaRPr lang="en-US" sz="2000"/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5BE9D-E6F7-B586-BEE1-28AEC8C6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578B7-7DD8-AFE3-244F-E6BF5728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87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 #3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791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Phạm Nguyễn Bảo Thi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Database Administrator (DBA)</a:t>
            </a:r>
          </a:p>
          <a:p>
            <a:pPr lvl="1"/>
            <a:r>
              <a:rPr lang="en-US" sz="2000"/>
              <a:t>Developer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vi-VN" sz="2000"/>
              <a:t>Lên kế hoạch, cài đặt, cấu hình, quản trị cơ sở dữ liệu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Lên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hoạch</a:t>
            </a:r>
            <a:r>
              <a:rPr lang="en-US" sz="2000"/>
              <a:t> </a:t>
            </a:r>
            <a:r>
              <a:rPr lang="en-US" sz="2000" err="1"/>
              <a:t>và</a:t>
            </a:r>
            <a:r>
              <a:rPr lang="en-US" sz="2000"/>
              <a:t> </a:t>
            </a:r>
            <a:r>
              <a:rPr lang="en-US" sz="2000" err="1"/>
              <a:t>theo</a:t>
            </a:r>
            <a:r>
              <a:rPr lang="en-US" sz="2000"/>
              <a:t> </a:t>
            </a:r>
            <a:r>
              <a:rPr lang="en-US" sz="2000" err="1"/>
              <a:t>dõi</a:t>
            </a:r>
            <a:r>
              <a:rPr lang="en-US" sz="2000"/>
              <a:t> hay </a:t>
            </a:r>
            <a:r>
              <a:rPr lang="en-US" sz="2000" err="1"/>
              <a:t>phân</a:t>
            </a:r>
            <a:r>
              <a:rPr lang="en-US" sz="2000"/>
              <a:t> </a:t>
            </a:r>
            <a:r>
              <a:rPr lang="en-US" sz="2000" err="1"/>
              <a:t>bổ</a:t>
            </a:r>
            <a:r>
              <a:rPr lang="en-US" sz="2000"/>
              <a:t> </a:t>
            </a:r>
            <a:r>
              <a:rPr lang="en-US" sz="2000" err="1"/>
              <a:t>tài</a:t>
            </a:r>
            <a:r>
              <a:rPr lang="en-US" sz="2000"/>
              <a:t> </a:t>
            </a:r>
            <a:r>
              <a:rPr lang="en-US" sz="2000" err="1"/>
              <a:t>nguyên</a:t>
            </a:r>
            <a:r>
              <a:rPr lang="en-US" sz="2000"/>
              <a:t> </a:t>
            </a:r>
            <a:r>
              <a:rPr lang="en-US" sz="2000" err="1"/>
              <a:t>một</a:t>
            </a:r>
            <a:r>
              <a:rPr lang="en-US" sz="2000"/>
              <a:t> </a:t>
            </a:r>
            <a:r>
              <a:rPr lang="en-US" sz="2000" err="1"/>
              <a:t>cách</a:t>
            </a:r>
            <a:r>
              <a:rPr lang="en-US" sz="2000"/>
              <a:t> </a:t>
            </a:r>
            <a:r>
              <a:rPr lang="en-US" sz="2000" err="1"/>
              <a:t>hợp</a:t>
            </a:r>
            <a:r>
              <a:rPr lang="en-US" sz="2000"/>
              <a:t> </a:t>
            </a:r>
            <a:r>
              <a:rPr lang="en-US" sz="2000" err="1"/>
              <a:t>lý</a:t>
            </a:r>
            <a:r>
              <a:rPr lang="en-US" sz="2000"/>
              <a:t>.</a:t>
            </a:r>
          </a:p>
          <a:p>
            <a:pPr lvl="1"/>
            <a:r>
              <a:rPr lang="vi-VN" sz="2000"/>
              <a:t>Quản trị, tối ưu hóa hiệu suất của dữ liệu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Thiết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hệ</a:t>
            </a:r>
            <a:r>
              <a:rPr lang="en-US" sz="2000"/>
              <a:t> </a:t>
            </a:r>
            <a:r>
              <a:rPr lang="en-US" sz="2000" err="1"/>
              <a:t>thống</a:t>
            </a:r>
            <a:r>
              <a:rPr lang="en-US" sz="2000"/>
              <a:t> database </a:t>
            </a:r>
            <a:r>
              <a:rPr lang="en-US" sz="2000" err="1"/>
              <a:t>lưu</a:t>
            </a:r>
            <a:r>
              <a:rPr lang="en-US" sz="2000"/>
              <a:t> </a:t>
            </a:r>
            <a:r>
              <a:rPr lang="en-US" sz="2000" err="1"/>
              <a:t>trữ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Tạo</a:t>
            </a:r>
            <a:r>
              <a:rPr lang="en-US" sz="2000"/>
              <a:t> calculated column.</a:t>
            </a:r>
          </a:p>
          <a:p>
            <a:pPr lvl="1"/>
            <a:r>
              <a:rPr lang="en-US" sz="2000" err="1"/>
              <a:t>Trực</a:t>
            </a:r>
            <a:r>
              <a:rPr lang="en-US" sz="2000"/>
              <a:t> </a:t>
            </a:r>
            <a:r>
              <a:rPr lang="en-US" sz="2000" err="1"/>
              <a:t>quan</a:t>
            </a:r>
            <a:r>
              <a:rPr lang="en-US" sz="2000"/>
              <a:t> </a:t>
            </a:r>
            <a:r>
              <a:rPr lang="en-US" sz="2000" err="1"/>
              <a:t>hóa</a:t>
            </a:r>
            <a:r>
              <a:rPr lang="en-US" sz="2000"/>
              <a:t> </a:t>
            </a:r>
            <a:r>
              <a:rPr lang="en-US" sz="2000" err="1"/>
              <a:t>dữ</a:t>
            </a:r>
            <a:r>
              <a:rPr lang="en-US" sz="2000"/>
              <a:t> </a:t>
            </a:r>
            <a:r>
              <a:rPr lang="en-US" sz="2000" err="1"/>
              <a:t>liệu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Reports to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Team lead.</a:t>
            </a:r>
          </a:p>
          <a:p>
            <a:pPr lvl="1"/>
            <a:endParaRPr lang="en-US" sz="2000"/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5A286-5970-3832-92AD-2D980B62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Phân tích thói quen dùng MXH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E71D5-23CE-461A-6651-8E8E0046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29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057C-1B23-9BA2-0FBC-65C60978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7C30-A84C-BA04-2221-95324660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Giới thiệu thành viên #</a:t>
            </a:r>
            <a:r>
              <a:rPr lang="en-US">
                <a:latin typeface="Segoe UI"/>
                <a:cs typeface="Segoe UI"/>
              </a:rPr>
              <a:t>4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4F8E6-897C-D617-FE94-CC61338B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791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Nguyễn Thị Mỹ Huyền</a:t>
            </a:r>
          </a:p>
          <a:p>
            <a:pPr marL="806450">
              <a:buFont typeface="Wingdings" panose="05000000000000000000" pitchFamily="2" charset="2"/>
              <a:buChar char="v"/>
            </a:pPr>
            <a:r>
              <a:rPr lang="en-US" sz="2000"/>
              <a:t>Database Administrator (DBA)</a:t>
            </a:r>
          </a:p>
          <a:p>
            <a:pPr lvl="1"/>
            <a:r>
              <a:rPr lang="en-US" sz="2000"/>
              <a:t>Developer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vi-VN" sz="2000"/>
              <a:t>Lên kế hoạch, cài đặt, cấu hình, quản trị cơ sở dữ liệu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Lên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hoạch</a:t>
            </a:r>
            <a:r>
              <a:rPr lang="en-US" sz="2000"/>
              <a:t> </a:t>
            </a:r>
            <a:r>
              <a:rPr lang="en-US" sz="2000" err="1"/>
              <a:t>và</a:t>
            </a:r>
            <a:r>
              <a:rPr lang="en-US" sz="2000"/>
              <a:t> </a:t>
            </a:r>
            <a:r>
              <a:rPr lang="en-US" sz="2000" err="1"/>
              <a:t>theo</a:t>
            </a:r>
            <a:r>
              <a:rPr lang="en-US" sz="2000"/>
              <a:t> </a:t>
            </a:r>
            <a:r>
              <a:rPr lang="en-US" sz="2000" err="1"/>
              <a:t>dõi</a:t>
            </a:r>
            <a:r>
              <a:rPr lang="en-US" sz="2000"/>
              <a:t> hay </a:t>
            </a:r>
            <a:r>
              <a:rPr lang="en-US" sz="2000" err="1"/>
              <a:t>phân</a:t>
            </a:r>
            <a:r>
              <a:rPr lang="en-US" sz="2000"/>
              <a:t> </a:t>
            </a:r>
            <a:r>
              <a:rPr lang="en-US" sz="2000" err="1"/>
              <a:t>bổ</a:t>
            </a:r>
            <a:r>
              <a:rPr lang="en-US" sz="2000"/>
              <a:t> </a:t>
            </a:r>
            <a:r>
              <a:rPr lang="en-US" sz="2000" err="1"/>
              <a:t>tài</a:t>
            </a:r>
            <a:r>
              <a:rPr lang="en-US" sz="2000"/>
              <a:t> </a:t>
            </a:r>
            <a:r>
              <a:rPr lang="en-US" sz="2000" err="1"/>
              <a:t>nguyên</a:t>
            </a:r>
            <a:r>
              <a:rPr lang="en-US" sz="2000"/>
              <a:t> </a:t>
            </a:r>
            <a:r>
              <a:rPr lang="en-US" sz="2000" err="1"/>
              <a:t>một</a:t>
            </a:r>
            <a:r>
              <a:rPr lang="en-US" sz="2000"/>
              <a:t> </a:t>
            </a:r>
            <a:r>
              <a:rPr lang="en-US" sz="2000" err="1"/>
              <a:t>cách</a:t>
            </a:r>
            <a:r>
              <a:rPr lang="en-US" sz="2000"/>
              <a:t> </a:t>
            </a:r>
            <a:r>
              <a:rPr lang="en-US" sz="2000" err="1"/>
              <a:t>hợp</a:t>
            </a:r>
            <a:r>
              <a:rPr lang="en-US" sz="2000"/>
              <a:t> </a:t>
            </a:r>
            <a:r>
              <a:rPr lang="en-US" sz="2000" err="1"/>
              <a:t>lý</a:t>
            </a:r>
            <a:r>
              <a:rPr lang="en-US" sz="2000"/>
              <a:t>.</a:t>
            </a:r>
          </a:p>
          <a:p>
            <a:pPr lvl="1"/>
            <a:r>
              <a:rPr lang="vi-VN" sz="2000"/>
              <a:t>Quản trị, tối ưu hóa hiệu suất của dữ liệu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Thiết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hệ</a:t>
            </a:r>
            <a:r>
              <a:rPr lang="en-US" sz="2000"/>
              <a:t> </a:t>
            </a:r>
            <a:r>
              <a:rPr lang="en-US" sz="2000" err="1"/>
              <a:t>thống</a:t>
            </a:r>
            <a:r>
              <a:rPr lang="en-US" sz="2000"/>
              <a:t> database </a:t>
            </a:r>
            <a:r>
              <a:rPr lang="en-US" sz="2000" err="1"/>
              <a:t>lưu</a:t>
            </a:r>
            <a:r>
              <a:rPr lang="en-US" sz="2000"/>
              <a:t> </a:t>
            </a:r>
            <a:r>
              <a:rPr lang="en-US" sz="2000" err="1"/>
              <a:t>trữ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Tạo</a:t>
            </a:r>
            <a:r>
              <a:rPr lang="en-US" sz="2000"/>
              <a:t> calculated column.</a:t>
            </a:r>
          </a:p>
          <a:p>
            <a:pPr lvl="1"/>
            <a:r>
              <a:rPr lang="en-US" sz="2000" err="1"/>
              <a:t>Trực</a:t>
            </a:r>
            <a:r>
              <a:rPr lang="en-US" sz="2000"/>
              <a:t> </a:t>
            </a:r>
            <a:r>
              <a:rPr lang="en-US" sz="2000" err="1"/>
              <a:t>quan</a:t>
            </a:r>
            <a:r>
              <a:rPr lang="en-US" sz="2000"/>
              <a:t> </a:t>
            </a:r>
            <a:r>
              <a:rPr lang="en-US" sz="2000" err="1"/>
              <a:t>hóa</a:t>
            </a:r>
            <a:r>
              <a:rPr lang="en-US" sz="2000"/>
              <a:t> </a:t>
            </a:r>
            <a:r>
              <a:rPr lang="en-US" sz="2000" err="1"/>
              <a:t>dữ</a:t>
            </a:r>
            <a:r>
              <a:rPr lang="en-US" sz="2000"/>
              <a:t> </a:t>
            </a:r>
            <a:r>
              <a:rPr lang="en-US" sz="2000" err="1"/>
              <a:t>liệu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Reports to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Team lead.</a:t>
            </a:r>
          </a:p>
          <a:p>
            <a:pPr lvl="1"/>
            <a:endParaRPr lang="en-US" sz="2000"/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F6A32-9AF2-769D-88B0-5F6745C3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CDFB5-A643-D66D-50E7-5866A012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31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B25AE-241F-86D1-4E31-A42BA441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EB05-7249-78D1-E25A-BE63C093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Giới thiệu thành viên #</a:t>
            </a:r>
            <a:r>
              <a:rPr lang="en-US">
                <a:latin typeface="Segoe UI"/>
                <a:cs typeface="Segoe UI"/>
              </a:rPr>
              <a:t>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E8BC-81AE-D269-8B54-B160C1998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791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Nguyễn Quốc Hưng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Database Administrator (DBA)</a:t>
            </a:r>
          </a:p>
          <a:p>
            <a:pPr lvl="1"/>
            <a:r>
              <a:rPr lang="en-US" sz="2000"/>
              <a:t>Developer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vi-VN" sz="2000"/>
              <a:t>Lên kế hoạch, cài đặt, cấu hình, quản trị cơ sở dữ liệu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Lên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hoạch</a:t>
            </a:r>
            <a:r>
              <a:rPr lang="en-US" sz="2000"/>
              <a:t> </a:t>
            </a:r>
            <a:r>
              <a:rPr lang="en-US" sz="2000" err="1"/>
              <a:t>và</a:t>
            </a:r>
            <a:r>
              <a:rPr lang="en-US" sz="2000"/>
              <a:t> </a:t>
            </a:r>
            <a:r>
              <a:rPr lang="en-US" sz="2000" err="1"/>
              <a:t>theo</a:t>
            </a:r>
            <a:r>
              <a:rPr lang="en-US" sz="2000"/>
              <a:t> </a:t>
            </a:r>
            <a:r>
              <a:rPr lang="en-US" sz="2000" err="1"/>
              <a:t>dõi</a:t>
            </a:r>
            <a:r>
              <a:rPr lang="en-US" sz="2000"/>
              <a:t> hay </a:t>
            </a:r>
            <a:r>
              <a:rPr lang="en-US" sz="2000" err="1"/>
              <a:t>phân</a:t>
            </a:r>
            <a:r>
              <a:rPr lang="en-US" sz="2000"/>
              <a:t> </a:t>
            </a:r>
            <a:r>
              <a:rPr lang="en-US" sz="2000" err="1"/>
              <a:t>bổ</a:t>
            </a:r>
            <a:r>
              <a:rPr lang="en-US" sz="2000"/>
              <a:t> </a:t>
            </a:r>
            <a:r>
              <a:rPr lang="en-US" sz="2000" err="1"/>
              <a:t>tài</a:t>
            </a:r>
            <a:r>
              <a:rPr lang="en-US" sz="2000"/>
              <a:t> </a:t>
            </a:r>
            <a:r>
              <a:rPr lang="en-US" sz="2000" err="1"/>
              <a:t>nguyên</a:t>
            </a:r>
            <a:r>
              <a:rPr lang="en-US" sz="2000"/>
              <a:t> </a:t>
            </a:r>
            <a:r>
              <a:rPr lang="en-US" sz="2000" err="1"/>
              <a:t>một</a:t>
            </a:r>
            <a:r>
              <a:rPr lang="en-US" sz="2000"/>
              <a:t> </a:t>
            </a:r>
            <a:r>
              <a:rPr lang="en-US" sz="2000" err="1"/>
              <a:t>cách</a:t>
            </a:r>
            <a:r>
              <a:rPr lang="en-US" sz="2000"/>
              <a:t> </a:t>
            </a:r>
            <a:r>
              <a:rPr lang="en-US" sz="2000" err="1"/>
              <a:t>hợp</a:t>
            </a:r>
            <a:r>
              <a:rPr lang="en-US" sz="2000"/>
              <a:t> </a:t>
            </a:r>
            <a:r>
              <a:rPr lang="en-US" sz="2000" err="1"/>
              <a:t>lý</a:t>
            </a:r>
            <a:r>
              <a:rPr lang="en-US" sz="2000"/>
              <a:t>.</a:t>
            </a:r>
          </a:p>
          <a:p>
            <a:pPr lvl="1"/>
            <a:r>
              <a:rPr lang="vi-VN" sz="2000"/>
              <a:t>Quản trị, tối ưu hóa hiệu suất của dữ liệu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err="1"/>
              <a:t>Thiết</a:t>
            </a:r>
            <a:r>
              <a:rPr lang="en-US" sz="2000"/>
              <a:t> </a:t>
            </a:r>
            <a:r>
              <a:rPr lang="en-US" sz="2000" err="1"/>
              <a:t>kế</a:t>
            </a:r>
            <a:r>
              <a:rPr lang="en-US" sz="2000"/>
              <a:t> </a:t>
            </a:r>
            <a:r>
              <a:rPr lang="en-US" sz="2000" err="1"/>
              <a:t>hệ</a:t>
            </a:r>
            <a:r>
              <a:rPr lang="en-US" sz="2000"/>
              <a:t> </a:t>
            </a:r>
            <a:r>
              <a:rPr lang="en-US" sz="2000" err="1"/>
              <a:t>thống</a:t>
            </a:r>
            <a:r>
              <a:rPr lang="en-US" sz="2000"/>
              <a:t> database </a:t>
            </a:r>
            <a:r>
              <a:rPr lang="en-US" sz="2000" err="1"/>
              <a:t>lưu</a:t>
            </a:r>
            <a:r>
              <a:rPr lang="en-US" sz="2000"/>
              <a:t> </a:t>
            </a:r>
            <a:r>
              <a:rPr lang="en-US" sz="2000" err="1"/>
              <a:t>trữ</a:t>
            </a:r>
            <a:r>
              <a:rPr lang="en-US" sz="2000"/>
              <a:t>.</a:t>
            </a:r>
          </a:p>
          <a:p>
            <a:pPr lvl="1"/>
            <a:r>
              <a:rPr lang="en-US" sz="2000" err="1"/>
              <a:t>Tạo</a:t>
            </a:r>
            <a:r>
              <a:rPr lang="en-US" sz="2000"/>
              <a:t> calculated column.</a:t>
            </a:r>
          </a:p>
          <a:p>
            <a:pPr lvl="1"/>
            <a:r>
              <a:rPr lang="en-US" sz="2000" err="1"/>
              <a:t>Trực</a:t>
            </a:r>
            <a:r>
              <a:rPr lang="en-US" sz="2000"/>
              <a:t> </a:t>
            </a:r>
            <a:r>
              <a:rPr lang="en-US" sz="2000" err="1"/>
              <a:t>quan</a:t>
            </a:r>
            <a:r>
              <a:rPr lang="en-US" sz="2000"/>
              <a:t> </a:t>
            </a:r>
            <a:r>
              <a:rPr lang="en-US" sz="2000" err="1"/>
              <a:t>hóa</a:t>
            </a:r>
            <a:r>
              <a:rPr lang="en-US" sz="2000"/>
              <a:t> </a:t>
            </a:r>
            <a:r>
              <a:rPr lang="en-US" sz="2000" err="1"/>
              <a:t>dữ</a:t>
            </a:r>
            <a:r>
              <a:rPr lang="en-US" sz="2000"/>
              <a:t> </a:t>
            </a:r>
            <a:r>
              <a:rPr lang="en-US" sz="2000" err="1"/>
              <a:t>liệu</a:t>
            </a:r>
            <a:r>
              <a:rPr lang="en-US" sz="2000"/>
              <a:t>.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Reports to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Team lead.</a:t>
            </a:r>
          </a:p>
          <a:p>
            <a:pPr lvl="1"/>
            <a:endParaRPr lang="en-US" sz="2000"/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1A54D-BED9-28E1-07FE-84C2569E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A0861-867B-6752-CB30-CFE760C6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13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6538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Giới thiệu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B99B34-DDF0-4FAD-F970-26CF03DD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79145-A4D9-F73A-529C-38044F5F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70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dự 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400" b="1" dirty="0" err="1"/>
              <a:t>Hiện</a:t>
            </a:r>
            <a:r>
              <a:rPr lang="en-US" sz="2400" b="1" dirty="0"/>
              <a:t> </a:t>
            </a:r>
            <a:r>
              <a:rPr lang="en-US" sz="2400" b="1" dirty="0" err="1"/>
              <a:t>trạng</a:t>
            </a:r>
            <a:r>
              <a:rPr lang="en-US" sz="2400" b="1" dirty="0"/>
              <a:t> </a:t>
            </a:r>
            <a:r>
              <a:rPr lang="en-US" sz="2400" b="1" dirty="0" err="1"/>
              <a:t>khách</a:t>
            </a:r>
            <a:r>
              <a:rPr lang="en-US" sz="2400" b="1" dirty="0"/>
              <a:t> </a:t>
            </a:r>
            <a:r>
              <a:rPr lang="vi-VN" sz="2400" b="1" dirty="0"/>
              <a:t>hàng </a:t>
            </a:r>
            <a:endParaRPr lang="en-US" sz="2400" dirty="0"/>
          </a:p>
          <a:p>
            <a:pPr lvl="1"/>
            <a:r>
              <a:rPr lang="vi-VN" dirty="0">
                <a:latin typeface="Segoe UI"/>
                <a:cs typeface="Segoe UI"/>
              </a:rPr>
              <a:t>Ở </a:t>
            </a:r>
            <a:r>
              <a:rPr lang="en-US" dirty="0" err="1">
                <a:latin typeface="Segoe UI"/>
                <a:cs typeface="Segoe UI"/>
              </a:rPr>
              <a:t>tổ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chức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giáo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dục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vi-VN" dirty="0">
                <a:latin typeface="Segoe UI"/>
                <a:cs typeface="Segoe UI"/>
              </a:rPr>
              <a:t>ÚC</a:t>
            </a:r>
            <a:r>
              <a:rPr lang="en-US" dirty="0">
                <a:latin typeface="Segoe UI"/>
                <a:cs typeface="Segoe UI"/>
              </a:rPr>
              <a:t> QTS Australia</a:t>
            </a:r>
            <a:r>
              <a:rPr lang="vi-VN" dirty="0">
                <a:latin typeface="Segoe UI"/>
                <a:cs typeface="Segoe UI"/>
              </a:rPr>
              <a:t> , </a:t>
            </a:r>
            <a:r>
              <a:rPr lang="en-US" dirty="0">
                <a:latin typeface="Segoe UI"/>
                <a:cs typeface="Segoe UI"/>
              </a:rPr>
              <a:t>Ban </a:t>
            </a:r>
            <a:r>
              <a:rPr lang="en-US" dirty="0" err="1">
                <a:latin typeface="Segoe UI"/>
                <a:cs typeface="Segoe UI"/>
              </a:rPr>
              <a:t>Giám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hiệu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hoặc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Phòng</a:t>
            </a:r>
            <a:r>
              <a:rPr lang="en-US" dirty="0">
                <a:latin typeface="Segoe UI"/>
                <a:cs typeface="Segoe UI"/>
              </a:rPr>
              <a:t> Công </a:t>
            </a:r>
            <a:r>
              <a:rPr lang="vi-VN" dirty="0">
                <a:latin typeface="Segoe UI"/>
                <a:cs typeface="Segoe UI"/>
              </a:rPr>
              <a:t>t</a:t>
            </a:r>
            <a:r>
              <a:rPr lang="en-US" dirty="0" err="1">
                <a:latin typeface="Segoe UI"/>
                <a:cs typeface="Segoe UI"/>
              </a:rPr>
              <a:t>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</a:t>
            </a:r>
            <a:r>
              <a:rPr lang="en-US" dirty="0" err="1">
                <a:latin typeface="Segoe UI"/>
                <a:cs typeface="Segoe UI"/>
              </a:rPr>
              <a:t>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đang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muốn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hiểu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rõ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động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của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mạng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xã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hội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đến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đưa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ra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chương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trình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tuyên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truyền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hợp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lý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nhầm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động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nâng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cao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chất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lượng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học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tập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sức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khỏe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quản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lý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thời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gian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mạng.</a:t>
            </a:r>
            <a:endParaRPr lang="en-US" dirty="0">
              <a:latin typeface="Segoe UI"/>
              <a:cs typeface="Segoe UI"/>
            </a:endParaRPr>
          </a:p>
          <a:p>
            <a:pPr>
              <a:buFont typeface="Wingdings" pitchFamily="2" charset="2"/>
              <a:buChar char="&amp;"/>
            </a:pPr>
            <a:r>
              <a:rPr lang="en-US" sz="2400" b="1" dirty="0"/>
              <a:t>Thông tin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là</a:t>
            </a:r>
            <a:r>
              <a:rPr lang="en-US" sz="2400" b="1" dirty="0"/>
              <a:t> </a:t>
            </a:r>
            <a:endParaRPr lang="en-US" sz="2400" dirty="0"/>
          </a:p>
          <a:p>
            <a:pPr lvl="1"/>
            <a:r>
              <a:rPr lang="en-US" dirty="0" err="1">
                <a:latin typeface="Segoe UI"/>
                <a:cs typeface="Segoe UI"/>
              </a:rPr>
              <a:t>Tên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bộ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dirty="0">
                <a:latin typeface="Segoe UI"/>
                <a:cs typeface="Segoe UI"/>
              </a:rPr>
              <a:t>: Students Social Media Addiction.csv</a:t>
            </a:r>
          </a:p>
          <a:p>
            <a:pPr lvl="1"/>
            <a:r>
              <a:rPr lang="en-US" dirty="0" err="1">
                <a:latin typeface="Segoe UI"/>
                <a:cs typeface="Segoe UI"/>
              </a:rPr>
              <a:t>Nguồn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dirty="0">
                <a:latin typeface="Segoe UI"/>
                <a:cs typeface="Segoe UI"/>
              </a:rPr>
              <a:t>: kaggle.com</a:t>
            </a:r>
            <a:endParaRPr lang="vi-VN" dirty="0">
              <a:latin typeface="Segoe UI"/>
              <a:cs typeface="Segoe UI"/>
            </a:endParaRPr>
          </a:p>
          <a:p>
            <a:pPr lvl="1"/>
            <a:r>
              <a:rPr lang="en-US" dirty="0" err="1">
                <a:latin typeface="Segoe UI"/>
                <a:cs typeface="Segoe UI"/>
              </a:rPr>
              <a:t>Số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lượng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bản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ghi</a:t>
            </a:r>
            <a:r>
              <a:rPr lang="en-US" dirty="0">
                <a:latin typeface="Segoe UI"/>
                <a:cs typeface="Segoe UI"/>
              </a:rPr>
              <a:t>: 705 </a:t>
            </a:r>
            <a:r>
              <a:rPr lang="en-US" dirty="0" err="1">
                <a:latin typeface="Segoe UI"/>
                <a:cs typeface="Segoe UI"/>
              </a:rPr>
              <a:t>bản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ghi</a:t>
            </a:r>
            <a:r>
              <a:rPr lang="en-US" dirty="0">
                <a:latin typeface="Segoe UI"/>
                <a:cs typeface="Segoe UI"/>
              </a:rPr>
              <a:t> ( </a:t>
            </a:r>
            <a:r>
              <a:rPr lang="en-US" dirty="0" err="1">
                <a:latin typeface="Segoe UI"/>
                <a:cs typeface="Segoe UI"/>
              </a:rPr>
              <a:t>tương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đương</a:t>
            </a:r>
            <a:r>
              <a:rPr lang="en-US" dirty="0">
                <a:latin typeface="Segoe UI"/>
                <a:cs typeface="Segoe UI"/>
              </a:rPr>
              <a:t> 705 </a:t>
            </a:r>
            <a:r>
              <a:rPr lang="en-US" dirty="0" err="1">
                <a:latin typeface="Segoe UI"/>
                <a:cs typeface="Segoe UI"/>
              </a:rPr>
              <a:t>sinh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 )</a:t>
            </a:r>
            <a:endParaRPr lang="vi-VN" dirty="0">
              <a:latin typeface="Segoe UI"/>
              <a:cs typeface="Segoe UI"/>
            </a:endParaRPr>
          </a:p>
          <a:p>
            <a:pPr lvl="1"/>
            <a:r>
              <a:rPr lang="en-US" dirty="0" err="1">
                <a:latin typeface="Segoe UI"/>
                <a:cs typeface="Segoe UI"/>
              </a:rPr>
              <a:t>Số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trường</a:t>
            </a:r>
            <a:r>
              <a:rPr lang="en-US">
                <a:latin typeface="Segoe UI"/>
                <a:cs typeface="Segoe UI"/>
              </a:rPr>
              <a:t>: </a:t>
            </a:r>
            <a:r>
              <a:rPr lang="vi-VN" b="1">
                <a:latin typeface="Segoe UI"/>
                <a:cs typeface="Segoe UI"/>
              </a:rPr>
              <a:t>16</a:t>
            </a:r>
            <a:r>
              <a:rPr lang="en-US" b="1">
                <a:latin typeface="Segoe UI"/>
                <a:cs typeface="Segoe UI"/>
              </a:rPr>
              <a:t> </a:t>
            </a:r>
            <a:r>
              <a:rPr lang="en-US" b="1" dirty="0" err="1">
                <a:latin typeface="Segoe UI"/>
                <a:cs typeface="Segoe UI"/>
              </a:rPr>
              <a:t>trường</a:t>
            </a:r>
            <a:r>
              <a:rPr lang="en-US" dirty="0">
                <a:latin typeface="Segoe UI"/>
                <a:cs typeface="Segoe UI"/>
              </a:rPr>
              <a:t> ( </a:t>
            </a:r>
            <a:r>
              <a:rPr lang="en-US" dirty="0" err="1">
                <a:latin typeface="Segoe UI"/>
                <a:cs typeface="Segoe UI"/>
              </a:rPr>
              <a:t>độ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tuổi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giới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tính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trình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độ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học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vấn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quốc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gia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thời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gian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nền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tảng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phổ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biến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điểm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sức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khỏe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thần</a:t>
            </a:r>
            <a:r>
              <a:rPr lang="en-US" dirty="0">
                <a:latin typeface="Segoe UI"/>
                <a:cs typeface="Segoe UI"/>
              </a:rPr>
              <a:t>, v.v.)</a:t>
            </a:r>
          </a:p>
          <a:p>
            <a:pPr lvl="1"/>
            <a:r>
              <a:rPr lang="en-US" dirty="0">
                <a:latin typeface="Segoe UI"/>
                <a:cs typeface="Segoe UI"/>
              </a:rPr>
              <a:t>Phạm vi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dirty="0">
                <a:latin typeface="Segoe UI"/>
                <a:cs typeface="Segoe UI"/>
              </a:rPr>
              <a:t>: </a:t>
            </a:r>
            <a:r>
              <a:rPr lang="en-US" dirty="0" err="1">
                <a:latin typeface="Segoe UI"/>
                <a:cs typeface="Segoe UI"/>
              </a:rPr>
              <a:t>Độ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tuổi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từ</a:t>
            </a:r>
            <a:r>
              <a:rPr lang="en-US" dirty="0">
                <a:latin typeface="Segoe UI"/>
                <a:cs typeface="Segoe UI"/>
              </a:rPr>
              <a:t> 18-24</a:t>
            </a:r>
          </a:p>
          <a:p>
            <a:pPr lvl="1"/>
            <a:endParaRPr lang="en-US" dirty="0"/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36362-D5F3-7152-2FE5-EB81C511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</a:t>
            </a:r>
            <a:r>
              <a:rPr lang="vi-VN"/>
              <a:t> Phân tích thói quen dùng MXH </a:t>
            </a:r>
            <a:r>
              <a:rPr lang="en-US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E721A-37D5-EA22-0BAB-C32714A4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57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400" b="1" dirty="0" err="1">
                <a:latin typeface="Segoe UI"/>
                <a:cs typeface="Segoe UI"/>
              </a:rPr>
              <a:t>Dữ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r>
              <a:rPr lang="en-US" sz="2400" b="1" dirty="0" err="1">
                <a:latin typeface="Segoe UI"/>
                <a:cs typeface="Segoe UI"/>
              </a:rPr>
              <a:t>liệu</a:t>
            </a:r>
            <a:r>
              <a:rPr lang="en-US" sz="2400" dirty="0">
                <a:latin typeface="Segoe UI"/>
                <a:cs typeface="Segoe UI"/>
              </a:rPr>
              <a:t>.</a:t>
            </a:r>
          </a:p>
          <a:p>
            <a:pPr lvl="1"/>
            <a:r>
              <a:rPr lang="en-US" dirty="0" err="1">
                <a:latin typeface="Segoe UI"/>
                <a:cs typeface="Segoe UI"/>
              </a:rPr>
              <a:t>Đầu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vào</a:t>
            </a:r>
            <a:r>
              <a:rPr lang="en-US" dirty="0">
                <a:latin typeface="Segoe UI"/>
                <a:cs typeface="Segoe UI"/>
              </a:rPr>
              <a:t>: </a:t>
            </a:r>
            <a:r>
              <a:rPr lang="en-US" dirty="0" err="1">
                <a:latin typeface="Segoe UI"/>
                <a:cs typeface="Segoe UI"/>
              </a:rPr>
              <a:t>bộ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thô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chứa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thông</a:t>
            </a:r>
            <a:r>
              <a:rPr lang="en-US" dirty="0">
                <a:latin typeface="Segoe UI"/>
                <a:cs typeface="Segoe UI"/>
              </a:rPr>
              <a:t> tin </a:t>
            </a:r>
            <a:r>
              <a:rPr lang="en-US" dirty="0" err="1">
                <a:latin typeface="Segoe UI"/>
                <a:cs typeface="Segoe UI"/>
              </a:rPr>
              <a:t>sinh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với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15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trường</a:t>
            </a:r>
            <a:r>
              <a:rPr lang="en-US" dirty="0">
                <a:latin typeface="Segoe UI"/>
                <a:cs typeface="Segoe UI"/>
              </a:rPr>
              <a:t> &amp; 705 </a:t>
            </a:r>
            <a:r>
              <a:rPr lang="en-US" dirty="0" err="1">
                <a:latin typeface="Segoe UI"/>
                <a:cs typeface="Segoe UI"/>
              </a:rPr>
              <a:t>bản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ghi</a:t>
            </a:r>
            <a:endParaRPr lang="en-US" dirty="0">
              <a:latin typeface="Segoe UI"/>
              <a:cs typeface="Segoe UI"/>
            </a:endParaRPr>
          </a:p>
          <a:p>
            <a:pPr lvl="1"/>
            <a:r>
              <a:rPr lang="en-US" dirty="0" err="1">
                <a:latin typeface="Segoe UI"/>
                <a:cs typeface="Segoe UI"/>
              </a:rPr>
              <a:t>Đầu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ra</a:t>
            </a:r>
            <a:r>
              <a:rPr lang="en-US" dirty="0">
                <a:latin typeface="Segoe UI"/>
                <a:cs typeface="Segoe UI"/>
              </a:rPr>
              <a:t>: Báo </a:t>
            </a:r>
            <a:r>
              <a:rPr lang="en-US" dirty="0" err="1">
                <a:latin typeface="Segoe UI"/>
                <a:cs typeface="Segoe UI"/>
              </a:rPr>
              <a:t>cáo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tổng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quan</a:t>
            </a:r>
            <a:r>
              <a:rPr lang="en-US" dirty="0">
                <a:latin typeface="Segoe UI"/>
                <a:cs typeface="Segoe UI"/>
              </a:rPr>
              <a:t> Dashboard </a:t>
            </a:r>
            <a:r>
              <a:rPr lang="en-US" dirty="0" err="1">
                <a:latin typeface="Segoe UI"/>
                <a:cs typeface="Segoe UI"/>
              </a:rPr>
              <a:t>thể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hiện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rõ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nhóm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đối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tượng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mạng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quá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mức</a:t>
            </a:r>
            <a:r>
              <a:rPr lang="en-US" dirty="0">
                <a:latin typeface="Segoe UI"/>
                <a:cs typeface="Segoe UI"/>
              </a:rPr>
              <a:t> &amp;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hệ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quả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tương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quan</a:t>
            </a:r>
            <a:endParaRPr lang="en-US" dirty="0">
              <a:latin typeface="Segoe UI"/>
              <a:cs typeface="Segoe UI"/>
            </a:endParaRPr>
          </a:p>
          <a:p>
            <a:pPr>
              <a:buFont typeface="Wingdings" pitchFamily="2" charset="2"/>
              <a:buChar char="&amp;"/>
            </a:pPr>
            <a:r>
              <a:rPr lang="en-US" sz="2400" b="1" dirty="0">
                <a:latin typeface="Segoe UI"/>
                <a:cs typeface="Segoe UI"/>
              </a:rPr>
              <a:t>Quản </a:t>
            </a:r>
            <a:r>
              <a:rPr lang="en-US" sz="2400" b="1" dirty="0" err="1">
                <a:latin typeface="Segoe UI"/>
                <a:cs typeface="Segoe UI"/>
              </a:rPr>
              <a:t>lý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r>
              <a:rPr lang="en-US" sz="2400" b="1" dirty="0" err="1">
                <a:latin typeface="Segoe UI"/>
                <a:cs typeface="Segoe UI"/>
              </a:rPr>
              <a:t>và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r>
              <a:rPr lang="en-US" sz="2400" b="1" dirty="0" err="1">
                <a:latin typeface="Segoe UI"/>
                <a:cs typeface="Segoe UI"/>
              </a:rPr>
              <a:t>lưu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r>
              <a:rPr lang="en-US" sz="2400" b="1" dirty="0" err="1">
                <a:latin typeface="Segoe UI"/>
                <a:cs typeface="Segoe UI"/>
              </a:rPr>
              <a:t>trữ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endParaRPr lang="en-US" sz="2400" dirty="0">
              <a:latin typeface="Segoe UI"/>
              <a:cs typeface="Segoe UI"/>
            </a:endParaRPr>
          </a:p>
          <a:p>
            <a:pPr lvl="1"/>
            <a:r>
              <a:rPr lang="en-US" dirty="0">
                <a:latin typeface="Segoe UI"/>
                <a:cs typeface="Segoe UI"/>
              </a:rPr>
              <a:t>Báo </a:t>
            </a:r>
            <a:r>
              <a:rPr lang="en-US" dirty="0" err="1">
                <a:latin typeface="Segoe UI"/>
                <a:cs typeface="Segoe UI"/>
              </a:rPr>
              <a:t>cáo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cần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được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triển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khai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nền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tảng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đám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mây</a:t>
            </a:r>
            <a:r>
              <a:rPr lang="en-US" dirty="0">
                <a:latin typeface="Segoe UI"/>
                <a:cs typeface="Segoe UI"/>
              </a:rPr>
              <a:t> (</a:t>
            </a:r>
            <a:r>
              <a:rPr lang="en-US" b="1" dirty="0">
                <a:latin typeface="Segoe UI"/>
                <a:cs typeface="Segoe UI"/>
              </a:rPr>
              <a:t>cloud-based</a:t>
            </a:r>
            <a:r>
              <a:rPr lang="en-US" dirty="0">
                <a:latin typeface="Segoe UI"/>
                <a:cs typeface="Segoe UI"/>
              </a:rPr>
              <a:t>) </a:t>
            </a:r>
            <a:r>
              <a:rPr lang="en-US" dirty="0" err="1">
                <a:latin typeface="Segoe UI"/>
                <a:cs typeface="Segoe UI"/>
              </a:rPr>
              <a:t>để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quan</a:t>
            </a:r>
            <a:r>
              <a:rPr lang="en-US" dirty="0">
                <a:latin typeface="Segoe UI"/>
                <a:cs typeface="Segoe UI"/>
              </a:rPr>
              <a:t> (Ban </a:t>
            </a:r>
            <a:r>
              <a:rPr lang="en-US" dirty="0" err="1">
                <a:latin typeface="Segoe UI"/>
                <a:cs typeface="Segoe UI"/>
              </a:rPr>
              <a:t>Giám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hiệu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cố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vấn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học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tập</a:t>
            </a:r>
            <a:r>
              <a:rPr lang="en-US" dirty="0">
                <a:latin typeface="Segoe UI"/>
                <a:cs typeface="Segoe UI"/>
              </a:rPr>
              <a:t>) </a:t>
            </a: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truy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cập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mọi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lúc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mọi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nơi</a:t>
            </a:r>
            <a:r>
              <a:rPr lang="en-US" dirty="0">
                <a:latin typeface="Segoe UI"/>
                <a:cs typeface="Segoe UI"/>
              </a:rPr>
              <a:t>. ( </a:t>
            </a: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xem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bằng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điện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thoại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hoặc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máy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tính</a:t>
            </a:r>
            <a:r>
              <a:rPr lang="en-US" dirty="0">
                <a:latin typeface="Segoe UI"/>
                <a:cs typeface="Segoe UI"/>
              </a:rPr>
              <a:t> qua website.)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 dirty="0">
                <a:latin typeface="Segoe UI"/>
                <a:cs typeface="Segoe UI"/>
              </a:rPr>
              <a:t>Công </a:t>
            </a:r>
            <a:r>
              <a:rPr lang="en-US" sz="2400" b="1" dirty="0" err="1">
                <a:latin typeface="Segoe UI"/>
                <a:cs typeface="Segoe UI"/>
              </a:rPr>
              <a:t>nghệ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endParaRPr lang="en-US" sz="2400" dirty="0">
              <a:latin typeface="Segoe UI"/>
              <a:cs typeface="Segoe UI"/>
            </a:endParaRPr>
          </a:p>
          <a:p>
            <a:pPr lvl="1"/>
            <a:r>
              <a:rPr lang="en-US" b="1" dirty="0">
                <a:latin typeface="Segoe UI"/>
                <a:cs typeface="Segoe UI"/>
              </a:rPr>
              <a:t>Microsoft Power BI (Desktop &amp; Service).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C06F7-20AA-4F62-EA79-F7848226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&lt;&lt;Phân tích thói quen dùng MXH&gt;&gt;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AF7AF-5E8E-9917-2279-1448E108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3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Sản phẩm mục tiêu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923A4-851B-5EF0-B718-7CBE8DB3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&lt;&lt;Phân tích thói quen dùng MXH&gt;&gt;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8786B-6DDC-2579-38DB-D4E9FC78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66B6E-0D6A-E447-8D0C-F9F103E42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14" y="924451"/>
            <a:ext cx="9673151" cy="54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5476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Phân tích hệ thống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4F92CC-4E18-498A-196D-75FB36CB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&lt;&lt;Phân tích thói quen dùng MXH&gt;&gt;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61F8E-A029-F37E-570D-13286C16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39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400" b="1" err="1">
                <a:latin typeface="Segoe UI"/>
                <a:cs typeface="Segoe UI"/>
              </a:rPr>
              <a:t>Cơ</a:t>
            </a: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sở</a:t>
            </a: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dữ</a:t>
            </a: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liệu</a:t>
            </a:r>
            <a:r>
              <a:rPr lang="en-US" sz="2400">
                <a:latin typeface="Segoe UI"/>
                <a:cs typeface="Segoe UI"/>
              </a:rPr>
              <a:t>.</a:t>
            </a:r>
          </a:p>
          <a:p>
            <a:pPr lvl="1"/>
            <a:r>
              <a:rPr lang="en-US">
                <a:latin typeface="Segoe UI"/>
                <a:cs typeface="Segoe UI"/>
              </a:rPr>
              <a:t>SQL Server.</a:t>
            </a:r>
            <a:endParaRPr lang="en-US"/>
          </a:p>
          <a:p>
            <a:pPr>
              <a:buFont typeface="Wingdings" pitchFamily="2" charset="2"/>
              <a:buChar char="&amp;"/>
            </a:pPr>
            <a:r>
              <a:rPr lang="en-US" sz="2400" b="1">
                <a:latin typeface="Segoe UI"/>
                <a:cs typeface="Segoe UI"/>
              </a:rPr>
              <a:t>Công </a:t>
            </a:r>
            <a:r>
              <a:rPr lang="en-US" sz="2400" b="1" err="1">
                <a:latin typeface="Segoe UI"/>
                <a:cs typeface="Segoe UI"/>
              </a:rPr>
              <a:t>cụ</a:t>
            </a:r>
            <a:r>
              <a:rPr lang="en-US" sz="2400" b="1">
                <a:latin typeface="Segoe UI"/>
                <a:cs typeface="Segoe UI"/>
              </a:rPr>
              <a:t> </a:t>
            </a:r>
            <a:endParaRPr lang="en-US" sz="2400">
              <a:latin typeface="Segoe UI"/>
              <a:cs typeface="Segoe UI"/>
            </a:endParaRPr>
          </a:p>
          <a:p>
            <a:pPr lvl="1"/>
            <a:r>
              <a:rPr lang="en-US">
                <a:latin typeface="Segoe UI"/>
                <a:cs typeface="Segoe UI"/>
              </a:rPr>
              <a:t>Microsoft Power BI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Hạ</a:t>
            </a: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tầng</a:t>
            </a: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kỹ</a:t>
            </a:r>
            <a:r>
              <a:rPr lang="en-US" sz="2400" b="1">
                <a:latin typeface="Segoe UI"/>
                <a:cs typeface="Segoe UI"/>
              </a:rPr>
              <a:t> </a:t>
            </a:r>
            <a:r>
              <a:rPr lang="en-US" sz="2400" b="1" err="1">
                <a:latin typeface="Segoe UI"/>
                <a:cs typeface="Segoe UI"/>
              </a:rPr>
              <a:t>thuật</a:t>
            </a:r>
            <a:endParaRPr lang="en-US" sz="2400" err="1">
              <a:latin typeface="Segoe UI"/>
              <a:cs typeface="Segoe UI"/>
            </a:endParaRPr>
          </a:p>
          <a:p>
            <a:pPr lvl="1"/>
            <a:r>
              <a:rPr lang="en-US" err="1">
                <a:latin typeface="Segoe UI"/>
                <a:cs typeface="Segoe UI"/>
              </a:rPr>
              <a:t>Máy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chủ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nội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bộ</a:t>
            </a:r>
            <a:endParaRPr lang="en-US" err="1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BD106-A31D-CD7E-3483-B67F879D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&lt;&lt;Phân tích thói quen dùng MXH&gt;&gt;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8D410-CBB9-65C6-6A03-DF34FC83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30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Kiến trúc hệ thống</a:t>
            </a:r>
          </a:p>
        </p:txBody>
      </p:sp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A91CCF9D-1A62-524B-C72E-BDD12E2EE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90600"/>
            <a:ext cx="9785132" cy="5791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C9413-44B7-2ED4-7B9D-0729D9C8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1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6105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Phân tích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0E9188-0A61-253C-DDCD-49194B97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50E5A-6FAA-561C-D5EC-AFF0A5A8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Bạn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đang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gắng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giải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thích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điều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từ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tôi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gắng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i="1" dirty="0" err="1"/>
              <a:t>thời</a:t>
            </a:r>
            <a:r>
              <a:rPr lang="en-US" i="1" dirty="0"/>
              <a:t> </a:t>
            </a:r>
            <a:r>
              <a:rPr lang="en-US" i="1" dirty="0" err="1"/>
              <a:t>gian</a:t>
            </a:r>
            <a:r>
              <a:rPr lang="en-US" i="1" dirty="0"/>
              <a:t> </a:t>
            </a:r>
            <a:r>
              <a:rPr lang="en-US" i="1" dirty="0" err="1"/>
              <a:t>sử</a:t>
            </a:r>
            <a:r>
              <a:rPr lang="en-US" i="1" dirty="0"/>
              <a:t> </a:t>
            </a:r>
            <a:r>
              <a:rPr lang="en-US" i="1" dirty="0" err="1"/>
              <a:t>dụng</a:t>
            </a:r>
            <a:r>
              <a:rPr lang="en-US" i="1" dirty="0"/>
              <a:t> MXH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i="1" dirty="0" err="1"/>
              <a:t>tác</a:t>
            </a:r>
            <a:r>
              <a:rPr lang="en-US" i="1" dirty="0"/>
              <a:t> </a:t>
            </a:r>
            <a:r>
              <a:rPr lang="en-US" i="1" dirty="0" err="1"/>
              <a:t>động</a:t>
            </a:r>
            <a:r>
              <a:rPr lang="en-US" i="1" dirty="0"/>
              <a:t> </a:t>
            </a:r>
            <a:r>
              <a:rPr lang="en-US" i="1" dirty="0" err="1"/>
              <a:t>tiêu</a:t>
            </a:r>
            <a:r>
              <a:rPr lang="en-US" i="1" dirty="0"/>
              <a:t> </a:t>
            </a:r>
            <a:r>
              <a:rPr lang="en-US" i="1" dirty="0" err="1"/>
              <a:t>cực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, </a:t>
            </a:r>
            <a:r>
              <a:rPr lang="en-US" dirty="0" err="1"/>
              <a:t>sức</a:t>
            </a:r>
            <a:r>
              <a:rPr lang="en-US" dirty="0"/>
              <a:t> </a:t>
            </a:r>
            <a:r>
              <a:rPr lang="en-US" dirty="0" err="1"/>
              <a:t>khỏe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thần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giấc</a:t>
            </a:r>
            <a:r>
              <a:rPr lang="en-US" dirty="0"/>
              <a:t> </a:t>
            </a:r>
            <a:r>
              <a:rPr lang="en-US" dirty="0" err="1"/>
              <a:t>ngủ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vi-VN" dirty="0"/>
              <a:t>viên.</a:t>
            </a:r>
            <a:endParaRPr lang="en-US" sz="2000" dirty="0"/>
          </a:p>
          <a:p>
            <a:pPr>
              <a:buFont typeface="Wingdings" pitchFamily="2" charset="2"/>
              <a:buChar char="&amp;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Mục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tiêu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cụ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thể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i="1" dirty="0" err="1"/>
              <a:t>Xác</a:t>
            </a:r>
            <a:r>
              <a:rPr lang="en-US" i="1" dirty="0"/>
              <a:t> </a:t>
            </a:r>
            <a:r>
              <a:rPr lang="en-US" i="1" dirty="0" err="1"/>
              <a:t>định</a:t>
            </a:r>
            <a:r>
              <a:rPr lang="en-US" i="1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ngủ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sút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nhiều</a:t>
            </a:r>
            <a:endParaRPr lang="en-US" sz="2000" dirty="0"/>
          </a:p>
          <a:p>
            <a:pPr>
              <a:buFont typeface="Wingdings" pitchFamily="2" charset="2"/>
              <a:buChar char="&amp;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Bạn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muốn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xuất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giải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pháp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từ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những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này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kĩ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, </a:t>
            </a:r>
            <a:r>
              <a:rPr lang="en-US" dirty="0" err="1"/>
              <a:t>chơi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.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ý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vi-VN" dirty="0"/>
              <a:t>cách.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B0B0-5D26-5259-50F8-D17B5100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0B8EB-6135-D8CC-5585-58A7EF74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9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vi-V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Ai là người cần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xem</a:t>
            </a:r>
            <a:r>
              <a:rPr lang="vi-V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báo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cáo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vi-V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này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?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cs typeface="Segoe UI"/>
            </a:endParaRPr>
          </a:p>
          <a:p>
            <a:pPr lvl="1"/>
            <a:r>
              <a:rPr lang="pt-BR" dirty="0">
                <a:latin typeface="Segoe UI"/>
                <a:cs typeface="Segoe UI"/>
              </a:rPr>
              <a:t>Ban giám hiệu &amp; Phòng Công Tác Sinh Viên</a:t>
            </a:r>
            <a:endParaRPr lang="en-US" sz="2000" dirty="0">
              <a:latin typeface="Segoe UI"/>
              <a:cs typeface="Segoe UI"/>
            </a:endParaRPr>
          </a:p>
          <a:p>
            <a:pPr lvl="1"/>
            <a:r>
              <a:rPr lang="vi-VN" dirty="0">
                <a:latin typeface="Segoe UI"/>
                <a:cs typeface="Segoe UI"/>
              </a:rPr>
              <a:t>C</a:t>
            </a:r>
            <a:r>
              <a:rPr lang="pt-BR" dirty="0">
                <a:latin typeface="Segoe UI"/>
                <a:cs typeface="Segoe UI"/>
              </a:rPr>
              <a:t>ố vấn học tập</a:t>
            </a:r>
            <a:endParaRPr lang="en-US" sz="2000" dirty="0">
              <a:latin typeface="Segoe UI"/>
              <a:cs typeface="Segoe UI"/>
            </a:endParaRPr>
          </a:p>
          <a:p>
            <a:pPr>
              <a:buFont typeface="Wingdings" pitchFamily="2" charset="2"/>
              <a:buChar char="v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Họ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đã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biết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tới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lĩnh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vực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này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chưa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?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cs typeface="Segoe UI"/>
            </a:endParaRPr>
          </a:p>
          <a:p>
            <a:pPr lvl="1"/>
            <a:r>
              <a:rPr lang="vi-VN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Họ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hiểu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về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vấn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đề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của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nhưng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không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phải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là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chuyên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vi-VN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dirty="0">
                <a:latin typeface="Segoe UI"/>
                <a:cs typeface="Segoe UI"/>
              </a:rPr>
              <a:t>. </a:t>
            </a:r>
            <a:r>
              <a:rPr lang="en-US" dirty="0" err="1">
                <a:latin typeface="Segoe UI"/>
                <a:cs typeface="Segoe UI"/>
              </a:rPr>
              <a:t>Họ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cần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thông</a:t>
            </a:r>
            <a:r>
              <a:rPr lang="en-US" dirty="0">
                <a:latin typeface="Segoe UI"/>
                <a:cs typeface="Segoe UI"/>
              </a:rPr>
              <a:t> tin </a:t>
            </a:r>
            <a:r>
              <a:rPr lang="en-US" dirty="0" err="1">
                <a:latin typeface="Segoe UI"/>
                <a:cs typeface="Segoe UI"/>
              </a:rPr>
              <a:t>rõ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ràng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súc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tích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tính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cảnh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báo</a:t>
            </a:r>
            <a:r>
              <a:rPr lang="en-US" dirty="0">
                <a:latin typeface="Segoe UI"/>
                <a:cs typeface="Segoe UI"/>
              </a:rPr>
              <a:t>.</a:t>
            </a:r>
            <a:endParaRPr lang="en-US" sz="2000" dirty="0">
              <a:latin typeface="Segoe UI"/>
              <a:cs typeface="Segoe UI"/>
            </a:endParaRPr>
          </a:p>
          <a:p>
            <a:pPr>
              <a:buFont typeface="Wingdings" pitchFamily="2" charset="2"/>
              <a:buChar char="v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Xác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định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phạm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vi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của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nội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dung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báo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cáo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?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cs typeface="Segoe UI"/>
            </a:endParaRPr>
          </a:p>
          <a:p>
            <a:pPr lvl="1">
              <a:buChar char="v"/>
            </a:pPr>
            <a:r>
              <a:rPr lang="vi-VN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Phân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tích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thói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quen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mạng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xã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hội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của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.  </a:t>
            </a:r>
            <a:endParaRPr lang="en-US" dirty="0"/>
          </a:p>
          <a:p>
            <a:pPr lvl="1">
              <a:buChar char="v"/>
            </a:pP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Đánh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giá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động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đến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học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tập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sức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khỏe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thần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giấc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ngủ</a:t>
            </a:r>
            <a:r>
              <a:rPr lang="en-US" dirty="0">
                <a:latin typeface="Segoe UI"/>
                <a:cs typeface="Segoe UI"/>
              </a:rPr>
              <a:t>.  </a:t>
            </a:r>
          </a:p>
          <a:p>
            <a:pPr lvl="1">
              <a:buChar char="v"/>
            </a:pP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Xác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định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nhóm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sinh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viên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nguy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cơ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cao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cảnh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báo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sớm</a:t>
            </a:r>
            <a:r>
              <a:rPr lang="en-US" dirty="0">
                <a:latin typeface="Segoe UI"/>
                <a:cs typeface="Segoe UI"/>
              </a:rPr>
              <a:t>.  </a:t>
            </a:r>
          </a:p>
          <a:p>
            <a:pPr lvl="1">
              <a:buChar char="v"/>
            </a:pP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Đề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xuất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hướng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tuyên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truyền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quản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lý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phù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hợp</a:t>
            </a:r>
            <a:r>
              <a:rPr lang="en-US" dirty="0">
                <a:latin typeface="Segoe UI"/>
                <a:cs typeface="Segoe UI"/>
              </a:rPr>
              <a:t>.</a:t>
            </a:r>
            <a:endParaRPr lang="en-US" dirty="0"/>
          </a:p>
          <a:p>
            <a:pPr marL="457200" lvl="1" indent="0">
              <a:buNone/>
            </a:pPr>
            <a:endParaRPr lang="en-US" sz="2000" dirty="0"/>
          </a:p>
          <a:p>
            <a:pPr>
              <a:buChar char="v"/>
            </a:pPr>
            <a:endParaRPr lang="en-US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449B3-0DCA-4F81-5584-7DC686A1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ECD4D-F254-262B-FEB0-BD984B81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9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Bạn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dùng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ảnh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biểu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báo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cáo</a:t>
            </a: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en-US" err="1"/>
              <a:t>Treemap</a:t>
            </a:r>
            <a:endParaRPr lang="en-US" sz="2000"/>
          </a:p>
          <a:p>
            <a:pPr lvl="1"/>
            <a:r>
              <a:rPr lang="vi-VN"/>
              <a:t>B</a:t>
            </a:r>
            <a:r>
              <a:rPr lang="en-US"/>
              <a:t>iểu đồ cột (Column </a:t>
            </a:r>
            <a:r>
              <a:rPr lang="vi-VN"/>
              <a:t>chart)</a:t>
            </a:r>
          </a:p>
          <a:p>
            <a:pPr lvl="1"/>
            <a:r>
              <a:rPr lang="en-US"/>
              <a:t>Biểu đồ thanh (Bar chart)</a:t>
            </a:r>
            <a:endParaRPr lang="vi-VN"/>
          </a:p>
          <a:p>
            <a:pPr lvl="1"/>
            <a:r>
              <a:rPr lang="en-US"/>
              <a:t>Biểu đồ vùng (Area chart)</a:t>
            </a:r>
            <a:endParaRPr lang="vi-VN"/>
          </a:p>
          <a:p>
            <a:pPr lvl="1"/>
            <a:r>
              <a:rPr lang="en-US"/>
              <a:t>Biểu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vi-VN"/>
              <a:t>tán xạ </a:t>
            </a:r>
            <a:r>
              <a:rPr lang="en-US"/>
              <a:t>Scatter Plot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Donut</a:t>
            </a:r>
            <a:endParaRPr lang="vi-VN"/>
          </a:p>
          <a:p>
            <a:pPr lvl="1"/>
            <a:endParaRPr lang="en-US" sz="2000"/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D594-AF29-E937-78F0-77E4757A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3F37E-AB0C-5D6E-B067-B57AD002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70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63873" cy="528869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Những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lưu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ý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và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quy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ước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trong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nội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dung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báo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cáo</a:t>
            </a: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cs typeface="Segoe UI"/>
            </a:endParaRPr>
          </a:p>
          <a:p>
            <a:pPr lvl="1"/>
            <a:r>
              <a:rPr lang="en-US">
                <a:latin typeface="Segoe UI"/>
                <a:cs typeface="Segoe UI"/>
              </a:rPr>
              <a:t>🔴🟠🟡 </a:t>
            </a:r>
            <a:r>
              <a:rPr lang="en-US" err="1">
                <a:latin typeface="Segoe UI"/>
                <a:cs typeface="Segoe UI"/>
              </a:rPr>
              <a:t>Sử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dụng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màu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sắc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cảnh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báo</a:t>
            </a:r>
            <a:r>
              <a:rPr lang="en-US">
                <a:latin typeface="Segoe UI"/>
                <a:cs typeface="Segoe UI"/>
              </a:rPr>
              <a:t> (</a:t>
            </a:r>
            <a:r>
              <a:rPr lang="en-US" err="1">
                <a:latin typeface="Segoe UI"/>
                <a:cs typeface="Segoe UI"/>
              </a:rPr>
              <a:t>đỏ</a:t>
            </a:r>
            <a:r>
              <a:rPr lang="en-US">
                <a:latin typeface="Segoe UI"/>
                <a:cs typeface="Segoe UI"/>
              </a:rPr>
              <a:t>, cam, </a:t>
            </a:r>
            <a:r>
              <a:rPr lang="en-US" err="1">
                <a:latin typeface="Segoe UI"/>
                <a:cs typeface="Segoe UI"/>
              </a:rPr>
              <a:t>vàng</a:t>
            </a:r>
            <a:r>
              <a:rPr lang="en-US">
                <a:latin typeface="Segoe UI"/>
                <a:cs typeface="Segoe UI"/>
              </a:rPr>
              <a:t>) </a:t>
            </a:r>
            <a:r>
              <a:rPr lang="en-US" err="1">
                <a:latin typeface="Segoe UI"/>
                <a:cs typeface="Segoe UI"/>
              </a:rPr>
              <a:t>cho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các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chỉ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số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tiêu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cực</a:t>
            </a:r>
            <a:r>
              <a:rPr lang="en-US">
                <a:latin typeface="Segoe UI"/>
                <a:cs typeface="Segoe UI"/>
              </a:rPr>
              <a:t> (</a:t>
            </a:r>
            <a:r>
              <a:rPr lang="en-US" err="1">
                <a:latin typeface="Segoe UI"/>
                <a:cs typeface="Segoe UI"/>
              </a:rPr>
              <a:t>ví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dụ</a:t>
            </a:r>
            <a:r>
              <a:rPr lang="en-US">
                <a:latin typeface="Segoe UI"/>
                <a:cs typeface="Segoe UI"/>
              </a:rPr>
              <a:t>: </a:t>
            </a:r>
            <a:r>
              <a:rPr lang="en-US" err="1">
                <a:latin typeface="Segoe UI"/>
                <a:cs typeface="Segoe UI"/>
              </a:rPr>
              <a:t>Addicted_Score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cao</a:t>
            </a:r>
            <a:r>
              <a:rPr lang="en-US">
                <a:latin typeface="Segoe UI"/>
                <a:cs typeface="Segoe UI"/>
              </a:rPr>
              <a:t>, </a:t>
            </a:r>
            <a:r>
              <a:rPr lang="en-US" err="1">
                <a:latin typeface="Segoe UI"/>
                <a:cs typeface="Segoe UI"/>
              </a:rPr>
              <a:t>Mental_Health_Score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thấp</a:t>
            </a:r>
            <a:r>
              <a:rPr lang="en-US">
                <a:latin typeface="Segoe UI"/>
                <a:cs typeface="Segoe UI"/>
              </a:rPr>
              <a:t>).</a:t>
            </a:r>
            <a:endParaRPr lang="en-US" sz="2000">
              <a:latin typeface="Segoe UI"/>
              <a:cs typeface="Segoe UI"/>
            </a:endParaRPr>
          </a:p>
          <a:p>
            <a:pPr lvl="1"/>
            <a:r>
              <a:rPr lang="en-US">
                <a:latin typeface="Segoe UI"/>
                <a:cs typeface="Segoe UI"/>
              </a:rPr>
              <a:t>🟢 </a:t>
            </a:r>
            <a:r>
              <a:rPr lang="en-US" err="1">
                <a:latin typeface="Segoe UI"/>
                <a:cs typeface="Segoe UI"/>
              </a:rPr>
              <a:t>Sử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dụng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màu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xanh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lá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cho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các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chỉ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số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tốt</a:t>
            </a:r>
            <a:r>
              <a:rPr lang="en-US">
                <a:latin typeface="Segoe UI"/>
                <a:cs typeface="Segoe UI"/>
              </a:rPr>
              <a:t> (</a:t>
            </a:r>
            <a:r>
              <a:rPr lang="en-US" err="1">
                <a:latin typeface="Segoe UI"/>
                <a:cs typeface="Segoe UI"/>
              </a:rPr>
              <a:t>ví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dụ</a:t>
            </a:r>
            <a:r>
              <a:rPr lang="en-US">
                <a:latin typeface="Segoe UI"/>
                <a:cs typeface="Segoe UI"/>
              </a:rPr>
              <a:t>: </a:t>
            </a:r>
            <a:r>
              <a:rPr lang="en-US" err="1">
                <a:latin typeface="Segoe UI"/>
                <a:cs typeface="Segoe UI"/>
              </a:rPr>
              <a:t>Addicted_Score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thấp</a:t>
            </a:r>
            <a:r>
              <a:rPr lang="en-US">
                <a:latin typeface="Segoe UI"/>
                <a:cs typeface="Segoe UI"/>
              </a:rPr>
              <a:t>, </a:t>
            </a:r>
            <a:r>
              <a:rPr lang="en-US" err="1">
                <a:latin typeface="Segoe UI"/>
                <a:cs typeface="Segoe UI"/>
              </a:rPr>
              <a:t>Mental_Health_Score</a:t>
            </a:r>
            <a:r>
              <a:rPr lang="en-US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cao</a:t>
            </a:r>
            <a:r>
              <a:rPr lang="en-US">
                <a:latin typeface="Segoe UI"/>
                <a:cs typeface="Segoe UI"/>
              </a:rPr>
              <a:t> )</a:t>
            </a:r>
            <a:br>
              <a:rPr lang="vi-VN" sz="2000"/>
            </a:br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89FBC-1055-6400-C99E-7A3970FC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0E490-C9D3-5218-168B-4DB2A123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D16FE-BE51-29FB-5420-ABCE0E95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6A1034-BA7F-FA83-FD6F-DB58A6A857C1}"/>
              </a:ext>
            </a:extLst>
          </p:cNvPr>
          <p:cNvSpPr/>
          <p:nvPr/>
        </p:nvSpPr>
        <p:spPr>
          <a:xfrm>
            <a:off x="2843409" y="2497609"/>
            <a:ext cx="64999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CHUYỂN ĐỔI DỮ LIỆU​</a:t>
            </a:r>
            <a:endParaRPr lang="en-US" sz="5400" b="1" cap="small">
              <a:ln w="11430"/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ea typeface="Calibri"/>
              <a:cs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8AB17F-6CBE-F3B8-6733-9A4185367D1F}"/>
              </a:ext>
            </a:extLst>
          </p:cNvPr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1D2F5D-25A6-A61C-A4D5-F67A613A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D9137-A7F4-31AB-788B-3E8916C1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05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0381-294E-B09A-265A-3CC54C5D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DB9E-3B82-E621-BD1A-247ECB31F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Chuyển đổi dữ liệu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1B03C-0846-801B-C8C6-267E1D830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1" y="905197"/>
            <a:ext cx="9347198" cy="52578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Mục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tiêu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chuyển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đổi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dữ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liệu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Làm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cho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liệu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sạch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chuẩn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dễ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phân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tích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.</a:t>
            </a:r>
            <a:endParaRPr lang="vi-VN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Chuẩn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hóa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định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dạng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(INT, FLOAT, NVARCHAR).</a:t>
            </a:r>
            <a:endParaRPr lang="vi-VN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Loại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bỏ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giá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trị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trùng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thiếu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hoặc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không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hợp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lệ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Các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bước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thực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hiện</a:t>
            </a:r>
            <a:endParaRPr lang="vi-VN" sz="24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TRY_CAST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để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chuyển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kiểu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liệu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.</a:t>
            </a:r>
            <a:endParaRPr lang="vi-VN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TRIM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và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CASE WHEN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để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chuẩn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hóa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giá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trị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.</a:t>
            </a:r>
            <a:endParaRPr lang="vi-VN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Thêm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cột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Usage_Category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phân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loại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nhóm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sử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dụng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MXH.</a:t>
            </a:r>
            <a:endParaRPr lang="vi-VN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Kết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quả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: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bảng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Social_Media_Clean_Final (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16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cột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, 705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dòng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).</a:t>
            </a:r>
            <a:endParaRPr lang="en-US" sz="2400" dirty="0"/>
          </a:p>
          <a:p>
            <a:pPr>
              <a:buChar char="&amp;"/>
            </a:pP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2206A-58FE-7B39-DD9D-65080F80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3FEFE-5503-FB0B-414B-A9990A39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48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06769" y="2967335"/>
            <a:ext cx="6254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Khó khăn &amp; Thuận lợi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F25773-65E6-F99A-8FE9-F3059C52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0638E-D141-B806-F42F-4D8E0141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06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Khó khăn &amp; Thuận lợi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63873" cy="528869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Khó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khăn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cs typeface="Segoe UI"/>
            </a:endParaRPr>
          </a:p>
          <a:p>
            <a:pPr lvl="1"/>
            <a:r>
              <a:rPr lang="en-US" sz="2000" err="1">
                <a:latin typeface="Segoe UI"/>
                <a:cs typeface="Segoe UI"/>
              </a:rPr>
              <a:t>Dữ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liệu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thu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thập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từ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nhiều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nguồn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nên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định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dạng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không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đồng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nhất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phải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làm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sạch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và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chuẩn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hóa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nhiều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bước</a:t>
            </a:r>
            <a:r>
              <a:rPr lang="en-US" sz="2000">
                <a:latin typeface="Segoe UI"/>
                <a:cs typeface="Segoe UI"/>
              </a:rPr>
              <a:t>.</a:t>
            </a:r>
          </a:p>
          <a:p>
            <a:pPr lvl="1"/>
            <a:r>
              <a:rPr lang="en-US" sz="2000" err="1">
                <a:latin typeface="Segoe UI"/>
                <a:cs typeface="Segoe UI"/>
              </a:rPr>
              <a:t>Một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số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bản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ghi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bị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thiếu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giá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trị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hoặc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nhập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sai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kiểu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dữ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liệu</a:t>
            </a:r>
            <a:r>
              <a:rPr lang="en-US" sz="2000">
                <a:latin typeface="Segoe UI"/>
                <a:cs typeface="Segoe UI"/>
              </a:rPr>
              <a:t> (</a:t>
            </a:r>
            <a:r>
              <a:rPr lang="en-US" sz="2000" err="1">
                <a:latin typeface="Segoe UI"/>
                <a:cs typeface="Segoe UI"/>
              </a:rPr>
              <a:t>ví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dụ</a:t>
            </a:r>
            <a:r>
              <a:rPr lang="en-US" sz="2000">
                <a:latin typeface="Segoe UI"/>
                <a:cs typeface="Segoe UI"/>
              </a:rPr>
              <a:t>: text </a:t>
            </a:r>
            <a:r>
              <a:rPr lang="en-US" sz="2000" err="1">
                <a:latin typeface="Segoe UI"/>
                <a:cs typeface="Segoe UI"/>
              </a:rPr>
              <a:t>thay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vì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số</a:t>
            </a:r>
            <a:r>
              <a:rPr lang="en-US" sz="2000">
                <a:latin typeface="Segoe UI"/>
                <a:cs typeface="Segoe UI"/>
              </a:rPr>
              <a:t>).</a:t>
            </a:r>
          </a:p>
          <a:p>
            <a:pPr lvl="1"/>
            <a:r>
              <a:rPr lang="en-US" sz="2000" err="1">
                <a:latin typeface="Segoe UI"/>
                <a:cs typeface="Segoe UI"/>
              </a:rPr>
              <a:t>Kỹ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năng</a:t>
            </a:r>
            <a:r>
              <a:rPr lang="en-US" sz="2000">
                <a:latin typeface="Segoe UI"/>
                <a:cs typeface="Segoe UI"/>
              </a:rPr>
              <a:t> DAX </a:t>
            </a:r>
            <a:r>
              <a:rPr lang="en-US" sz="2000" err="1">
                <a:latin typeface="Segoe UI"/>
                <a:cs typeface="Segoe UI"/>
              </a:rPr>
              <a:t>và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trực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quan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hóa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trên</a:t>
            </a:r>
            <a:r>
              <a:rPr lang="en-US" sz="2000">
                <a:latin typeface="Segoe UI"/>
                <a:cs typeface="Segoe UI"/>
              </a:rPr>
              <a:t> Power BI </a:t>
            </a:r>
            <a:r>
              <a:rPr lang="en-US" sz="2000" err="1">
                <a:latin typeface="Segoe UI"/>
                <a:cs typeface="Segoe UI"/>
              </a:rPr>
              <a:t>của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nhóm</a:t>
            </a:r>
            <a:r>
              <a:rPr lang="en-US" sz="2000">
                <a:latin typeface="Segoe UI"/>
                <a:cs typeface="Segoe UI"/>
              </a:rPr>
              <a:t> ban </a:t>
            </a:r>
            <a:r>
              <a:rPr lang="en-US" sz="2000" err="1">
                <a:latin typeface="Segoe UI"/>
                <a:cs typeface="Segoe UI"/>
              </a:rPr>
              <a:t>đầu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còn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hạn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chế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mất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thời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gian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tìm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hiểu</a:t>
            </a:r>
            <a:r>
              <a:rPr lang="en-US" sz="2000">
                <a:latin typeface="Segoe UI"/>
                <a:cs typeface="Segoe UI"/>
              </a:rPr>
              <a:t>.</a:t>
            </a:r>
          </a:p>
          <a:p>
            <a:pPr lvl="1"/>
            <a:r>
              <a:rPr lang="en-US" sz="2000" err="1">
                <a:latin typeface="Segoe UI"/>
                <a:cs typeface="Segoe UI"/>
              </a:rPr>
              <a:t>Khó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đảm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bảo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tính</a:t>
            </a:r>
            <a:r>
              <a:rPr lang="en-US" sz="2000">
                <a:latin typeface="Segoe UI"/>
                <a:cs typeface="Segoe UI"/>
              </a:rPr>
              <a:t> logic </a:t>
            </a:r>
            <a:r>
              <a:rPr lang="en-US" sz="2000" err="1">
                <a:latin typeface="Segoe UI"/>
                <a:cs typeface="Segoe UI"/>
              </a:rPr>
              <a:t>giữa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các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chỉ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số</a:t>
            </a:r>
            <a:r>
              <a:rPr lang="en-US" sz="2000">
                <a:latin typeface="Segoe UI"/>
                <a:cs typeface="Segoe UI"/>
              </a:rPr>
              <a:t> (</a:t>
            </a:r>
            <a:r>
              <a:rPr lang="en-US" sz="2000" err="1">
                <a:latin typeface="Segoe UI"/>
                <a:cs typeface="Segoe UI"/>
              </a:rPr>
              <a:t>giờ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sử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dụng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giấc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ngủ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điểm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sức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khỏe</a:t>
            </a:r>
            <a:r>
              <a:rPr lang="en-US" sz="2000">
                <a:latin typeface="Segoe UI"/>
                <a:cs typeface="Segoe UI"/>
              </a:rPr>
              <a:t>) </a:t>
            </a:r>
            <a:r>
              <a:rPr lang="en-US" sz="2000" err="1">
                <a:latin typeface="Segoe UI"/>
                <a:cs typeface="Segoe UI"/>
              </a:rPr>
              <a:t>khi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dữ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liệu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có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ngoại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lệ</a:t>
            </a:r>
            <a:endParaRPr lang="en-US" sz="2000">
              <a:latin typeface="Segoe UI"/>
              <a:cs typeface="Segoe UI"/>
            </a:endParaRPr>
          </a:p>
          <a:p>
            <a:pPr>
              <a:buFont typeface="Wingdings" pitchFamily="2" charset="2"/>
              <a:buChar char="&amp;"/>
            </a:pP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Thuận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</a:t>
            </a:r>
            <a:r>
              <a:rPr lang="en-US" sz="2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lợi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cs typeface="Segoe UI"/>
              </a:rPr>
              <a:t>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cs typeface="Segoe UI"/>
            </a:endParaRPr>
          </a:p>
          <a:p>
            <a:pPr lvl="1"/>
            <a:r>
              <a:rPr lang="en-US" sz="2000" err="1">
                <a:latin typeface="Segoe UI"/>
                <a:cs typeface="Segoe UI"/>
              </a:rPr>
              <a:t>Có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hướng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dẫn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rõ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ràng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từ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giảng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viên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và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mẫu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báo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cáo</a:t>
            </a:r>
            <a:r>
              <a:rPr lang="en-US" sz="2000">
                <a:latin typeface="Segoe UI"/>
                <a:cs typeface="Segoe UI"/>
              </a:rPr>
              <a:t> chi </a:t>
            </a:r>
            <a:r>
              <a:rPr lang="en-US" sz="2000" err="1">
                <a:latin typeface="Segoe UI"/>
                <a:cs typeface="Segoe UI"/>
              </a:rPr>
              <a:t>tiết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giúp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nhóm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dễ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bám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sát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tiến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độ</a:t>
            </a:r>
            <a:r>
              <a:rPr lang="en-US" sz="2000">
                <a:latin typeface="Segoe UI"/>
                <a:cs typeface="Segoe UI"/>
              </a:rPr>
              <a:t>.</a:t>
            </a:r>
          </a:p>
          <a:p>
            <a:pPr lvl="1"/>
            <a:r>
              <a:rPr lang="en-US" sz="2000" err="1">
                <a:latin typeface="Segoe UI"/>
                <a:cs typeface="Segoe UI"/>
              </a:rPr>
              <a:t>Dữ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liệu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có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cấu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trúc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rõ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ràng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dễ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đọc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dễ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phân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tích</a:t>
            </a:r>
            <a:r>
              <a:rPr lang="en-US" sz="2000">
                <a:latin typeface="Segoe UI"/>
                <a:cs typeface="Segoe UI"/>
              </a:rPr>
              <a:t>.</a:t>
            </a:r>
          </a:p>
          <a:p>
            <a:pPr lvl="1"/>
            <a:r>
              <a:rPr lang="en-US" sz="2000">
                <a:latin typeface="Segoe UI"/>
                <a:cs typeface="Segoe UI"/>
              </a:rPr>
              <a:t>Công </a:t>
            </a:r>
            <a:r>
              <a:rPr lang="en-US" sz="2000" err="1">
                <a:latin typeface="Segoe UI"/>
                <a:cs typeface="Segoe UI"/>
              </a:rPr>
              <a:t>cụ</a:t>
            </a:r>
            <a:r>
              <a:rPr lang="en-US" sz="2000">
                <a:latin typeface="Segoe UI"/>
                <a:cs typeface="Segoe UI"/>
              </a:rPr>
              <a:t> Power BI  </a:t>
            </a:r>
            <a:r>
              <a:rPr lang="en-US" sz="2000" err="1">
                <a:latin typeface="Segoe UI"/>
                <a:cs typeface="Segoe UI"/>
              </a:rPr>
              <a:t>hỗ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trợ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trực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quan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kết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nối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nhanh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dễ</a:t>
            </a:r>
            <a:r>
              <a:rPr lang="en-US" sz="2000">
                <a:latin typeface="Segoe UI"/>
                <a:cs typeface="Segoe UI"/>
              </a:rPr>
              <a:t> chia </a:t>
            </a:r>
            <a:r>
              <a:rPr lang="en-US" sz="2000" err="1">
                <a:latin typeface="Segoe UI"/>
                <a:cs typeface="Segoe UI"/>
              </a:rPr>
              <a:t>sẻ</a:t>
            </a:r>
            <a:r>
              <a:rPr lang="en-US" sz="2000">
                <a:latin typeface="Segoe UI"/>
                <a:cs typeface="Segoe UI"/>
              </a:rPr>
              <a:t> qua cloud.</a:t>
            </a:r>
          </a:p>
          <a:p>
            <a:pPr lvl="1"/>
            <a:r>
              <a:rPr lang="en-US" sz="2000" err="1">
                <a:latin typeface="Segoe UI"/>
                <a:cs typeface="Segoe UI"/>
              </a:rPr>
              <a:t>Làm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việc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nhóm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hiệu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quả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phân</a:t>
            </a:r>
            <a:r>
              <a:rPr lang="en-US" sz="2000">
                <a:latin typeface="Segoe UI"/>
                <a:cs typeface="Segoe UI"/>
              </a:rPr>
              <a:t> chia </a:t>
            </a:r>
            <a:r>
              <a:rPr lang="en-US" sz="2000" err="1">
                <a:latin typeface="Segoe UI"/>
                <a:cs typeface="Segoe UI"/>
              </a:rPr>
              <a:t>nhiệm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vụ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hợp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lý</a:t>
            </a:r>
            <a:r>
              <a:rPr lang="en-US" sz="2000">
                <a:latin typeface="Segoe UI"/>
                <a:cs typeface="Segoe UI"/>
              </a:rPr>
              <a:t> (</a:t>
            </a:r>
            <a:r>
              <a:rPr lang="en-US" sz="2000" err="1">
                <a:latin typeface="Segoe UI"/>
                <a:cs typeface="Segoe UI"/>
              </a:rPr>
              <a:t>làm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sạch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thiết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kế</a:t>
            </a:r>
            <a:r>
              <a:rPr lang="en-US" sz="200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báo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cáo</a:t>
            </a:r>
            <a:r>
              <a:rPr lang="en-US" sz="2000">
                <a:latin typeface="Segoe UI"/>
                <a:cs typeface="Segoe UI"/>
              </a:rPr>
              <a:t>).</a:t>
            </a:r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C8D48-055B-1B97-ADEB-1D4EFFE8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67236-AC32-49FB-45B9-3754D5D1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76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70384" y="2971800"/>
            <a:ext cx="2327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Kết quả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D8D0E4-2E2C-9947-C808-8CB6E40C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92959-A7F7-3D6C-97B3-E825E72B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3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9F65-C9F1-DDFF-3E8F-EA68F613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4A3C-1419-F935-F10D-D7F672AF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Sản phẩm thực tế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E02B7-4CFB-1312-C3C0-D9071618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29088-FE4D-BD01-5C6B-A4E086AE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4F196-0E71-A188-EA4F-68B7AC745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14" y="924451"/>
            <a:ext cx="9673151" cy="54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14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Sản phẩm thực tế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3DF8-DF64-609D-C42E-1898912D4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4BF02-8623-5CEE-C97C-BD97A4AF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FD02D-6578-F8C8-32AF-D6F63EAD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62" y="1019750"/>
            <a:ext cx="9591560" cy="537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81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67200" y="2971800"/>
            <a:ext cx="35365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Demo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AE466B-A5DC-D3E0-828F-EE94A11D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4078-7CC6-4F54-BF50-5AE7E2C2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74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dự án</a:t>
            </a:r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3BB74F00-AB52-EB59-16E1-54FDC11C7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800" y="2286000"/>
            <a:ext cx="2286000" cy="2286000"/>
          </a:xfrm>
          <a:prstGeom prst="rec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2" name="Picture 11" descr="A yellow background with black and black logo&#10;&#10;Description automatically generated">
            <a:extLst>
              <a:ext uri="{FF2B5EF4-FFF2-40B4-BE49-F238E27FC236}">
                <a16:creationId xmlns:a16="http://schemas.microsoft.com/office/drawing/2014/main" id="{03FB827F-FDC5-F644-3A41-4997D54E20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419350"/>
            <a:ext cx="2019300" cy="201930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546D6FC9-DE12-BC14-7C32-B779DFB8F622}"/>
              </a:ext>
            </a:extLst>
          </p:cNvPr>
          <p:cNvSpPr/>
          <p:nvPr/>
        </p:nvSpPr>
        <p:spPr>
          <a:xfrm>
            <a:off x="5029200" y="3200400"/>
            <a:ext cx="1219200" cy="609600"/>
          </a:xfrm>
          <a:prstGeom prst="rightArrow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D4B767D-8BA3-381B-3D85-CB3827F6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021AF32-0259-6819-3C37-7C69DDE3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9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24400" y="2962870"/>
            <a:ext cx="18806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 &amp; A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4E379A-8AC7-9499-85BB-90361080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 dirty="0"/>
              <a:t>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8A2BF-94E7-1B65-3708-9942E5F4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8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67200" y="2971800"/>
            <a:ext cx="3108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Thank You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42278D-D31A-C06B-2D82-430023CE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&lt;&lt;</a:t>
            </a:r>
            <a:r>
              <a:rPr lang="vi-VN" dirty="0"/>
              <a:t>Phân tích thói quen dùng MXH</a:t>
            </a:r>
            <a:r>
              <a:rPr lang="en-US"/>
              <a:t>&gt;&gt;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F9D0D-BF3A-AA82-F288-6EA4B334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1804</Words>
  <Application>Microsoft Office PowerPoint</Application>
  <PresentationFormat>Widescreen</PresentationFormat>
  <Paragraphs>239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Calibri</vt:lpstr>
      <vt:lpstr>Courier New</vt:lpstr>
      <vt:lpstr>Fpt-DaxlinePro-Bold</vt:lpstr>
      <vt:lpstr>Fpt-DaxlinePro-Medium</vt:lpstr>
      <vt:lpstr>Roboto Lt</vt:lpstr>
      <vt:lpstr>Segoe UI</vt:lpstr>
      <vt:lpstr>Tahoma</vt:lpstr>
      <vt:lpstr>Times New Roman</vt:lpstr>
      <vt:lpstr>Wingdings</vt:lpstr>
      <vt:lpstr>Custom Design</vt:lpstr>
      <vt:lpstr>1_Custom Design</vt:lpstr>
      <vt:lpstr>template</vt:lpstr>
      <vt:lpstr>PHÂN TÍCH THÓI QUEN DÙNG MẠNG XÃ HỘI</vt:lpstr>
      <vt:lpstr>Nội dung</vt:lpstr>
      <vt:lpstr>PowerPoint Presentation</vt:lpstr>
      <vt:lpstr>Giới thiệu thành viên #1</vt:lpstr>
      <vt:lpstr>Giới thiệu thành viên #2</vt:lpstr>
      <vt:lpstr>Giới thiệu thành viên #3</vt:lpstr>
      <vt:lpstr>Giới thiệu thành viên #4</vt:lpstr>
      <vt:lpstr>Giới thiệu thành viên #5</vt:lpstr>
      <vt:lpstr>PowerPoint Presentation</vt:lpstr>
      <vt:lpstr>Giới thiệu dự án</vt:lpstr>
      <vt:lpstr>Yêu cầu dự án</vt:lpstr>
      <vt:lpstr>Sản phẩm mục tiêu</vt:lpstr>
      <vt:lpstr>PowerPoint Presentation</vt:lpstr>
      <vt:lpstr>Phân tích hệ thống</vt:lpstr>
      <vt:lpstr>Kiến trúc hệ thống</vt:lpstr>
      <vt:lpstr>PowerPoint Presentation</vt:lpstr>
      <vt:lpstr>Phân tích dự án #1</vt:lpstr>
      <vt:lpstr>Phân tích dự án #2</vt:lpstr>
      <vt:lpstr>Phân tích dự án #2</vt:lpstr>
      <vt:lpstr>Phân tích dự án #3</vt:lpstr>
      <vt:lpstr>PowerPoint Presentation</vt:lpstr>
      <vt:lpstr>Chuyển đổi dữ liệu</vt:lpstr>
      <vt:lpstr>PowerPoint Presentation</vt:lpstr>
      <vt:lpstr>Khó khăn &amp; Thuận lợi</vt:lpstr>
      <vt:lpstr>PowerPoint Presentation</vt:lpstr>
      <vt:lpstr>Sản phẩm thực tế</vt:lpstr>
      <vt:lpstr>Sản phẩm thực tế</vt:lpstr>
      <vt:lpstr>PowerPoint Presentation</vt:lpstr>
      <vt:lpstr>Demo dự án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Vy Nguyễn</cp:lastModifiedBy>
  <cp:revision>6</cp:revision>
  <dcterms:created xsi:type="dcterms:W3CDTF">2013-04-23T08:05:33Z</dcterms:created>
  <dcterms:modified xsi:type="dcterms:W3CDTF">2025-12-03T01:17:52Z</dcterms:modified>
</cp:coreProperties>
</file>