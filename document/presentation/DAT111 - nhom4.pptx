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0" r:id="rId1"/>
    <p:sldMasterId id="2147483685" r:id="rId2"/>
    <p:sldMasterId id="2147483700" r:id="rId3"/>
  </p:sldMasterIdLst>
  <p:notesMasterIdLst>
    <p:notesMasterId r:id="rId34"/>
  </p:notesMasterIdLst>
  <p:sldIdLst>
    <p:sldId id="260" r:id="rId4"/>
    <p:sldId id="693" r:id="rId5"/>
    <p:sldId id="739" r:id="rId6"/>
    <p:sldId id="735" r:id="rId7"/>
    <p:sldId id="737" r:id="rId8"/>
    <p:sldId id="738" r:id="rId9"/>
    <p:sldId id="759" r:id="rId10"/>
    <p:sldId id="760" r:id="rId11"/>
    <p:sldId id="740" r:id="rId12"/>
    <p:sldId id="736" r:id="rId13"/>
    <p:sldId id="741" r:id="rId14"/>
    <p:sldId id="742" r:id="rId15"/>
    <p:sldId id="745" r:id="rId16"/>
    <p:sldId id="744" r:id="rId17"/>
    <p:sldId id="746" r:id="rId18"/>
    <p:sldId id="747" r:id="rId19"/>
    <p:sldId id="748" r:id="rId20"/>
    <p:sldId id="749" r:id="rId21"/>
    <p:sldId id="750" r:id="rId22"/>
    <p:sldId id="751" r:id="rId23"/>
    <p:sldId id="761" r:id="rId24"/>
    <p:sldId id="762" r:id="rId25"/>
    <p:sldId id="752" r:id="rId26"/>
    <p:sldId id="753" r:id="rId27"/>
    <p:sldId id="754" r:id="rId28"/>
    <p:sldId id="755" r:id="rId29"/>
    <p:sldId id="756" r:id="rId30"/>
    <p:sldId id="743" r:id="rId31"/>
    <p:sldId id="758" r:id="rId32"/>
    <p:sldId id="757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hần Mặc định" id="{3FF95120-09F4-4CA9-8B73-3D5976CCB4A5}">
          <p14:sldIdLst>
            <p14:sldId id="260"/>
            <p14:sldId id="693"/>
            <p14:sldId id="739"/>
            <p14:sldId id="735"/>
            <p14:sldId id="737"/>
            <p14:sldId id="738"/>
            <p14:sldId id="759"/>
            <p14:sldId id="760"/>
            <p14:sldId id="740"/>
            <p14:sldId id="736"/>
            <p14:sldId id="741"/>
            <p14:sldId id="742"/>
            <p14:sldId id="745"/>
            <p14:sldId id="744"/>
            <p14:sldId id="746"/>
            <p14:sldId id="747"/>
            <p14:sldId id="748"/>
            <p14:sldId id="749"/>
            <p14:sldId id="750"/>
            <p14:sldId id="751"/>
            <p14:sldId id="761"/>
            <p14:sldId id="762"/>
            <p14:sldId id="752"/>
            <p14:sldId id="753"/>
          </p14:sldIdLst>
        </p14:section>
        <p14:section name="Mục chưa có tên" id="{965ADAC3-96DE-4B70-BEF4-901A4341B931}">
          <p14:sldIdLst>
            <p14:sldId id="754"/>
            <p14:sldId id="755"/>
            <p14:sldId id="756"/>
            <p14:sldId id="743"/>
            <p14:sldId id="758"/>
            <p14:sldId id="75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9F9F9"/>
    <a:srgbClr val="0000FF"/>
    <a:srgbClr val="FF5A33"/>
    <a:srgbClr val="5C0000"/>
    <a:srgbClr val="FF9900"/>
    <a:srgbClr val="FFD1D1"/>
    <a:srgbClr val="FFB9B9"/>
    <a:srgbClr val="FF9797"/>
    <a:srgbClr val="FF8F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6F6BAA-1E32-A934-EAAB-483F7D2667C7}" v="5" dt="2025-11-13T15:55:20.890"/>
    <p1510:client id="{0A0128D7-B079-4042-BB45-AE3637CC31BE}" v="103" dt="2025-11-13T17:12:16.609"/>
    <p1510:client id="{1744F55D-91DE-9420-B8A0-9C18E63CD225}" v="92" dt="2025-11-13T16:19:54.969"/>
    <p1510:client id="{B2637282-B4FE-8A78-3246-4FAB139A5736}" v="367" dt="2025-11-13T17:12:43.90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6" d="100"/>
          <a:sy n="66" d="100"/>
        </p:scale>
        <p:origin x="1224" y="27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microsoft.com/office/2015/10/relationships/revisionInfo" Target="revisionInfo.xml"/><Relationship Id="rId21" Type="http://schemas.openxmlformats.org/officeDocument/2006/relationships/slide" Target="slides/slide18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slide" Target="slides/slide26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theme" Target="theme/theme1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viewProps" Target="viewProps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presProps" Target="presProps.xml"/><Relationship Id="rId8" Type="http://schemas.openxmlformats.org/officeDocument/2006/relationships/slide" Target="slides/slide5.xml"/><Relationship Id="rId3" Type="http://schemas.openxmlformats.org/officeDocument/2006/relationships/slideMaster" Target="slideMasters/slideMaster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E60FC1-C18A-41E1-B5B3-73A5F51CC4CD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4D6F88A-F17F-491B-A558-A5E9980DD53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8725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microsoft.com/office/2007/relationships/hdphoto" Target="../media/hdphoto3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microsoft.com/office/2007/relationships/hdphoto" Target="../media/hdphoto2.wdp"/><Relationship Id="rId4" Type="http://schemas.openxmlformats.org/officeDocument/2006/relationships/image" Target="../media/image4.pn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microsoft.com/office/2007/relationships/hdphoto" Target="../media/hdphoto3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5.png"/><Relationship Id="rId5" Type="http://schemas.microsoft.com/office/2007/relationships/hdphoto" Target="../media/hdphoto2.wdp"/><Relationship Id="rId4" Type="http://schemas.openxmlformats.org/officeDocument/2006/relationships/image" Target="../media/image4.png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12.png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3.xml"/><Relationship Id="rId6" Type="http://schemas.openxmlformats.org/officeDocument/2006/relationships/image" Target="../media/image11.jpeg"/><Relationship Id="rId5" Type="http://schemas.openxmlformats.org/officeDocument/2006/relationships/image" Target="../media/image9.gif"/><Relationship Id="rId4" Type="http://schemas.openxmlformats.org/officeDocument/2006/relationships/image" Target="../media/image8.gif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4763" y="-4763"/>
            <a:ext cx="12201525" cy="6867525"/>
          </a:xfrm>
          <a:prstGeom prst="rect">
            <a:avLst/>
          </a:prstGeom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0" y="4953000"/>
            <a:ext cx="6705600" cy="990600"/>
          </a:xfrm>
        </p:spPr>
        <p:txBody>
          <a:bodyPr>
            <a:normAutofit/>
          </a:bodyPr>
          <a:lstStyle>
            <a:lvl1pPr marL="0" indent="0" algn="l">
              <a:buNone/>
              <a:defRPr sz="2200" b="1" cap="small" baseline="0">
                <a:solidFill>
                  <a:srgbClr val="FF5A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itchFamily="34" charset="0"/>
                <a:cs typeface="Segoe UI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cxnSp>
        <p:nvCxnSpPr>
          <p:cNvPr id="6" name="Straight Connector 5"/>
          <p:cNvCxnSpPr/>
          <p:nvPr userDrawn="1"/>
        </p:nvCxnSpPr>
        <p:spPr>
          <a:xfrm>
            <a:off x="5583936" y="4953000"/>
            <a:ext cx="6303264" cy="0"/>
          </a:xfrm>
          <a:prstGeom prst="line">
            <a:avLst/>
          </a:prstGeom>
          <a:ln w="3175">
            <a:solidFill>
              <a:srgbClr val="FF5A3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 userDrawn="1"/>
        </p:nvSpPr>
        <p:spPr>
          <a:xfrm>
            <a:off x="1060704" y="2133600"/>
            <a:ext cx="3308096" cy="3048000"/>
          </a:xfrm>
          <a:prstGeom prst="ellipse">
            <a:avLst/>
          </a:prstGeom>
          <a:solidFill>
            <a:schemeClr val="bg1"/>
          </a:solidFill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5" name="Title 4"/>
          <p:cNvSpPr>
            <a:spLocks noGrp="1"/>
          </p:cNvSpPr>
          <p:nvPr>
            <p:ph type="title" hasCustomPrompt="1"/>
          </p:nvPr>
        </p:nvSpPr>
        <p:spPr>
          <a:xfrm>
            <a:off x="5506720" y="4284596"/>
            <a:ext cx="6100064" cy="704980"/>
          </a:xfrm>
        </p:spPr>
        <p:txBody>
          <a:bodyPr>
            <a:normAutofit/>
          </a:bodyPr>
          <a:lstStyle>
            <a:lvl1pPr algn="l">
              <a:defRPr lang="en-US" sz="3400" b="1" kern="1200" cap="small" baseline="0" dirty="0">
                <a:solidFill>
                  <a:srgbClr val="FF5A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</a:lstStyle>
          <a:p>
            <a:r>
              <a:rPr lang="en-US" err="1"/>
              <a:t>Tên</a:t>
            </a:r>
            <a:r>
              <a:rPr lang="en-US"/>
              <a:t> </a:t>
            </a:r>
            <a:r>
              <a:rPr lang="en-US" err="1"/>
              <a:t>môn</a:t>
            </a:r>
            <a:r>
              <a:rPr lang="en-US"/>
              <a:t> </a:t>
            </a:r>
            <a:r>
              <a:rPr lang="en-US" err="1"/>
              <a:t>học</a:t>
            </a:r>
            <a:endParaRPr lang="en-US"/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0" hasCustomPrompt="1"/>
          </p:nvPr>
        </p:nvSpPr>
        <p:spPr>
          <a:xfrm>
            <a:off x="1016000" y="2743200"/>
            <a:ext cx="3352800" cy="18288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Logo</a:t>
            </a:r>
          </a:p>
        </p:txBody>
      </p:sp>
    </p:spTree>
    <p:extLst>
      <p:ext uri="{BB962C8B-B14F-4D97-AF65-F5344CB8AC3E}">
        <p14:creationId xmlns:p14="http://schemas.microsoft.com/office/powerpoint/2010/main" val="37455373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5202" y="274638"/>
            <a:ext cx="9347198" cy="487362"/>
          </a:xfrm>
        </p:spPr>
        <p:txBody>
          <a:bodyPr>
            <a:noAutofit/>
          </a:bodyPr>
          <a:lstStyle>
            <a:lvl1pPr algn="r">
              <a:defRPr sz="2800" b="1" cap="small" baseline="0">
                <a:solidFill>
                  <a:srgbClr val="FF5A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itchFamily="34" charset="0"/>
                <a:cs typeface="Segoe UI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066800"/>
            <a:ext cx="10972800" cy="5257800"/>
          </a:xfrm>
        </p:spPr>
        <p:txBody>
          <a:bodyPr>
            <a:normAutofit/>
          </a:bodyPr>
          <a:lstStyle>
            <a:lvl1pPr marL="342900" indent="-342900">
              <a:buClr>
                <a:srgbClr val="FF5A33"/>
              </a:buClr>
              <a:buFont typeface="Wingdings" pitchFamily="2" charset="2"/>
              <a:buChar char="q"/>
              <a:defRPr sz="2800">
                <a:latin typeface="Segoe UI" pitchFamily="34" charset="0"/>
                <a:cs typeface="Segoe UI" pitchFamily="34" charset="0"/>
              </a:defRPr>
            </a:lvl1pPr>
            <a:lvl2pPr marL="742950" indent="-285750">
              <a:buClr>
                <a:srgbClr val="FF5A33"/>
              </a:buClr>
              <a:buFont typeface="Wingdings" pitchFamily="2" charset="2"/>
              <a:buChar char="v"/>
              <a:defRPr sz="2400">
                <a:latin typeface="Segoe UI" pitchFamily="34" charset="0"/>
                <a:cs typeface="Segoe UI" pitchFamily="34" charset="0"/>
              </a:defRPr>
            </a:lvl2pPr>
            <a:lvl3pPr marL="1143000" indent="-228600">
              <a:buClr>
                <a:srgbClr val="FF5A33"/>
              </a:buClr>
              <a:buFont typeface="Wingdings" pitchFamily="2" charset="2"/>
              <a:buChar char="Ø"/>
              <a:defRPr sz="2000">
                <a:latin typeface="Segoe UI" pitchFamily="34" charset="0"/>
                <a:cs typeface="Segoe UI" pitchFamily="34" charset="0"/>
              </a:defRPr>
            </a:lvl3pPr>
            <a:lvl4pPr marL="1600200" indent="-228600">
              <a:buClr>
                <a:srgbClr val="FF5A33"/>
              </a:buClr>
              <a:buFont typeface="Wingdings" pitchFamily="2" charset="2"/>
              <a:buChar char="ü"/>
              <a:defRPr sz="1800">
                <a:latin typeface="Segoe UI" pitchFamily="34" charset="0"/>
                <a:cs typeface="Segoe UI" pitchFamily="34" charset="0"/>
              </a:defRPr>
            </a:lvl4pPr>
            <a:lvl5pPr marL="2057400" indent="-228600">
              <a:buClr>
                <a:srgbClr val="FF5A33"/>
              </a:buClr>
              <a:buFont typeface="Wingdings" pitchFamily="2" charset="2"/>
              <a:buChar char="§"/>
              <a:defRPr sz="1800">
                <a:latin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90F569-7858-4DA0-90EC-1AB4E27FD370}" type="datetime1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&lt;&lt;Tên Dự Án&gt;&gt;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56573"/>
            <a:ext cx="1625602" cy="713824"/>
          </a:xfrm>
          <a:prstGeom prst="rect">
            <a:avLst/>
          </a:prstGeom>
        </p:spPr>
      </p:pic>
      <p:cxnSp>
        <p:nvCxnSpPr>
          <p:cNvPr id="9" name="Straight Connector 8"/>
          <p:cNvCxnSpPr/>
          <p:nvPr userDrawn="1"/>
        </p:nvCxnSpPr>
        <p:spPr>
          <a:xfrm>
            <a:off x="609600" y="838200"/>
            <a:ext cx="10972800" cy="0"/>
          </a:xfrm>
          <a:prstGeom prst="line">
            <a:avLst/>
          </a:prstGeom>
          <a:ln w="38100">
            <a:solidFill>
              <a:srgbClr val="FF99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74001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ABF4A2-3C6A-4F75-888A-07ED3E036AE1}" type="datetime1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&lt;&lt;Tên Dự Án&gt;&gt;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28401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92D6C1-3F2F-45EB-987A-C333A3F63A61}" type="datetime1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&lt;&lt;Tên Dự Án&gt;&gt;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3715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B35BAD-EFF8-4C7A-B0DF-BCD8E1EDD234}" type="datetime1">
              <a:rPr lang="en-US" smtClean="0"/>
              <a:t>12/1/2025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&lt;&lt;Tên Dự Án&gt;&gt;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4542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B0EC59-39C3-490C-989D-62C2812C1A9B}" type="datetime1">
              <a:rPr lang="en-US" smtClean="0"/>
              <a:t>12/1/2025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&lt;&lt;Tên Dự Án&gt;&gt;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/>
          <p:cNvSpPr/>
          <p:nvPr userDrawn="1"/>
        </p:nvSpPr>
        <p:spPr>
          <a:xfrm>
            <a:off x="2032000" y="2551018"/>
            <a:ext cx="8534400" cy="326475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>
              <a:solidFill>
                <a:schemeClr val="bg1"/>
              </a:solidFill>
            </a:endParaRPr>
          </a:p>
        </p:txBody>
      </p:sp>
      <p:pic>
        <p:nvPicPr>
          <p:cNvPr id="8" name="Picture 2" descr="http://uconndigitalarts.com/wp-content/uploads/2013/04/original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3958" r="96146">
                        <a14:backgroundMark x1="16667" y1="54630" x2="86042" y2="55185"/>
                        <a14:backgroundMark x1="90625" y1="53889" x2="93125" y2="5388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43978" b="41311"/>
          <a:stretch/>
        </p:blipFill>
        <p:spPr bwMode="auto">
          <a:xfrm flipH="1">
            <a:off x="3732707" y="2575401"/>
            <a:ext cx="4568091" cy="2838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C:\Users\powerpoint.vn\Downloads\1e2cd4b177168ad16ce2e7c504bba4d2.x400.jpeg"/>
          <p:cNvPicPr>
            <a:picLocks noChangeAspect="1" noChangeArrowheads="1"/>
          </p:cNvPicPr>
          <p:nvPr userDrawn="1"/>
        </p:nvPicPr>
        <p:blipFill rotWithShape="1"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750" b="81000" l="9971" r="89736">
                        <a14:backgroundMark x1="33724" y1="42750" x2="69208" y2="55250"/>
                        <a14:backgroundMark x1="25806" y1="33250" x2="25806" y2="37500"/>
                        <a14:backgroundMark x1="26100" y1="32250" x2="26100" y2="32250"/>
                        <a14:backgroundMark x1="70674" y1="35750" x2="70674" y2="35750"/>
                        <a14:backgroundMark x1="76246" y1="31250" x2="76246" y2="31250"/>
                        <a14:backgroundMark x1="70968" y1="34750" x2="70968" y2="3475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5710"/>
          <a:stretch/>
        </p:blipFill>
        <p:spPr bwMode="auto">
          <a:xfrm>
            <a:off x="2568620" y="609600"/>
            <a:ext cx="7257961" cy="2828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/>
          <p:cNvSpPr txBox="1"/>
          <p:nvPr userDrawn="1"/>
        </p:nvSpPr>
        <p:spPr>
          <a:xfrm>
            <a:off x="4103893" y="3124200"/>
            <a:ext cx="4735308" cy="21390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200" b="1">
                <a:solidFill>
                  <a:schemeClr val="bg1"/>
                </a:solidFill>
              </a:rPr>
              <a:t>DEM</a:t>
            </a:r>
            <a:r>
              <a:rPr lang="en-US" sz="11500" b="1">
                <a:solidFill>
                  <a:schemeClr val="bg1"/>
                </a:solidFill>
              </a:rPr>
              <a:t>O</a:t>
            </a:r>
          </a:p>
          <a:p>
            <a:endParaRPr lang="en-US" sz="1800"/>
          </a:p>
        </p:txBody>
      </p:sp>
      <p:pic>
        <p:nvPicPr>
          <p:cNvPr id="10" name="Picture 2" descr="http://www.designofsignage.com/application/symbol/hands/image/600x600/hand-press-button-4.jpg"/>
          <p:cNvPicPr>
            <a:picLocks noChangeAspect="1" noChangeArrowheads="1"/>
          </p:cNvPicPr>
          <p:nvPr userDrawn="1"/>
        </p:nvPicPr>
        <p:blipFill>
          <a:blip r:embed="rId6" cstate="print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9500" l="10000" r="90000">
                        <a14:foregroundMark x1="35833" y1="26500" x2="41500" y2="85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6752" y="3568725"/>
            <a:ext cx="3488947" cy="2616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591965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E7A03-E2FE-4721-9011-4149F834CB0D}" type="datetime1">
              <a:rPr lang="en-US" smtClean="0"/>
              <a:t>12/1/2025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&lt;&lt;Tên Dự Án&gt;&gt;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2089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7EA484-BC91-49D0-8F8D-18D3315E6030}" type="datetime1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&lt;&lt;Tên Dự Án&gt;&gt;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6359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A5B53-1F78-4F01-ABED-88EEBD7C407E}" type="datetime1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&lt;&lt;Tên Dự Án&gt;&gt;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76594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CF842-59AF-427C-ACBC-D36D24E0CB1B}" type="datetime1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&lt;&lt;Tên Dự Án&gt;&gt;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85005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8A41B8-5FEA-4CA2-B7CF-78A09B3BA538}" type="datetime1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&lt;&lt;Tên Dự Án&gt;&gt;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4266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&amp;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itle Placeholder 1"/>
          <p:cNvSpPr txBox="1">
            <a:spLocks/>
          </p:cNvSpPr>
          <p:nvPr userDrawn="1"/>
        </p:nvSpPr>
        <p:spPr>
          <a:xfrm>
            <a:off x="2946400" y="274638"/>
            <a:ext cx="8636000" cy="56356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 defTabSz="914400" rtl="0" eaLnBrk="1" latinLnBrk="0" hangingPunct="1">
              <a:spcBef>
                <a:spcPct val="0"/>
              </a:spcBef>
              <a:buNone/>
              <a:defRPr sz="3200" b="1" kern="1200" cap="small" baseline="0">
                <a:solidFill>
                  <a:srgbClr val="FF99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itchFamily="34" charset="0"/>
                <a:ea typeface="+mj-ea"/>
                <a:cs typeface="Segoe UI" pitchFamily="34" charset="0"/>
              </a:defRPr>
            </a:lvl1pPr>
          </a:lstStyle>
          <a:p>
            <a:r>
              <a:rPr lang="en-US" sz="3200"/>
              <a:t>Click to edit Master title style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idx="1"/>
          </p:nvPr>
        </p:nvSpPr>
        <p:spPr>
          <a:xfrm>
            <a:off x="609600" y="990600"/>
            <a:ext cx="10972800" cy="5562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 Click to edit Master text styles</a:t>
            </a:r>
          </a:p>
          <a:p>
            <a:pPr lvl="1"/>
            <a:r>
              <a:rPr lang="en-US"/>
              <a:t> Second level</a:t>
            </a:r>
          </a:p>
          <a:p>
            <a:pPr lvl="2"/>
            <a:r>
              <a:rPr lang="en-US"/>
              <a:t> 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00" y="228601"/>
            <a:ext cx="2133600" cy="484909"/>
          </a:xfrm>
          <a:prstGeom prst="rect">
            <a:avLst/>
          </a:prstGeom>
        </p:spPr>
      </p:pic>
      <p:cxnSp>
        <p:nvCxnSpPr>
          <p:cNvPr id="6" name="Straight Connector 5"/>
          <p:cNvCxnSpPr/>
          <p:nvPr userDrawn="1"/>
        </p:nvCxnSpPr>
        <p:spPr>
          <a:xfrm flipH="1">
            <a:off x="711200" y="835152"/>
            <a:ext cx="10871200" cy="0"/>
          </a:xfrm>
          <a:prstGeom prst="line">
            <a:avLst/>
          </a:prstGeom>
          <a:ln w="38100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73409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336800" y="198438"/>
            <a:ext cx="9448800" cy="487362"/>
          </a:xfrm>
        </p:spPr>
        <p:txBody>
          <a:bodyPr anchor="t">
            <a:normAutofit/>
          </a:bodyPr>
          <a:lstStyle>
            <a:lvl1pPr algn="r">
              <a:defRPr sz="2400" b="0" i="0" baseline="0">
                <a:solidFill>
                  <a:schemeClr val="bg1"/>
                </a:solidFill>
                <a:latin typeface="Segoe UI" pitchFamily="34" charset="0"/>
                <a:ea typeface="Roboto Lt" pitchFamily="2" charset="0"/>
                <a:cs typeface="Segoe UI" pitchFamily="34" charset="0"/>
              </a:defRPr>
            </a:lvl1pPr>
          </a:lstStyle>
          <a:p>
            <a:r>
              <a:rPr lang="en-US" err="1"/>
              <a:t>Tiêu</a:t>
            </a:r>
            <a:r>
              <a:rPr lang="en-US"/>
              <a:t> </a:t>
            </a:r>
            <a:r>
              <a:rPr lang="en-US" err="1"/>
              <a:t>đề</a:t>
            </a:r>
            <a:r>
              <a:rPr lang="en-US"/>
              <a:t> </a:t>
            </a:r>
            <a:r>
              <a:rPr lang="en-US" err="1"/>
              <a:t>Silde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1727200" y="1066800"/>
            <a:ext cx="10363200" cy="457200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2400" b="1" baseline="0">
                <a:latin typeface="Segoe UI" pitchFamily="34" charset="0"/>
                <a:ea typeface="Roboto" pitchFamily="2" charset="0"/>
                <a:cs typeface="Segoe UI" pitchFamily="34" charset="0"/>
              </a:defRPr>
            </a:lvl1pPr>
            <a:lvl2pPr marL="457200" indent="0" algn="just">
              <a:buFontTx/>
              <a:buNone/>
              <a:defRPr sz="1600">
                <a:latin typeface="Roboto Lt" pitchFamily="2" charset="0"/>
                <a:ea typeface="Roboto Lt" pitchFamily="2" charset="0"/>
              </a:defRPr>
            </a:lvl2pPr>
            <a:lvl3pPr algn="just">
              <a:defRPr sz="1600">
                <a:latin typeface="Roboto Lt" pitchFamily="2" charset="0"/>
                <a:ea typeface="Roboto Lt" pitchFamily="2" charset="0"/>
              </a:defRPr>
            </a:lvl3pPr>
            <a:lvl4pPr marL="1600200" indent="-228600" algn="just">
              <a:buFont typeface="Courier New" pitchFamily="49" charset="0"/>
              <a:buChar char="o"/>
              <a:defRPr sz="1600">
                <a:latin typeface="Roboto Lt" pitchFamily="2" charset="0"/>
                <a:ea typeface="Roboto Lt" pitchFamily="2" charset="0"/>
              </a:defRPr>
            </a:lvl4pPr>
            <a:lvl5pPr algn="just">
              <a:defRPr sz="1600">
                <a:latin typeface="Roboto Lt" pitchFamily="2" charset="0"/>
                <a:ea typeface="Roboto Lt" pitchFamily="2" charset="0"/>
              </a:defRPr>
            </a:lvl5pPr>
          </a:lstStyle>
          <a:p>
            <a:pPr lvl="0"/>
            <a:r>
              <a:rPr lang="en-US" err="1"/>
              <a:t>Đề</a:t>
            </a:r>
            <a:r>
              <a:rPr lang="en-US"/>
              <a:t> </a:t>
            </a:r>
            <a:r>
              <a:rPr lang="en-US" err="1"/>
              <a:t>mục</a:t>
            </a:r>
            <a:r>
              <a:rPr lang="en-US"/>
              <a:t> </a:t>
            </a:r>
            <a:r>
              <a:rPr lang="en-US" err="1"/>
              <a:t>lớn</a:t>
            </a:r>
            <a:endParaRPr lang="en-US"/>
          </a:p>
        </p:txBody>
      </p:sp>
      <p:sp>
        <p:nvSpPr>
          <p:cNvPr id="7" name="Content Placeholder 2"/>
          <p:cNvSpPr>
            <a:spLocks noGrp="1"/>
          </p:cNvSpPr>
          <p:nvPr>
            <p:ph idx="13" hasCustomPrompt="1"/>
          </p:nvPr>
        </p:nvSpPr>
        <p:spPr>
          <a:xfrm>
            <a:off x="6604000" y="1828800"/>
            <a:ext cx="5384800" cy="2743200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2400" b="0" baseline="0">
                <a:latin typeface="Segoe UI" pitchFamily="34" charset="0"/>
                <a:ea typeface="Roboto" pitchFamily="2" charset="0"/>
                <a:cs typeface="Segoe UI" pitchFamily="34" charset="0"/>
              </a:defRPr>
            </a:lvl1pPr>
            <a:lvl2pPr marL="457200" indent="0" algn="just">
              <a:buFontTx/>
              <a:buNone/>
              <a:defRPr sz="1600">
                <a:latin typeface="Roboto Lt" pitchFamily="2" charset="0"/>
                <a:ea typeface="Roboto Lt" pitchFamily="2" charset="0"/>
              </a:defRPr>
            </a:lvl2pPr>
            <a:lvl3pPr algn="just">
              <a:defRPr sz="1600">
                <a:latin typeface="Roboto Lt" pitchFamily="2" charset="0"/>
                <a:ea typeface="Roboto Lt" pitchFamily="2" charset="0"/>
              </a:defRPr>
            </a:lvl3pPr>
            <a:lvl4pPr marL="1600200" indent="-228600" algn="just">
              <a:buFont typeface="Courier New" pitchFamily="49" charset="0"/>
              <a:buChar char="o"/>
              <a:defRPr sz="1600">
                <a:latin typeface="Roboto Lt" pitchFamily="2" charset="0"/>
                <a:ea typeface="Roboto Lt" pitchFamily="2" charset="0"/>
              </a:defRPr>
            </a:lvl4pPr>
            <a:lvl5pPr algn="just">
              <a:defRPr sz="1600">
                <a:latin typeface="Roboto Lt" pitchFamily="2" charset="0"/>
                <a:ea typeface="Roboto Lt" pitchFamily="2" charset="0"/>
              </a:defRPr>
            </a:lvl5pPr>
          </a:lstStyle>
          <a:p>
            <a:r>
              <a:rPr lang="en-US" err="1"/>
              <a:t>Nội</a:t>
            </a:r>
            <a:r>
              <a:rPr lang="en-US"/>
              <a:t> dung </a:t>
            </a:r>
            <a:r>
              <a:rPr lang="en-US" err="1"/>
              <a:t>cần</a:t>
            </a:r>
            <a:r>
              <a:rPr lang="en-US"/>
              <a:t> </a:t>
            </a:r>
            <a:r>
              <a:rPr lang="en-US" err="1"/>
              <a:t>viết</a:t>
            </a:r>
            <a:r>
              <a:rPr lang="en-US"/>
              <a:t> …….</a:t>
            </a:r>
          </a:p>
          <a:p>
            <a:r>
              <a:rPr lang="en-US"/>
              <a:t>960, abstract, background, banner, bar, box, business, button, circle, clean,</a:t>
            </a:r>
          </a:p>
          <a:p>
            <a:r>
              <a:rPr lang="en-US" b="1" err="1"/>
              <a:t>Nôi</a:t>
            </a:r>
            <a:r>
              <a:rPr lang="en-US" b="1"/>
              <a:t> dung </a:t>
            </a:r>
            <a:r>
              <a:rPr lang="en-US" b="1" err="1"/>
              <a:t>cần</a:t>
            </a:r>
            <a:r>
              <a:rPr lang="en-US" b="1"/>
              <a:t> </a:t>
            </a:r>
            <a:r>
              <a:rPr lang="en-US" b="1" err="1"/>
              <a:t>nhấn</a:t>
            </a:r>
            <a:r>
              <a:rPr lang="en-US" b="1"/>
              <a:t> </a:t>
            </a:r>
            <a:r>
              <a:rPr lang="en-US" b="1" err="1"/>
              <a:t>mạnh</a:t>
            </a:r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4"/>
          </p:nvPr>
        </p:nvSpPr>
        <p:spPr>
          <a:xfrm>
            <a:off x="-1828800" y="6172201"/>
            <a:ext cx="28448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fld id="{C9454D8F-10CC-4917-9EE3-EC45D591F45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9911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/>
          <p:cNvSpPr>
            <a:spLocks noGrp="1"/>
          </p:cNvSpPr>
          <p:nvPr>
            <p:ph type="title"/>
          </p:nvPr>
        </p:nvSpPr>
        <p:spPr>
          <a:xfrm>
            <a:off x="2946400" y="274638"/>
            <a:ext cx="8636000" cy="56356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idx="1"/>
          </p:nvPr>
        </p:nvSpPr>
        <p:spPr>
          <a:xfrm>
            <a:off x="609600" y="990600"/>
            <a:ext cx="10972800" cy="5562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 Click to edit Master text styles</a:t>
            </a:r>
          </a:p>
          <a:p>
            <a:pPr lvl="1"/>
            <a:r>
              <a:rPr lang="en-US"/>
              <a:t> Second level</a:t>
            </a:r>
          </a:p>
          <a:p>
            <a:pPr lvl="2"/>
            <a:r>
              <a:rPr lang="en-US"/>
              <a:t> 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00" y="228601"/>
            <a:ext cx="2133600" cy="484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13893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4763" y="-4763"/>
            <a:ext cx="12201525" cy="6867525"/>
          </a:xfrm>
          <a:prstGeom prst="rect">
            <a:avLst/>
          </a:prstGeom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0" y="4953000"/>
            <a:ext cx="6705600" cy="990600"/>
          </a:xfrm>
        </p:spPr>
        <p:txBody>
          <a:bodyPr>
            <a:normAutofit/>
          </a:bodyPr>
          <a:lstStyle>
            <a:lvl1pPr marL="0" indent="0" algn="l">
              <a:buNone/>
              <a:defRPr sz="2200" b="1" cap="small" baseline="0">
                <a:solidFill>
                  <a:srgbClr val="FF5A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itchFamily="34" charset="0"/>
                <a:cs typeface="Segoe UI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cxnSp>
        <p:nvCxnSpPr>
          <p:cNvPr id="6" name="Straight Connector 5"/>
          <p:cNvCxnSpPr/>
          <p:nvPr userDrawn="1"/>
        </p:nvCxnSpPr>
        <p:spPr>
          <a:xfrm>
            <a:off x="5583936" y="4953000"/>
            <a:ext cx="6303264" cy="0"/>
          </a:xfrm>
          <a:prstGeom prst="line">
            <a:avLst/>
          </a:prstGeom>
          <a:ln w="3175">
            <a:solidFill>
              <a:srgbClr val="FF5A3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 userDrawn="1"/>
        </p:nvSpPr>
        <p:spPr>
          <a:xfrm>
            <a:off x="1060704" y="2133600"/>
            <a:ext cx="3308096" cy="3048000"/>
          </a:xfrm>
          <a:prstGeom prst="ellipse">
            <a:avLst/>
          </a:prstGeom>
          <a:solidFill>
            <a:schemeClr val="bg1"/>
          </a:solidFill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5" name="Title 4"/>
          <p:cNvSpPr>
            <a:spLocks noGrp="1"/>
          </p:cNvSpPr>
          <p:nvPr>
            <p:ph type="title" hasCustomPrompt="1"/>
          </p:nvPr>
        </p:nvSpPr>
        <p:spPr>
          <a:xfrm>
            <a:off x="5506720" y="4284596"/>
            <a:ext cx="6100064" cy="704980"/>
          </a:xfrm>
        </p:spPr>
        <p:txBody>
          <a:bodyPr>
            <a:normAutofit/>
          </a:bodyPr>
          <a:lstStyle>
            <a:lvl1pPr algn="l">
              <a:defRPr lang="en-US" sz="3400" b="1" kern="1200" cap="small" baseline="0" dirty="0">
                <a:solidFill>
                  <a:srgbClr val="FF5A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</a:lstStyle>
          <a:p>
            <a:r>
              <a:rPr lang="en-US" err="1"/>
              <a:t>Tên</a:t>
            </a:r>
            <a:r>
              <a:rPr lang="en-US"/>
              <a:t> </a:t>
            </a:r>
            <a:r>
              <a:rPr lang="en-US" err="1"/>
              <a:t>môn</a:t>
            </a:r>
            <a:r>
              <a:rPr lang="en-US"/>
              <a:t> </a:t>
            </a:r>
            <a:r>
              <a:rPr lang="en-US" err="1"/>
              <a:t>học</a:t>
            </a:r>
            <a:endParaRPr lang="en-US"/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0" hasCustomPrompt="1"/>
          </p:nvPr>
        </p:nvSpPr>
        <p:spPr>
          <a:xfrm>
            <a:off x="1016000" y="2743200"/>
            <a:ext cx="3352800" cy="18288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Logo</a:t>
            </a:r>
          </a:p>
        </p:txBody>
      </p:sp>
    </p:spTree>
    <p:extLst>
      <p:ext uri="{BB962C8B-B14F-4D97-AF65-F5344CB8AC3E}">
        <p14:creationId xmlns:p14="http://schemas.microsoft.com/office/powerpoint/2010/main" val="27276506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5202" y="274638"/>
            <a:ext cx="9347198" cy="487362"/>
          </a:xfrm>
        </p:spPr>
        <p:txBody>
          <a:bodyPr>
            <a:noAutofit/>
          </a:bodyPr>
          <a:lstStyle>
            <a:lvl1pPr algn="r">
              <a:defRPr sz="2800" b="1" cap="small" baseline="0">
                <a:solidFill>
                  <a:srgbClr val="FF5A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itchFamily="34" charset="0"/>
                <a:cs typeface="Segoe UI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066800"/>
            <a:ext cx="10972800" cy="5257800"/>
          </a:xfrm>
        </p:spPr>
        <p:txBody>
          <a:bodyPr>
            <a:normAutofit/>
          </a:bodyPr>
          <a:lstStyle>
            <a:lvl1pPr marL="342900" indent="-342900">
              <a:buClr>
                <a:srgbClr val="FF5A33"/>
              </a:buClr>
              <a:buFont typeface="Wingdings" pitchFamily="2" charset="2"/>
              <a:buChar char="q"/>
              <a:defRPr sz="2800">
                <a:latin typeface="Segoe UI" pitchFamily="34" charset="0"/>
                <a:cs typeface="Segoe UI" pitchFamily="34" charset="0"/>
              </a:defRPr>
            </a:lvl1pPr>
            <a:lvl2pPr marL="742950" indent="-285750">
              <a:buClr>
                <a:srgbClr val="FF5A33"/>
              </a:buClr>
              <a:buFont typeface="Wingdings" pitchFamily="2" charset="2"/>
              <a:buChar char="v"/>
              <a:defRPr sz="2400">
                <a:latin typeface="Segoe UI" pitchFamily="34" charset="0"/>
                <a:cs typeface="Segoe UI" pitchFamily="34" charset="0"/>
              </a:defRPr>
            </a:lvl2pPr>
            <a:lvl3pPr marL="1143000" indent="-228600">
              <a:buClr>
                <a:srgbClr val="FF5A33"/>
              </a:buClr>
              <a:buFont typeface="Wingdings" pitchFamily="2" charset="2"/>
              <a:buChar char="Ø"/>
              <a:defRPr sz="2000">
                <a:latin typeface="Segoe UI" pitchFamily="34" charset="0"/>
                <a:cs typeface="Segoe UI" pitchFamily="34" charset="0"/>
              </a:defRPr>
            </a:lvl3pPr>
            <a:lvl4pPr marL="1600200" indent="-228600">
              <a:buClr>
                <a:srgbClr val="FF5A33"/>
              </a:buClr>
              <a:buFont typeface="Wingdings" pitchFamily="2" charset="2"/>
              <a:buChar char="ü"/>
              <a:defRPr sz="1800">
                <a:latin typeface="Segoe UI" pitchFamily="34" charset="0"/>
                <a:cs typeface="Segoe UI" pitchFamily="34" charset="0"/>
              </a:defRPr>
            </a:lvl4pPr>
            <a:lvl5pPr marL="2057400" indent="-228600">
              <a:buClr>
                <a:srgbClr val="FF5A33"/>
              </a:buClr>
              <a:buFont typeface="Wingdings" pitchFamily="2" charset="2"/>
              <a:buChar char="§"/>
              <a:defRPr sz="1800">
                <a:latin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DD2193-23DB-41F7-8BF6-4C300FD984A6}" type="datetime1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&lt;&lt;Tên Dự Án&gt;&gt;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 userDrawn="1"/>
        </p:nvCxnSpPr>
        <p:spPr>
          <a:xfrm>
            <a:off x="609600" y="838200"/>
            <a:ext cx="10972800" cy="0"/>
          </a:xfrm>
          <a:prstGeom prst="line">
            <a:avLst/>
          </a:prstGeom>
          <a:ln w="38100">
            <a:solidFill>
              <a:srgbClr val="FF99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56573"/>
            <a:ext cx="1625602" cy="713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32275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87700-9881-4068-A618-B0854BF98A29}" type="datetime1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&lt;&lt;Tên Dự Án&gt;&gt;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60260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50C555-A095-4004-896C-F93A2C2FFF74}" type="datetime1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&lt;&lt;Tên Dự Án&gt;&gt;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1511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A4AA7-F24F-4C86-A294-9EEE76562DCF}" type="datetime1">
              <a:rPr lang="en-US" smtClean="0"/>
              <a:t>12/1/2025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&lt;&lt;Tên Dự Án&gt;&gt;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80497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7D2F3-C4A3-4E01-A15B-F44AEB66B5E3}" type="datetime1">
              <a:rPr lang="en-US" smtClean="0"/>
              <a:t>12/1/2025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&lt;&lt;Tên Dự Án&gt;&gt;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/>
          <p:cNvSpPr/>
          <p:nvPr userDrawn="1"/>
        </p:nvSpPr>
        <p:spPr>
          <a:xfrm>
            <a:off x="2032000" y="2551018"/>
            <a:ext cx="8534400" cy="326475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>
              <a:solidFill>
                <a:schemeClr val="bg1"/>
              </a:solidFill>
            </a:endParaRPr>
          </a:p>
        </p:txBody>
      </p:sp>
      <p:pic>
        <p:nvPicPr>
          <p:cNvPr id="8" name="Picture 2" descr="http://uconndigitalarts.com/wp-content/uploads/2013/04/original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3958" r="96146">
                        <a14:backgroundMark x1="16667" y1="54630" x2="86042" y2="55185"/>
                        <a14:backgroundMark x1="90625" y1="53889" x2="93125" y2="5388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43978" b="41311"/>
          <a:stretch/>
        </p:blipFill>
        <p:spPr bwMode="auto">
          <a:xfrm flipH="1">
            <a:off x="3732707" y="2575401"/>
            <a:ext cx="4568091" cy="2838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C:\Users\powerpoint.vn\Downloads\1e2cd4b177168ad16ce2e7c504bba4d2.x400.jpeg"/>
          <p:cNvPicPr>
            <a:picLocks noChangeAspect="1" noChangeArrowheads="1"/>
          </p:cNvPicPr>
          <p:nvPr userDrawn="1"/>
        </p:nvPicPr>
        <p:blipFill rotWithShape="1"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750" b="81000" l="9971" r="89736">
                        <a14:backgroundMark x1="33724" y1="42750" x2="69208" y2="55250"/>
                        <a14:backgroundMark x1="25806" y1="33250" x2="25806" y2="37500"/>
                        <a14:backgroundMark x1="26100" y1="32250" x2="26100" y2="32250"/>
                        <a14:backgroundMark x1="70674" y1="35750" x2="70674" y2="35750"/>
                        <a14:backgroundMark x1="76246" y1="31250" x2="76246" y2="31250"/>
                        <a14:backgroundMark x1="70968" y1="34750" x2="70968" y2="3475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5710"/>
          <a:stretch/>
        </p:blipFill>
        <p:spPr bwMode="auto">
          <a:xfrm>
            <a:off x="2568620" y="609600"/>
            <a:ext cx="7257961" cy="2828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/>
          <p:cNvSpPr txBox="1"/>
          <p:nvPr userDrawn="1"/>
        </p:nvSpPr>
        <p:spPr>
          <a:xfrm>
            <a:off x="4103893" y="3124200"/>
            <a:ext cx="4735308" cy="21390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200" b="1">
                <a:solidFill>
                  <a:schemeClr val="bg1"/>
                </a:solidFill>
              </a:rPr>
              <a:t>DEM</a:t>
            </a:r>
            <a:r>
              <a:rPr lang="en-US" sz="11500" b="1">
                <a:solidFill>
                  <a:schemeClr val="bg1"/>
                </a:solidFill>
              </a:rPr>
              <a:t>O</a:t>
            </a:r>
          </a:p>
          <a:p>
            <a:endParaRPr lang="en-US" sz="1800"/>
          </a:p>
        </p:txBody>
      </p:sp>
      <p:pic>
        <p:nvPicPr>
          <p:cNvPr id="10" name="Picture 2" descr="http://www.designofsignage.com/application/symbol/hands/image/600x600/hand-press-button-4.jpg"/>
          <p:cNvPicPr>
            <a:picLocks noChangeAspect="1" noChangeArrowheads="1"/>
          </p:cNvPicPr>
          <p:nvPr userDrawn="1"/>
        </p:nvPicPr>
        <p:blipFill>
          <a:blip r:embed="rId6" cstate="print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9500" l="10000" r="90000">
                        <a14:foregroundMark x1="35833" y1="26500" x2="41500" y2="85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6752" y="3568725"/>
            <a:ext cx="3488947" cy="2616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691073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2678A5-AC0E-46A7-AB93-36A408E5A84E}" type="datetime1">
              <a:rPr lang="en-US" smtClean="0"/>
              <a:t>12/1/2025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&lt;&lt;Tên Dự Án&gt;&gt;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44852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52A17-2609-472D-A24A-46A4009C4779}" type="datetime1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&lt;&lt;Tên Dự Án&gt;&gt;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4427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AB35A-6815-4F8C-BA27-6EA423ADD2B6}" type="datetime1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&lt;&lt;Tên Dự Án&gt;&gt;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52412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AB1452-B787-4BDA-8B46-09E07DDAE836}" type="datetime1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&lt;&lt;Tên Dự Án&gt;&gt;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37459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75263F-335F-4E4F-89FF-FFC4C60B48BD}" type="datetime1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&lt;&lt;Tên Dự Án&gt;&gt;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41142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&amp;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itle Placeholder 1"/>
          <p:cNvSpPr txBox="1">
            <a:spLocks/>
          </p:cNvSpPr>
          <p:nvPr userDrawn="1"/>
        </p:nvSpPr>
        <p:spPr>
          <a:xfrm>
            <a:off x="2946400" y="274638"/>
            <a:ext cx="8636000" cy="56356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 defTabSz="914400" rtl="0" eaLnBrk="1" latinLnBrk="0" hangingPunct="1">
              <a:spcBef>
                <a:spcPct val="0"/>
              </a:spcBef>
              <a:buNone/>
              <a:defRPr sz="3200" b="1" kern="1200" cap="small" baseline="0">
                <a:solidFill>
                  <a:srgbClr val="FF99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itchFamily="34" charset="0"/>
                <a:ea typeface="+mj-ea"/>
                <a:cs typeface="Segoe UI" pitchFamily="34" charset="0"/>
              </a:defRPr>
            </a:lvl1pPr>
          </a:lstStyle>
          <a:p>
            <a:r>
              <a:rPr lang="en-US" sz="3200"/>
              <a:t>Click to edit Master title style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idx="1"/>
          </p:nvPr>
        </p:nvSpPr>
        <p:spPr>
          <a:xfrm>
            <a:off x="609600" y="990600"/>
            <a:ext cx="10972800" cy="5562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 Click to edit Master text styles</a:t>
            </a:r>
          </a:p>
          <a:p>
            <a:pPr lvl="1"/>
            <a:r>
              <a:rPr lang="en-US"/>
              <a:t> Second level</a:t>
            </a:r>
          </a:p>
          <a:p>
            <a:pPr lvl="2"/>
            <a:r>
              <a:rPr lang="en-US"/>
              <a:t> 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00" y="228601"/>
            <a:ext cx="2133600" cy="484909"/>
          </a:xfrm>
          <a:prstGeom prst="rect">
            <a:avLst/>
          </a:prstGeom>
        </p:spPr>
      </p:pic>
      <p:cxnSp>
        <p:nvCxnSpPr>
          <p:cNvPr id="6" name="Straight Connector 5"/>
          <p:cNvCxnSpPr/>
          <p:nvPr userDrawn="1"/>
        </p:nvCxnSpPr>
        <p:spPr>
          <a:xfrm flipH="1">
            <a:off x="711200" y="835152"/>
            <a:ext cx="10871200" cy="0"/>
          </a:xfrm>
          <a:prstGeom prst="line">
            <a:avLst/>
          </a:prstGeom>
          <a:ln w="38100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672142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336800" y="198438"/>
            <a:ext cx="9448800" cy="487362"/>
          </a:xfrm>
        </p:spPr>
        <p:txBody>
          <a:bodyPr anchor="t">
            <a:normAutofit/>
          </a:bodyPr>
          <a:lstStyle>
            <a:lvl1pPr algn="r">
              <a:defRPr sz="2400" b="0" i="0" baseline="0">
                <a:solidFill>
                  <a:schemeClr val="bg1"/>
                </a:solidFill>
                <a:latin typeface="Segoe UI" pitchFamily="34" charset="0"/>
                <a:ea typeface="Roboto Lt" pitchFamily="2" charset="0"/>
                <a:cs typeface="Segoe UI" pitchFamily="34" charset="0"/>
              </a:defRPr>
            </a:lvl1pPr>
          </a:lstStyle>
          <a:p>
            <a:r>
              <a:rPr lang="en-US" err="1"/>
              <a:t>Tiêu</a:t>
            </a:r>
            <a:r>
              <a:rPr lang="en-US"/>
              <a:t> </a:t>
            </a:r>
            <a:r>
              <a:rPr lang="en-US" err="1"/>
              <a:t>đề</a:t>
            </a:r>
            <a:r>
              <a:rPr lang="en-US"/>
              <a:t> </a:t>
            </a:r>
            <a:r>
              <a:rPr lang="en-US" err="1"/>
              <a:t>Silde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1727200" y="1066800"/>
            <a:ext cx="10363200" cy="457200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2400" b="1" baseline="0">
                <a:latin typeface="Segoe UI" pitchFamily="34" charset="0"/>
                <a:ea typeface="Roboto" pitchFamily="2" charset="0"/>
                <a:cs typeface="Segoe UI" pitchFamily="34" charset="0"/>
              </a:defRPr>
            </a:lvl1pPr>
            <a:lvl2pPr marL="457200" indent="0" algn="just">
              <a:buFontTx/>
              <a:buNone/>
              <a:defRPr sz="1600">
                <a:latin typeface="Roboto Lt" pitchFamily="2" charset="0"/>
                <a:ea typeface="Roboto Lt" pitchFamily="2" charset="0"/>
              </a:defRPr>
            </a:lvl2pPr>
            <a:lvl3pPr algn="just">
              <a:defRPr sz="1600">
                <a:latin typeface="Roboto Lt" pitchFamily="2" charset="0"/>
                <a:ea typeface="Roboto Lt" pitchFamily="2" charset="0"/>
              </a:defRPr>
            </a:lvl3pPr>
            <a:lvl4pPr marL="1600200" indent="-228600" algn="just">
              <a:buFont typeface="Courier New" pitchFamily="49" charset="0"/>
              <a:buChar char="o"/>
              <a:defRPr sz="1600">
                <a:latin typeface="Roboto Lt" pitchFamily="2" charset="0"/>
                <a:ea typeface="Roboto Lt" pitchFamily="2" charset="0"/>
              </a:defRPr>
            </a:lvl4pPr>
            <a:lvl5pPr algn="just">
              <a:defRPr sz="1600">
                <a:latin typeface="Roboto Lt" pitchFamily="2" charset="0"/>
                <a:ea typeface="Roboto Lt" pitchFamily="2" charset="0"/>
              </a:defRPr>
            </a:lvl5pPr>
          </a:lstStyle>
          <a:p>
            <a:pPr lvl="0"/>
            <a:r>
              <a:rPr lang="en-US" err="1"/>
              <a:t>Đề</a:t>
            </a:r>
            <a:r>
              <a:rPr lang="en-US"/>
              <a:t> </a:t>
            </a:r>
            <a:r>
              <a:rPr lang="en-US" err="1"/>
              <a:t>mục</a:t>
            </a:r>
            <a:r>
              <a:rPr lang="en-US"/>
              <a:t> </a:t>
            </a:r>
            <a:r>
              <a:rPr lang="en-US" err="1"/>
              <a:t>lớn</a:t>
            </a:r>
            <a:endParaRPr lang="en-US"/>
          </a:p>
        </p:txBody>
      </p:sp>
      <p:sp>
        <p:nvSpPr>
          <p:cNvPr id="7" name="Content Placeholder 2"/>
          <p:cNvSpPr>
            <a:spLocks noGrp="1"/>
          </p:cNvSpPr>
          <p:nvPr>
            <p:ph idx="13" hasCustomPrompt="1"/>
          </p:nvPr>
        </p:nvSpPr>
        <p:spPr>
          <a:xfrm>
            <a:off x="6604000" y="1828800"/>
            <a:ext cx="5384800" cy="2743200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2400" b="0" baseline="0">
                <a:latin typeface="Segoe UI" pitchFamily="34" charset="0"/>
                <a:ea typeface="Roboto" pitchFamily="2" charset="0"/>
                <a:cs typeface="Segoe UI" pitchFamily="34" charset="0"/>
              </a:defRPr>
            </a:lvl1pPr>
            <a:lvl2pPr marL="457200" indent="0" algn="just">
              <a:buFontTx/>
              <a:buNone/>
              <a:defRPr sz="1600">
                <a:latin typeface="Roboto Lt" pitchFamily="2" charset="0"/>
                <a:ea typeface="Roboto Lt" pitchFamily="2" charset="0"/>
              </a:defRPr>
            </a:lvl2pPr>
            <a:lvl3pPr algn="just">
              <a:defRPr sz="1600">
                <a:latin typeface="Roboto Lt" pitchFamily="2" charset="0"/>
                <a:ea typeface="Roboto Lt" pitchFamily="2" charset="0"/>
              </a:defRPr>
            </a:lvl3pPr>
            <a:lvl4pPr marL="1600200" indent="-228600" algn="just">
              <a:buFont typeface="Courier New" pitchFamily="49" charset="0"/>
              <a:buChar char="o"/>
              <a:defRPr sz="1600">
                <a:latin typeface="Roboto Lt" pitchFamily="2" charset="0"/>
                <a:ea typeface="Roboto Lt" pitchFamily="2" charset="0"/>
              </a:defRPr>
            </a:lvl4pPr>
            <a:lvl5pPr algn="just">
              <a:defRPr sz="1600">
                <a:latin typeface="Roboto Lt" pitchFamily="2" charset="0"/>
                <a:ea typeface="Roboto Lt" pitchFamily="2" charset="0"/>
              </a:defRPr>
            </a:lvl5pPr>
          </a:lstStyle>
          <a:p>
            <a:r>
              <a:rPr lang="en-US" err="1"/>
              <a:t>Nội</a:t>
            </a:r>
            <a:r>
              <a:rPr lang="en-US"/>
              <a:t> dung </a:t>
            </a:r>
            <a:r>
              <a:rPr lang="en-US" err="1"/>
              <a:t>cần</a:t>
            </a:r>
            <a:r>
              <a:rPr lang="en-US"/>
              <a:t> </a:t>
            </a:r>
            <a:r>
              <a:rPr lang="en-US" err="1"/>
              <a:t>viết</a:t>
            </a:r>
            <a:r>
              <a:rPr lang="en-US"/>
              <a:t> …….</a:t>
            </a:r>
          </a:p>
          <a:p>
            <a:r>
              <a:rPr lang="en-US"/>
              <a:t>960, abstract, background, banner, bar, box, business, button, circle, clean,</a:t>
            </a:r>
          </a:p>
          <a:p>
            <a:r>
              <a:rPr lang="en-US" b="1" err="1"/>
              <a:t>Nôi</a:t>
            </a:r>
            <a:r>
              <a:rPr lang="en-US" b="1"/>
              <a:t> dung </a:t>
            </a:r>
            <a:r>
              <a:rPr lang="en-US" b="1" err="1"/>
              <a:t>cần</a:t>
            </a:r>
            <a:r>
              <a:rPr lang="en-US" b="1"/>
              <a:t> </a:t>
            </a:r>
            <a:r>
              <a:rPr lang="en-US" b="1" err="1"/>
              <a:t>nhấn</a:t>
            </a:r>
            <a:r>
              <a:rPr lang="en-US" b="1"/>
              <a:t> </a:t>
            </a:r>
            <a:r>
              <a:rPr lang="en-US" b="1" err="1"/>
              <a:t>mạnh</a:t>
            </a:r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4"/>
          </p:nvPr>
        </p:nvSpPr>
        <p:spPr>
          <a:xfrm>
            <a:off x="-1828800" y="6172201"/>
            <a:ext cx="28448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fld id="{C9454D8F-10CC-4917-9EE3-EC45D591F45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57225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/>
          <p:cNvSpPr>
            <a:spLocks noGrp="1"/>
          </p:cNvSpPr>
          <p:nvPr>
            <p:ph type="title"/>
          </p:nvPr>
        </p:nvSpPr>
        <p:spPr>
          <a:xfrm>
            <a:off x="2946400" y="274638"/>
            <a:ext cx="8636000" cy="56356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idx="1"/>
          </p:nvPr>
        </p:nvSpPr>
        <p:spPr>
          <a:xfrm>
            <a:off x="609600" y="990600"/>
            <a:ext cx="10972800" cy="5562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 Click to edit Master text styles</a:t>
            </a:r>
          </a:p>
          <a:p>
            <a:pPr lvl="1"/>
            <a:r>
              <a:rPr lang="en-US"/>
              <a:t> Second level</a:t>
            </a:r>
          </a:p>
          <a:p>
            <a:pPr lvl="2"/>
            <a:r>
              <a:rPr lang="en-US"/>
              <a:t> 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00" y="228601"/>
            <a:ext cx="2133600" cy="484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98071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658" y="228600"/>
            <a:ext cx="11315700" cy="3467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11200" y="2130426"/>
            <a:ext cx="10363200" cy="14700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Tahoma" pitchFamily="34" charset="0"/>
                <a:cs typeface="Tahoma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accent2">
                    <a:lumMod val="75000"/>
                  </a:schemeClr>
                </a:solidFill>
                <a:latin typeface="Tahoma" pitchFamily="34" charset="0"/>
                <a:cs typeface="Tahoma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7" name="Picture 6" descr="LOGO FPT POLYTECHNIC.jpg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66558"/>
            <a:ext cx="4978400" cy="1214039"/>
          </a:xfrm>
          <a:prstGeom prst="rect">
            <a:avLst/>
          </a:prstGeom>
        </p:spPr>
      </p:pic>
      <p:pic>
        <p:nvPicPr>
          <p:cNvPr id="1027" name="Picture 3"/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1858" y="5791200"/>
            <a:ext cx="10604500" cy="79785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8988638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6" descr="logo.png"/>
          <p:cNvPicPr>
            <a:picLocks noChangeAspect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-304800"/>
            <a:ext cx="12192000" cy="2057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5" name="Straight Connector 4"/>
          <p:cNvCxnSpPr/>
          <p:nvPr userDrawn="1"/>
        </p:nvCxnSpPr>
        <p:spPr>
          <a:xfrm>
            <a:off x="609600" y="6324600"/>
            <a:ext cx="1097280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FontTx/>
              <a:buBlip>
                <a:blip r:embed="rId3"/>
              </a:buBlip>
              <a:defRPr>
                <a:solidFill>
                  <a:schemeClr val="accent2">
                    <a:lumMod val="75000"/>
                  </a:schemeClr>
                </a:solidFill>
                <a:latin typeface="Tahoma" pitchFamily="34" charset="0"/>
                <a:cs typeface="Tahoma" pitchFamily="34" charset="0"/>
              </a:defRPr>
            </a:lvl1pPr>
            <a:lvl2pPr>
              <a:buFontTx/>
              <a:buBlip>
                <a:blip r:embed="rId4"/>
              </a:buBlip>
              <a:defRPr>
                <a:solidFill>
                  <a:schemeClr val="tx1"/>
                </a:solidFill>
                <a:latin typeface="Tahoma" pitchFamily="34" charset="0"/>
                <a:cs typeface="Tahoma" pitchFamily="34" charset="0"/>
              </a:defRPr>
            </a:lvl2pPr>
            <a:lvl3pPr>
              <a:buFontTx/>
              <a:buBlip>
                <a:blip r:embed="rId5"/>
              </a:buBlip>
              <a:defRPr>
                <a:solidFill>
                  <a:schemeClr val="tx1"/>
                </a:solidFill>
                <a:latin typeface="Tahoma" pitchFamily="34" charset="0"/>
                <a:cs typeface="Tahoma" pitchFamily="34" charset="0"/>
              </a:defRPr>
            </a:lvl3pPr>
            <a:lvl4pPr>
              <a:defRPr>
                <a:solidFill>
                  <a:schemeClr val="tx1"/>
                </a:solidFill>
                <a:latin typeface="Tahoma" pitchFamily="34" charset="0"/>
                <a:cs typeface="Tahoma" pitchFamily="34" charset="0"/>
              </a:defRPr>
            </a:lvl4pPr>
            <a:lvl5pPr>
              <a:defRPr>
                <a:solidFill>
                  <a:schemeClr val="tx1"/>
                </a:solidFill>
                <a:latin typeface="Tahoma" pitchFamily="34" charset="0"/>
                <a:cs typeface="Tahoma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609600" y="152400"/>
            <a:ext cx="10972800" cy="1143000"/>
          </a:xfrm>
        </p:spPr>
        <p:txBody>
          <a:bodyPr/>
          <a:lstStyle>
            <a:lvl1pPr algn="r">
              <a:defRPr b="1">
                <a:solidFill>
                  <a:srgbClr val="0070C0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0"/>
          </p:nvPr>
        </p:nvSpPr>
        <p:spPr>
          <a:xfrm>
            <a:off x="609600" y="6340476"/>
            <a:ext cx="8128000" cy="365125"/>
          </a:xfrm>
        </p:spPr>
        <p:txBody>
          <a:bodyPr/>
          <a:lstStyle>
            <a:lvl1pPr algn="l">
              <a:defRPr dirty="0">
                <a:latin typeface="Tahoma" pitchFamily="34" charset="0"/>
                <a:cs typeface="Tahoma" pitchFamily="34" charset="0"/>
              </a:defRPr>
            </a:lvl1pPr>
          </a:lstStyle>
          <a:p>
            <a:pPr>
              <a:defRPr/>
            </a:pPr>
            <a:r>
              <a:rPr lang="en-US"/>
              <a:t>&lt;&lt;Tên Dự Án&gt;&gt;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839200" y="6356351"/>
            <a:ext cx="2844800" cy="365125"/>
          </a:xfrm>
        </p:spPr>
        <p:txBody>
          <a:bodyPr/>
          <a:lstStyle>
            <a:lvl1pPr>
              <a:defRPr>
                <a:latin typeface="Tahoma" pitchFamily="34" charset="0"/>
                <a:cs typeface="Tahoma" pitchFamily="34" charset="0"/>
              </a:defRPr>
            </a:lvl1pPr>
          </a:lstStyle>
          <a:p>
            <a:pPr>
              <a:defRPr/>
            </a:pPr>
            <a:fld id="{38F81FAE-D748-4BFC-A8B0-D2E750E8899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pic>
        <p:nvPicPr>
          <p:cNvPr id="9" name="Picture 8" descr="LOGO FPT POLYTECHNIC.jpg"/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304800" y="228601"/>
            <a:ext cx="2812253" cy="68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51284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6" descr="logo.png"/>
          <p:cNvPicPr>
            <a:picLocks noChangeAspect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-304800"/>
            <a:ext cx="12192000" cy="2057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5" name="Straight Connector 4"/>
          <p:cNvCxnSpPr/>
          <p:nvPr userDrawn="1"/>
        </p:nvCxnSpPr>
        <p:spPr>
          <a:xfrm>
            <a:off x="609600" y="6324600"/>
            <a:ext cx="1097280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52400"/>
            <a:ext cx="10972800" cy="1143000"/>
          </a:xfrm>
        </p:spPr>
        <p:txBody>
          <a:bodyPr/>
          <a:lstStyle>
            <a:lvl1pPr algn="r">
              <a:defRPr b="1" i="0">
                <a:solidFill>
                  <a:srgbClr val="0070C0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accent2">
                    <a:lumMod val="75000"/>
                  </a:schemeClr>
                </a:solidFill>
                <a:latin typeface="Tahoma" pitchFamily="34" charset="0"/>
                <a:cs typeface="Tahoma" pitchFamily="34" charset="0"/>
              </a:defRPr>
            </a:lvl1pPr>
            <a:lvl2pPr>
              <a:defRPr>
                <a:solidFill>
                  <a:schemeClr val="tx1"/>
                </a:solidFill>
                <a:latin typeface="Tahoma" pitchFamily="34" charset="0"/>
                <a:cs typeface="Tahoma" pitchFamily="34" charset="0"/>
              </a:defRPr>
            </a:lvl2pPr>
            <a:lvl3pPr>
              <a:defRPr>
                <a:solidFill>
                  <a:schemeClr val="tx1"/>
                </a:solidFill>
                <a:latin typeface="Tahoma" pitchFamily="34" charset="0"/>
                <a:cs typeface="Tahoma" pitchFamily="34" charset="0"/>
              </a:defRPr>
            </a:lvl3pPr>
            <a:lvl4pPr>
              <a:defRPr>
                <a:solidFill>
                  <a:schemeClr val="tx1"/>
                </a:solidFill>
                <a:latin typeface="Tahoma" pitchFamily="34" charset="0"/>
                <a:cs typeface="Tahoma" pitchFamily="34" charset="0"/>
              </a:defRPr>
            </a:lvl4pPr>
            <a:lvl5pPr>
              <a:defRPr>
                <a:solidFill>
                  <a:schemeClr val="tx1"/>
                </a:solidFill>
                <a:latin typeface="Tahoma" pitchFamily="34" charset="0"/>
                <a:cs typeface="Tahoma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0"/>
          </p:nvPr>
        </p:nvSpPr>
        <p:spPr>
          <a:xfrm>
            <a:off x="609600" y="6340476"/>
            <a:ext cx="8128000" cy="365125"/>
          </a:xfrm>
        </p:spPr>
        <p:txBody>
          <a:bodyPr/>
          <a:lstStyle>
            <a:lvl1pPr algn="l">
              <a:defRPr>
                <a:latin typeface="Tahoma" pitchFamily="34" charset="0"/>
                <a:cs typeface="Tahoma" pitchFamily="34" charset="0"/>
              </a:defRPr>
            </a:lvl1pPr>
          </a:lstStyle>
          <a:p>
            <a:pPr>
              <a:defRPr/>
            </a:pPr>
            <a:r>
              <a:rPr lang="en-US"/>
              <a:t>&lt;&lt;Tên Dự Án&gt;&gt;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839200" y="6356351"/>
            <a:ext cx="2844800" cy="365125"/>
          </a:xfrm>
        </p:spPr>
        <p:txBody>
          <a:bodyPr/>
          <a:lstStyle>
            <a:lvl1pPr>
              <a:defRPr>
                <a:latin typeface="Tahoma" pitchFamily="34" charset="0"/>
                <a:cs typeface="Tahoma" pitchFamily="34" charset="0"/>
              </a:defRPr>
            </a:lvl1pPr>
          </a:lstStyle>
          <a:p>
            <a:pPr>
              <a:defRPr/>
            </a:pPr>
            <a:fld id="{0269FD7F-F1B9-4EBE-8876-2DA927AD43E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pic>
        <p:nvPicPr>
          <p:cNvPr id="8" name="Picture 7" descr="LOGO FPT POLYTECHNIC.jpg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04800" y="228601"/>
            <a:ext cx="2812253" cy="68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68984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6" descr="logo.png"/>
          <p:cNvPicPr>
            <a:picLocks noChangeAspect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-304800"/>
            <a:ext cx="12192000" cy="2057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5" name="Straight Connector 4"/>
          <p:cNvCxnSpPr/>
          <p:nvPr userDrawn="1"/>
        </p:nvCxnSpPr>
        <p:spPr>
          <a:xfrm>
            <a:off x="609600" y="6324600"/>
            <a:ext cx="1097280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52400"/>
            <a:ext cx="10972800" cy="1143000"/>
          </a:xfrm>
        </p:spPr>
        <p:txBody>
          <a:bodyPr/>
          <a:lstStyle>
            <a:lvl1pPr algn="r">
              <a:defRPr b="1">
                <a:solidFill>
                  <a:srgbClr val="0070C0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accent2">
                    <a:lumMod val="75000"/>
                  </a:schemeClr>
                </a:solidFill>
                <a:latin typeface="Tahoma" pitchFamily="34" charset="0"/>
                <a:cs typeface="Tahoma" pitchFamily="34" charset="0"/>
              </a:defRPr>
            </a:lvl1pPr>
            <a:lvl2pPr>
              <a:defRPr>
                <a:solidFill>
                  <a:schemeClr val="tx1"/>
                </a:solidFill>
                <a:latin typeface="Tahoma" pitchFamily="34" charset="0"/>
                <a:cs typeface="Tahoma" pitchFamily="34" charset="0"/>
              </a:defRPr>
            </a:lvl2pPr>
            <a:lvl3pPr>
              <a:defRPr>
                <a:solidFill>
                  <a:schemeClr val="tx1"/>
                </a:solidFill>
                <a:latin typeface="Tahoma" pitchFamily="34" charset="0"/>
                <a:cs typeface="Tahoma" pitchFamily="34" charset="0"/>
              </a:defRPr>
            </a:lvl3pPr>
            <a:lvl4pPr>
              <a:defRPr>
                <a:solidFill>
                  <a:schemeClr val="tx1"/>
                </a:solidFill>
                <a:latin typeface="Tahoma" pitchFamily="34" charset="0"/>
                <a:cs typeface="Tahoma" pitchFamily="34" charset="0"/>
              </a:defRPr>
            </a:lvl4pPr>
            <a:lvl5pPr>
              <a:defRPr>
                <a:solidFill>
                  <a:schemeClr val="tx1"/>
                </a:solidFill>
                <a:latin typeface="Tahoma" pitchFamily="34" charset="0"/>
                <a:cs typeface="Tahoma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0"/>
          </p:nvPr>
        </p:nvSpPr>
        <p:spPr>
          <a:xfrm>
            <a:off x="609600" y="6340476"/>
            <a:ext cx="8128000" cy="365125"/>
          </a:xfrm>
        </p:spPr>
        <p:txBody>
          <a:bodyPr/>
          <a:lstStyle>
            <a:lvl1pPr algn="l">
              <a:defRPr>
                <a:latin typeface="Tahoma" pitchFamily="34" charset="0"/>
                <a:cs typeface="Tahoma" pitchFamily="34" charset="0"/>
              </a:defRPr>
            </a:lvl1pPr>
          </a:lstStyle>
          <a:p>
            <a:pPr>
              <a:defRPr/>
            </a:pPr>
            <a:r>
              <a:rPr lang="en-US"/>
              <a:t>&lt;&lt;Tên Dự Án&gt;&gt;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839200" y="6356351"/>
            <a:ext cx="2844800" cy="365125"/>
          </a:xfrm>
        </p:spPr>
        <p:txBody>
          <a:bodyPr/>
          <a:lstStyle>
            <a:lvl1pPr>
              <a:defRPr>
                <a:latin typeface="Tahoma" pitchFamily="34" charset="0"/>
                <a:cs typeface="Tahoma" pitchFamily="34" charset="0"/>
              </a:defRPr>
            </a:lvl1pPr>
          </a:lstStyle>
          <a:p>
            <a:pPr>
              <a:defRPr/>
            </a:pPr>
            <a:fld id="{ACBE273D-A5B0-43E9-B55F-D261AD9B2B4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pic>
        <p:nvPicPr>
          <p:cNvPr id="8" name="Picture 7" descr="LOGO FPT POLYTECHNIC.jpg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04800" y="228601"/>
            <a:ext cx="2812253" cy="68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50508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6" descr="logo.png"/>
          <p:cNvPicPr>
            <a:picLocks noChangeAspect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-304800"/>
            <a:ext cx="12192000" cy="2057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6" name="Straight Connector 5"/>
          <p:cNvCxnSpPr/>
          <p:nvPr userDrawn="1"/>
        </p:nvCxnSpPr>
        <p:spPr>
          <a:xfrm>
            <a:off x="609600" y="6324600"/>
            <a:ext cx="1097280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52400"/>
            <a:ext cx="10972800" cy="1143000"/>
          </a:xfrm>
        </p:spPr>
        <p:txBody>
          <a:bodyPr/>
          <a:lstStyle>
            <a:lvl1pPr algn="r">
              <a:defRPr b="1">
                <a:solidFill>
                  <a:srgbClr val="0070C0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>
                <a:solidFill>
                  <a:schemeClr val="accent2">
                    <a:lumMod val="75000"/>
                  </a:schemeClr>
                </a:solidFill>
                <a:latin typeface="Tahoma" pitchFamily="34" charset="0"/>
                <a:cs typeface="Tahoma" pitchFamily="34" charset="0"/>
              </a:defRPr>
            </a:lvl1pPr>
            <a:lvl2pPr>
              <a:defRPr sz="2400">
                <a:solidFill>
                  <a:schemeClr val="tx1"/>
                </a:solidFill>
                <a:latin typeface="Tahoma" pitchFamily="34" charset="0"/>
                <a:cs typeface="Tahoma" pitchFamily="34" charset="0"/>
              </a:defRPr>
            </a:lvl2pPr>
            <a:lvl3pPr>
              <a:defRPr sz="2000">
                <a:solidFill>
                  <a:schemeClr val="tx1"/>
                </a:solidFill>
                <a:latin typeface="Tahoma" pitchFamily="34" charset="0"/>
                <a:cs typeface="Tahoma" pitchFamily="34" charset="0"/>
              </a:defRPr>
            </a:lvl3pPr>
            <a:lvl4pPr>
              <a:defRPr sz="1800">
                <a:solidFill>
                  <a:schemeClr val="tx1"/>
                </a:solidFill>
                <a:latin typeface="Tahoma" pitchFamily="34" charset="0"/>
                <a:cs typeface="Tahoma" pitchFamily="34" charset="0"/>
              </a:defRPr>
            </a:lvl4pPr>
            <a:lvl5pPr>
              <a:defRPr sz="1800">
                <a:solidFill>
                  <a:schemeClr val="tx1"/>
                </a:solidFill>
                <a:latin typeface="Tahoma" pitchFamily="34" charset="0"/>
                <a:cs typeface="Tahoma" pitchFamily="34" charset="0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>
                <a:solidFill>
                  <a:schemeClr val="accent2">
                    <a:lumMod val="75000"/>
                  </a:schemeClr>
                </a:solidFill>
                <a:latin typeface="Tahoma" pitchFamily="34" charset="0"/>
                <a:cs typeface="Tahoma" pitchFamily="34" charset="0"/>
              </a:defRPr>
            </a:lvl1pPr>
            <a:lvl2pPr>
              <a:defRPr sz="2400">
                <a:solidFill>
                  <a:schemeClr val="tx1"/>
                </a:solidFill>
                <a:latin typeface="Tahoma" pitchFamily="34" charset="0"/>
                <a:cs typeface="Tahoma" pitchFamily="34" charset="0"/>
              </a:defRPr>
            </a:lvl2pPr>
            <a:lvl3pPr>
              <a:defRPr sz="2000">
                <a:solidFill>
                  <a:schemeClr val="tx1"/>
                </a:solidFill>
                <a:latin typeface="Tahoma" pitchFamily="34" charset="0"/>
                <a:cs typeface="Tahoma" pitchFamily="34" charset="0"/>
              </a:defRPr>
            </a:lvl3pPr>
            <a:lvl4pPr>
              <a:defRPr sz="1800">
                <a:solidFill>
                  <a:schemeClr val="tx1"/>
                </a:solidFill>
                <a:latin typeface="Tahoma" pitchFamily="34" charset="0"/>
                <a:cs typeface="Tahoma" pitchFamily="34" charset="0"/>
              </a:defRPr>
            </a:lvl4pPr>
            <a:lvl5pPr>
              <a:defRPr sz="1800">
                <a:solidFill>
                  <a:schemeClr val="tx1"/>
                </a:solidFill>
                <a:latin typeface="Tahoma" pitchFamily="34" charset="0"/>
                <a:cs typeface="Tahoma" pitchFamily="34" charset="0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10"/>
          </p:nvPr>
        </p:nvSpPr>
        <p:spPr>
          <a:xfrm>
            <a:off x="609600" y="6340476"/>
            <a:ext cx="8128000" cy="365125"/>
          </a:xfrm>
        </p:spPr>
        <p:txBody>
          <a:bodyPr/>
          <a:lstStyle>
            <a:lvl1pPr algn="l">
              <a:defRPr>
                <a:latin typeface="Tahoma" pitchFamily="34" charset="0"/>
                <a:cs typeface="Tahoma" pitchFamily="34" charset="0"/>
              </a:defRPr>
            </a:lvl1pPr>
          </a:lstStyle>
          <a:p>
            <a:pPr>
              <a:defRPr/>
            </a:pPr>
            <a:r>
              <a:rPr lang="en-US"/>
              <a:t>&lt;&lt;Tên Dự Án&gt;&gt;</a:t>
            </a:r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839200" y="6356351"/>
            <a:ext cx="2844800" cy="365125"/>
          </a:xfrm>
        </p:spPr>
        <p:txBody>
          <a:bodyPr/>
          <a:lstStyle>
            <a:lvl1pPr>
              <a:defRPr>
                <a:latin typeface="Tahoma" pitchFamily="34" charset="0"/>
                <a:cs typeface="Tahoma" pitchFamily="34" charset="0"/>
              </a:defRPr>
            </a:lvl1pPr>
          </a:lstStyle>
          <a:p>
            <a:pPr>
              <a:defRPr/>
            </a:pPr>
            <a:fld id="{E4E63BF6-D75B-49C2-9B0F-571DC542C43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92704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7" descr="logo.png"/>
          <p:cNvPicPr>
            <a:picLocks noChangeAspect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-304800"/>
            <a:ext cx="12192000" cy="2057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8" name="Straight Connector 7"/>
          <p:cNvCxnSpPr/>
          <p:nvPr userDrawn="1"/>
        </p:nvCxnSpPr>
        <p:spPr>
          <a:xfrm>
            <a:off x="609600" y="6324600"/>
            <a:ext cx="1097280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52400"/>
            <a:ext cx="10972800" cy="1143000"/>
          </a:xfrm>
        </p:spPr>
        <p:txBody>
          <a:bodyPr/>
          <a:lstStyle>
            <a:lvl1pPr algn="r">
              <a:defRPr b="1">
                <a:solidFill>
                  <a:srgbClr val="0070C0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ahoma" pitchFamily="34" charset="0"/>
                <a:cs typeface="Tahoma" pitchFamily="34" charset="0"/>
              </a:defRPr>
            </a:lvl1pPr>
            <a:lvl2pPr>
              <a:defRPr sz="2000">
                <a:solidFill>
                  <a:schemeClr val="tx1"/>
                </a:solidFill>
                <a:latin typeface="Tahoma" pitchFamily="34" charset="0"/>
                <a:cs typeface="Tahoma" pitchFamily="34" charset="0"/>
              </a:defRPr>
            </a:lvl2pPr>
            <a:lvl3pPr>
              <a:defRPr sz="1800">
                <a:solidFill>
                  <a:schemeClr val="tx1"/>
                </a:solidFill>
                <a:latin typeface="Tahoma" pitchFamily="34" charset="0"/>
                <a:cs typeface="Tahoma" pitchFamily="34" charset="0"/>
              </a:defRPr>
            </a:lvl3pPr>
            <a:lvl4pPr>
              <a:defRPr sz="1600">
                <a:solidFill>
                  <a:schemeClr val="tx1"/>
                </a:solidFill>
                <a:latin typeface="Tahoma" pitchFamily="34" charset="0"/>
                <a:cs typeface="Tahoma" pitchFamily="34" charset="0"/>
              </a:defRPr>
            </a:lvl4pPr>
            <a:lvl5pPr>
              <a:defRPr sz="1600">
                <a:solidFill>
                  <a:schemeClr val="tx1"/>
                </a:solidFill>
                <a:latin typeface="Tahoma" pitchFamily="34" charset="0"/>
                <a:cs typeface="Tahoma" pitchFamily="34" charset="0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ahoma" pitchFamily="34" charset="0"/>
                <a:cs typeface="Tahoma" pitchFamily="34" charset="0"/>
              </a:defRPr>
            </a:lvl1pPr>
            <a:lvl2pPr>
              <a:defRPr sz="2000">
                <a:solidFill>
                  <a:schemeClr val="tx1"/>
                </a:solidFill>
                <a:latin typeface="Tahoma" pitchFamily="34" charset="0"/>
                <a:cs typeface="Tahoma" pitchFamily="34" charset="0"/>
              </a:defRPr>
            </a:lvl2pPr>
            <a:lvl3pPr>
              <a:defRPr sz="1800">
                <a:solidFill>
                  <a:schemeClr val="tx1"/>
                </a:solidFill>
                <a:latin typeface="Tahoma" pitchFamily="34" charset="0"/>
                <a:cs typeface="Tahoma" pitchFamily="34" charset="0"/>
              </a:defRPr>
            </a:lvl3pPr>
            <a:lvl4pPr>
              <a:defRPr sz="1600">
                <a:solidFill>
                  <a:schemeClr val="tx1"/>
                </a:solidFill>
                <a:latin typeface="Tahoma" pitchFamily="34" charset="0"/>
                <a:cs typeface="Tahoma" pitchFamily="34" charset="0"/>
              </a:defRPr>
            </a:lvl4pPr>
            <a:lvl5pPr>
              <a:defRPr sz="1600">
                <a:solidFill>
                  <a:schemeClr val="tx1"/>
                </a:solidFill>
                <a:latin typeface="Tahoma" pitchFamily="34" charset="0"/>
                <a:cs typeface="Tahoma" pitchFamily="34" charset="0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10"/>
          </p:nvPr>
        </p:nvSpPr>
        <p:spPr>
          <a:xfrm>
            <a:off x="609600" y="6340476"/>
            <a:ext cx="8128000" cy="365125"/>
          </a:xfrm>
        </p:spPr>
        <p:txBody>
          <a:bodyPr/>
          <a:lstStyle>
            <a:lvl1pPr algn="l">
              <a:defRPr>
                <a:latin typeface="Tahoma" pitchFamily="34" charset="0"/>
                <a:cs typeface="Tahoma" pitchFamily="34" charset="0"/>
              </a:defRPr>
            </a:lvl1pPr>
          </a:lstStyle>
          <a:p>
            <a:pPr>
              <a:defRPr/>
            </a:pPr>
            <a:r>
              <a:rPr lang="en-US"/>
              <a:t>&lt;&lt;Tên Dự Án&gt;&gt;</a:t>
            </a:r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839200" y="6356351"/>
            <a:ext cx="2844800" cy="365125"/>
          </a:xfrm>
        </p:spPr>
        <p:txBody>
          <a:bodyPr/>
          <a:lstStyle>
            <a:lvl1pPr>
              <a:defRPr>
                <a:latin typeface="Tahoma" pitchFamily="34" charset="0"/>
                <a:cs typeface="Tahoma" pitchFamily="34" charset="0"/>
              </a:defRPr>
            </a:lvl1pPr>
          </a:lstStyle>
          <a:p>
            <a:pPr>
              <a:defRPr/>
            </a:pPr>
            <a:fld id="{0F31B4AE-D66A-4FED-AD35-BAB7214338B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pic>
        <p:nvPicPr>
          <p:cNvPr id="11" name="Picture 10" descr="LOGO FPT POLYTECHNIC.jpg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04800" y="228601"/>
            <a:ext cx="2812253" cy="68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18965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&lt;&lt;Tên Dự Án&gt;&gt;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1926EE0-A18C-4D9F-96A6-A0314DB8E21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pic>
        <p:nvPicPr>
          <p:cNvPr id="4" name="Picture 3" descr="nền slide thank you trắng.png"/>
          <p:cNvPicPr>
            <a:picLocks noChangeAspect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387350"/>
            <a:ext cx="12192000" cy="6470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extBox 4"/>
          <p:cNvSpPr txBox="1"/>
          <p:nvPr userDrawn="1"/>
        </p:nvSpPr>
        <p:spPr>
          <a:xfrm>
            <a:off x="6299200" y="6400800"/>
            <a:ext cx="426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>
                <a:solidFill>
                  <a:schemeClr val="bg1"/>
                </a:solidFill>
                <a:latin typeface="Fpt-DaxlinePro-Bold" pitchFamily="2" charset="0"/>
              </a:rPr>
              <a:t>www.poly.edu.vn</a:t>
            </a:r>
          </a:p>
        </p:txBody>
      </p:sp>
      <p:sp>
        <p:nvSpPr>
          <p:cNvPr id="6" name="TextBox 5"/>
          <p:cNvSpPr txBox="1"/>
          <p:nvPr userDrawn="1"/>
        </p:nvSpPr>
        <p:spPr>
          <a:xfrm>
            <a:off x="7315200" y="2438400"/>
            <a:ext cx="609600" cy="84638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4900">
                <a:solidFill>
                  <a:srgbClr val="00B0F0"/>
                </a:solidFill>
                <a:latin typeface="Fpt-DaxlinePro-Medium" pitchFamily="2" charset="0"/>
              </a:rPr>
              <a:t>T</a:t>
            </a:r>
          </a:p>
        </p:txBody>
      </p:sp>
    </p:spTree>
    <p:extLst>
      <p:ext uri="{BB962C8B-B14F-4D97-AF65-F5344CB8AC3E}">
        <p14:creationId xmlns:p14="http://schemas.microsoft.com/office/powerpoint/2010/main" val="42801895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.xml"/><Relationship Id="rId13" Type="http://schemas.openxmlformats.org/officeDocument/2006/relationships/slideLayout" Target="../slideLayouts/slideLayout27.xml"/><Relationship Id="rId3" Type="http://schemas.openxmlformats.org/officeDocument/2006/relationships/slideLayout" Target="../slideLayouts/slideLayout17.xml"/><Relationship Id="rId7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6.xml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5.xml"/><Relationship Id="rId5" Type="http://schemas.openxmlformats.org/officeDocument/2006/relationships/slideLayout" Target="../slideLayouts/slideLayout19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24.xml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Relationship Id="rId14" Type="http://schemas.openxmlformats.org/officeDocument/2006/relationships/slideLayout" Target="../slideLayouts/slideLayout28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theme" Target="../theme/theme3.xml"/><Relationship Id="rId3" Type="http://schemas.openxmlformats.org/officeDocument/2006/relationships/slideLayout" Target="../slideLayouts/slideLayout31.xml"/><Relationship Id="rId7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0.xml"/><Relationship Id="rId1" Type="http://schemas.openxmlformats.org/officeDocument/2006/relationships/slideLayout" Target="../slideLayouts/slideLayout29.xml"/><Relationship Id="rId6" Type="http://schemas.openxmlformats.org/officeDocument/2006/relationships/slideLayout" Target="../slideLayouts/slideLayout34.xml"/><Relationship Id="rId11" Type="http://schemas.openxmlformats.org/officeDocument/2006/relationships/image" Target="../media/image9.gif"/><Relationship Id="rId5" Type="http://schemas.openxmlformats.org/officeDocument/2006/relationships/slideLayout" Target="../slideLayouts/slideLayout33.xml"/><Relationship Id="rId10" Type="http://schemas.openxmlformats.org/officeDocument/2006/relationships/image" Target="../media/image8.gif"/><Relationship Id="rId4" Type="http://schemas.openxmlformats.org/officeDocument/2006/relationships/slideLayout" Target="../slideLayouts/slideLayout32.xml"/><Relationship Id="rId9" Type="http://schemas.openxmlformats.org/officeDocument/2006/relationships/image" Target="../media/image7.gi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79EB43-FFAC-41DE-A59C-D6CB37219A4E}" type="datetime1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&lt;&lt;Tên Dự Án&gt;&gt;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ACEE26-D979-411F-B229-D9F26BAEDF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3918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79" r:id="rId9"/>
    <p:sldLayoutId id="2147483680" r:id="rId10"/>
    <p:sldLayoutId id="2147483681" r:id="rId11"/>
    <p:sldLayoutId id="2147483683" r:id="rId12"/>
    <p:sldLayoutId id="2147483684" r:id="rId13"/>
    <p:sldLayoutId id="2147483667" r:id="rId14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hf hd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315CBC-2209-45C5-89CB-A658839648C8}" type="datetime1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&lt;&lt;Tên Dự Án&gt;&gt;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ACEE26-D979-411F-B229-D9F26BAEDF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72391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7" r:id="rId2"/>
    <p:sldLayoutId id="2147483688" r:id="rId3"/>
    <p:sldLayoutId id="2147483689" r:id="rId4"/>
    <p:sldLayoutId id="2147483690" r:id="rId5"/>
    <p:sldLayoutId id="2147483691" r:id="rId6"/>
    <p:sldLayoutId id="2147483692" r:id="rId7"/>
    <p:sldLayoutId id="2147483693" r:id="rId8"/>
    <p:sldLayoutId id="2147483694" r:id="rId9"/>
    <p:sldLayoutId id="2147483695" r:id="rId10"/>
    <p:sldLayoutId id="2147483696" r:id="rId11"/>
    <p:sldLayoutId id="2147483697" r:id="rId12"/>
    <p:sldLayoutId id="2147483698" r:id="rId13"/>
    <p:sldLayoutId id="2147483699" r:id="rId14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hf hd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152400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600201"/>
            <a:ext cx="109728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  Click to edit Master text styles</a:t>
            </a:r>
          </a:p>
          <a:p>
            <a:pPr lvl="1"/>
            <a:r>
              <a:rPr lang="en-US"/>
              <a:t>  Second level</a:t>
            </a:r>
          </a:p>
          <a:p>
            <a:pPr lvl="2"/>
            <a:r>
              <a:rPr lang="en-US"/>
              <a:t>  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9600" y="6356351"/>
            <a:ext cx="7416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r>
              <a:rPr lang="en-US"/>
              <a:t>&lt;&lt;Tên Dự Án&gt;&gt;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fld id="{7AF7AF65-4B18-4BB1-B100-2EF3CDE7824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61203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  <p:sldLayoutId id="2147483703" r:id="rId3"/>
    <p:sldLayoutId id="2147483704" r:id="rId4"/>
    <p:sldLayoutId id="2147483705" r:id="rId5"/>
    <p:sldLayoutId id="2147483706" r:id="rId6"/>
    <p:sldLayoutId id="2147483707" r:id="rId7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kern="1200">
          <a:solidFill>
            <a:srgbClr val="0070C0"/>
          </a:solidFill>
          <a:latin typeface="+mj-lt"/>
          <a:ea typeface="+mj-ea"/>
          <a:cs typeface="Tahoma" pitchFamily="34" charset="0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4400">
          <a:solidFill>
            <a:srgbClr val="00B0F0"/>
          </a:solidFill>
          <a:latin typeface="Calibri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4400">
          <a:solidFill>
            <a:srgbClr val="00B0F0"/>
          </a:solidFill>
          <a:latin typeface="Calibri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4400">
          <a:solidFill>
            <a:srgbClr val="00B0F0"/>
          </a:solidFill>
          <a:latin typeface="Calibri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4400">
          <a:solidFill>
            <a:srgbClr val="00B0F0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Blip>
          <a:blip r:embed="rId9"/>
        </a:buBlip>
        <a:defRPr sz="3200" kern="1200">
          <a:solidFill>
            <a:schemeClr val="accent2">
              <a:lumMod val="75000"/>
            </a:schemeClr>
          </a:solidFill>
          <a:latin typeface="+mn-lt"/>
          <a:ea typeface="+mn-ea"/>
          <a:cs typeface="Tahoma" pitchFamily="34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Blip>
          <a:blip r:embed="rId10"/>
        </a:buBlip>
        <a:defRPr sz="2800" kern="1200">
          <a:solidFill>
            <a:schemeClr val="tx1">
              <a:lumMod val="95000"/>
              <a:lumOff val="5000"/>
            </a:schemeClr>
          </a:solidFill>
          <a:latin typeface="+mn-lt"/>
          <a:ea typeface="+mn-ea"/>
          <a:cs typeface="Tahoma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Blip>
          <a:blip r:embed="rId11"/>
        </a:buBlip>
        <a:defRPr sz="2400" kern="1200">
          <a:solidFill>
            <a:schemeClr val="tx1">
              <a:lumMod val="95000"/>
              <a:lumOff val="5000"/>
            </a:schemeClr>
          </a:solidFill>
          <a:latin typeface="+mn-lt"/>
          <a:ea typeface="+mn-ea"/>
          <a:cs typeface="Tahoma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>
              <a:lumMod val="95000"/>
              <a:lumOff val="5000"/>
            </a:schemeClr>
          </a:solidFill>
          <a:latin typeface="+mn-lt"/>
          <a:ea typeface="+mn-ea"/>
          <a:cs typeface="Tahoma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>
              <a:lumMod val="95000"/>
              <a:lumOff val="5000"/>
            </a:schemeClr>
          </a:solidFill>
          <a:latin typeface="+mn-lt"/>
          <a:ea typeface="+mn-ea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>
          <a:xfrm>
            <a:off x="2209800" y="1651000"/>
            <a:ext cx="7772400" cy="1219200"/>
          </a:xfrm>
        </p:spPr>
        <p:txBody>
          <a:bodyPr rtlCol="0">
            <a:normAutofit fontScale="90000"/>
          </a:bodyPr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vi-VN" sz="4900" b="1">
                <a:ln w="10541" cmpd="sng">
                  <a:solidFill>
                    <a:schemeClr val="accent1">
                      <a:shade val="88000"/>
                      <a:satMod val="110000"/>
                    </a:schemeClr>
                  </a:solidFill>
                  <a:prstDash val="solid"/>
                </a:ln>
                <a:solidFill>
                  <a:schemeClr val="tx1">
                    <a:lumMod val="95000"/>
                    <a:lumOff val="5000"/>
                  </a:schemeClr>
                </a:solidFill>
                <a:latin typeface="Times New Roman"/>
                <a:cs typeface="Times New Roman"/>
              </a:rPr>
              <a:t>PHÂN TÍCH THÓI QUEN DÙNG MẠNG XÃ HỘI</a:t>
            </a:r>
            <a:endParaRPr lang="vi-VN" sz="4000" b="1">
              <a:ln w="10541" cmpd="sng">
                <a:solidFill>
                  <a:schemeClr val="accent1">
                    <a:shade val="88000"/>
                    <a:satMod val="110000"/>
                  </a:schemeClr>
                </a:solidFill>
                <a:prstDash val="solid"/>
              </a:ln>
              <a:solidFill>
                <a:schemeClr val="tx1">
                  <a:lumMod val="95000"/>
                  <a:lumOff val="5000"/>
                </a:schemeClr>
              </a:solidFill>
              <a:latin typeface="Times New Roman"/>
              <a:cs typeface="Times New Roman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4489762"/>
              </p:ext>
            </p:extLst>
          </p:nvPr>
        </p:nvGraphicFramePr>
        <p:xfrm>
          <a:off x="6172200" y="5410200"/>
          <a:ext cx="4724400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72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GVHD:</a:t>
                      </a:r>
                      <a:r>
                        <a:rPr lang="en-US" b="1" baseline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vi-VN" b="1" baseline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Trần Văn Huy</a:t>
                      </a:r>
                      <a:endParaRPr lang="en-US" b="1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156DA43E-B438-D82C-7EB2-1EC652E15E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2924686"/>
              </p:ext>
            </p:extLst>
          </p:nvPr>
        </p:nvGraphicFramePr>
        <p:xfrm>
          <a:off x="6172200" y="3182139"/>
          <a:ext cx="4724400" cy="2226917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24590">
                  <a:extLst>
                    <a:ext uri="{9D8B030D-6E8A-4147-A177-3AD203B41FA5}">
                      <a16:colId xmlns:a16="http://schemas.microsoft.com/office/drawing/2014/main" val="2341460916"/>
                    </a:ext>
                  </a:extLst>
                </a:gridCol>
                <a:gridCol w="1499810">
                  <a:extLst>
                    <a:ext uri="{9D8B030D-6E8A-4147-A177-3AD203B41FA5}">
                      <a16:colId xmlns:a16="http://schemas.microsoft.com/office/drawing/2014/main" val="4001547888"/>
                    </a:ext>
                  </a:extLst>
                </a:gridCol>
              </a:tblGrid>
              <a:tr h="372717">
                <a:tc>
                  <a:txBody>
                    <a:bodyPr/>
                    <a:lstStyle/>
                    <a:p>
                      <a:pPr algn="ctr"/>
                      <a:r>
                        <a:rPr lang="vi-VN">
                          <a:solidFill>
                            <a:schemeClr val="tx1"/>
                          </a:solidFill>
                          <a:latin typeface="+mj-lt"/>
                        </a:rPr>
                        <a:t>Thành viên</a:t>
                      </a:r>
                      <a:endParaRPr lang="en-US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>
                          <a:solidFill>
                            <a:schemeClr val="tx1"/>
                          </a:solidFill>
                          <a:latin typeface="+mj-lt"/>
                        </a:rPr>
                        <a:t>Nhiệm vụ</a:t>
                      </a:r>
                      <a:endParaRPr lang="en-US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01720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vi-VN">
                          <a:latin typeface="+mj-lt"/>
                        </a:rPr>
                        <a:t>Nguyễn Đình Mai Vy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vi-VN">
                          <a:latin typeface="+mj-lt"/>
                        </a:rPr>
                        <a:t>Trưởng nhóm</a:t>
                      </a:r>
                      <a:endParaRPr lang="en-US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20643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r>
                        <a:rPr lang="vi-VN">
                          <a:latin typeface="+mj-lt"/>
                        </a:rPr>
                        <a:t>2. Lê Nhựt Thái</a:t>
                      </a:r>
                      <a:endParaRPr lang="en-US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>
                          <a:latin typeface="+mj-lt"/>
                        </a:rPr>
                        <a:t>Thành viên</a:t>
                      </a:r>
                      <a:endParaRPr lang="en-US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28822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vi-VN">
                          <a:latin typeface="+mj-lt"/>
                        </a:rPr>
                        <a:t>3. Phạm Nguyễn Bảo Thi</a:t>
                      </a:r>
                      <a:endParaRPr lang="en-US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>
                          <a:latin typeface="+mj-lt"/>
                        </a:rPr>
                        <a:t>Thành viên</a:t>
                      </a:r>
                      <a:endParaRPr lang="en-US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41540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vi-VN">
                          <a:latin typeface="+mj-lt"/>
                        </a:rPr>
                        <a:t>4. Nguyễn Thị Mỹ Huyền</a:t>
                      </a:r>
                      <a:endParaRPr lang="en-US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>
                          <a:latin typeface="+mj-lt"/>
                        </a:rPr>
                        <a:t>Thành viên</a:t>
                      </a:r>
                      <a:endParaRPr lang="en-US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09811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vi-VN">
                          <a:latin typeface="+mj-lt"/>
                        </a:rPr>
                        <a:t>5. Nguyễn Quốc Hưng</a:t>
                      </a:r>
                      <a:endParaRPr lang="en-US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>
                          <a:latin typeface="+mj-lt"/>
                        </a:rPr>
                        <a:t>Thành viên</a:t>
                      </a:r>
                      <a:endParaRPr lang="en-US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8430878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Nội dung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066800"/>
            <a:ext cx="9347198" cy="5257800"/>
          </a:xfrm>
        </p:spPr>
        <p:txBody>
          <a:bodyPr>
            <a:noAutofit/>
          </a:bodyPr>
          <a:lstStyle/>
          <a:p>
            <a:pPr>
              <a:buFont typeface="Wingdings" pitchFamily="2" charset="2"/>
              <a:buChar char="&amp;"/>
            </a:pPr>
            <a:r>
              <a:rPr lang="en-US" sz="32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Giới thiệu thành viên</a:t>
            </a:r>
          </a:p>
          <a:p>
            <a:pPr>
              <a:buFont typeface="Wingdings" pitchFamily="2" charset="2"/>
              <a:buChar char="&amp;"/>
            </a:pPr>
            <a:r>
              <a:rPr lang="en-US" sz="32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Giới thiệu về dự án</a:t>
            </a:r>
          </a:p>
          <a:p>
            <a:pPr>
              <a:buFont typeface="Wingdings" pitchFamily="2" charset="2"/>
              <a:buChar char="&amp;"/>
            </a:pPr>
            <a:r>
              <a:rPr lang="en-US" sz="32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Quá trình thực hiện dự án</a:t>
            </a:r>
          </a:p>
          <a:p>
            <a:pPr>
              <a:buFont typeface="Wingdings" pitchFamily="2" charset="2"/>
              <a:buChar char="&amp;"/>
            </a:pPr>
            <a:r>
              <a:rPr lang="en-US" sz="32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Khó khăn &amp; Thuận lợi</a:t>
            </a:r>
          </a:p>
          <a:p>
            <a:pPr>
              <a:buFont typeface="Wingdings" pitchFamily="2" charset="2"/>
              <a:buChar char="&amp;"/>
            </a:pPr>
            <a:r>
              <a:rPr lang="en-US" sz="32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Demo dự án.</a:t>
            </a:r>
          </a:p>
          <a:p>
            <a:pPr>
              <a:buFont typeface="Wingdings" pitchFamily="2" charset="2"/>
              <a:buChar char="&amp;"/>
            </a:pPr>
            <a:endParaRPr lang="en-US" sz="3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>
              <a:buFont typeface="Wingdings" pitchFamily="2" charset="2"/>
              <a:buChar char="&amp;"/>
            </a:pPr>
            <a:endParaRPr lang="en-US" sz="3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B882B8-6478-8857-5780-0AB84DE33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</a:t>
            </a:r>
            <a:r>
              <a:rPr lang="vi-VN"/>
              <a:t>Phân tích thói quen dùng MXH</a:t>
            </a:r>
            <a:r>
              <a:rPr lang="en-US"/>
              <a:t>&gt;&gt;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FDAE1D-46B1-075A-10B0-704C69B574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55875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3657600" y="2967335"/>
            <a:ext cx="4980851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glow" dir="tl">
                <a:rot lat="0" lon="0" rev="5400000"/>
              </a:lightRig>
            </a:scene3d>
            <a:sp3d contourW="12700">
              <a:bevelT w="25400" h="25400"/>
              <a:contourClr>
                <a:schemeClr val="accent6">
                  <a:shade val="73000"/>
                </a:schemeClr>
              </a:contourClr>
            </a:sp3d>
          </a:bodyPr>
          <a:lstStyle/>
          <a:p>
            <a:r>
              <a:rPr lang="en-US" sz="5400" b="1" cap="small">
                <a:ln w="11430"/>
                <a:gradFill>
                  <a:gsLst>
                    <a:gs pos="0">
                      <a:schemeClr val="accent6">
                        <a:tint val="90000"/>
                        <a:satMod val="120000"/>
                      </a:schemeClr>
                    </a:gs>
                    <a:gs pos="25000">
                      <a:schemeClr val="accent6">
                        <a:tint val="93000"/>
                        <a:satMod val="120000"/>
                      </a:schemeClr>
                    </a:gs>
                    <a:gs pos="50000">
                      <a:schemeClr val="accent6">
                        <a:shade val="89000"/>
                        <a:satMod val="110000"/>
                      </a:schemeClr>
                    </a:gs>
                    <a:gs pos="75000">
                      <a:schemeClr val="accent6">
                        <a:tint val="93000"/>
                        <a:satMod val="120000"/>
                      </a:schemeClr>
                    </a:gs>
                    <a:gs pos="100000">
                      <a:schemeClr val="accent6">
                        <a:tint val="90000"/>
                        <a:satMod val="120000"/>
                      </a:schemeClr>
                    </a:gs>
                  </a:gsLst>
                  <a:lin ang="5400000"/>
                </a:gradFill>
                <a:effectLst>
                  <a:outerShdw blurRad="80000" dist="40000" dir="5040000" algn="tl">
                    <a:srgbClr val="000000">
                      <a:alpha val="30000"/>
                    </a:srgbClr>
                  </a:outerShdw>
                </a:effectLst>
              </a:rPr>
              <a:t>Thành viên dự án</a:t>
            </a:r>
          </a:p>
        </p:txBody>
      </p:sp>
      <p:cxnSp>
        <p:nvCxnSpPr>
          <p:cNvPr id="3" name="Straight Connector 2"/>
          <p:cNvCxnSpPr/>
          <p:nvPr/>
        </p:nvCxnSpPr>
        <p:spPr>
          <a:xfrm>
            <a:off x="762000" y="3886200"/>
            <a:ext cx="10744200" cy="0"/>
          </a:xfrm>
          <a:prstGeom prst="line">
            <a:avLst/>
          </a:prstGeom>
          <a:ln w="76200" cmpd="thinThick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2FE8A6A6-9816-CA9D-EBC4-9984E6952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</a:t>
            </a:r>
            <a:r>
              <a:rPr lang="vi-VN"/>
              <a:t> Phân tích thói quen dùng MXH </a:t>
            </a:r>
            <a:r>
              <a:rPr lang="en-US"/>
              <a:t>&gt;&gt;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B7D1DC-E1D7-D542-D6C1-2487B587D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76136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Giới thiệu thành viên #1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066800"/>
            <a:ext cx="10972800" cy="5791200"/>
          </a:xfrm>
        </p:spPr>
        <p:txBody>
          <a:bodyPr>
            <a:noAutofit/>
          </a:bodyPr>
          <a:lstStyle/>
          <a:p>
            <a:pPr>
              <a:buFont typeface="Wingdings" pitchFamily="2" charset="2"/>
              <a:buChar char="&amp;"/>
            </a:pPr>
            <a:r>
              <a:rPr lang="vi-VN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Nguyễn Đình Mai </a:t>
            </a:r>
            <a:r>
              <a:rPr lang="vi-VN" sz="2000" b="1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Vy</a:t>
            </a:r>
            <a:endParaRPr lang="en-US" sz="20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lvl="1"/>
            <a:r>
              <a:rPr lang="en-US" sz="2000"/>
              <a:t>Team Leader</a:t>
            </a:r>
          </a:p>
          <a:p>
            <a:pPr lvl="1"/>
            <a:r>
              <a:rPr lang="en-US" sz="2000"/>
              <a:t>Project Lead</a:t>
            </a:r>
          </a:p>
          <a:p>
            <a:pPr>
              <a:buFont typeface="Wingdings" pitchFamily="2" charset="2"/>
              <a:buChar char="&amp;"/>
            </a:pPr>
            <a:r>
              <a:rPr lang="en-US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Responsibilities</a:t>
            </a:r>
            <a:endParaRPr lang="en-US" sz="20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lvl="1"/>
            <a:r>
              <a:rPr lang="en-US" sz="2000" err="1"/>
              <a:t>Lên</a:t>
            </a:r>
            <a:r>
              <a:rPr lang="en-US" sz="2000"/>
              <a:t> </a:t>
            </a:r>
            <a:r>
              <a:rPr lang="en-US" sz="2000" err="1"/>
              <a:t>kế</a:t>
            </a:r>
            <a:r>
              <a:rPr lang="en-US" sz="2000"/>
              <a:t> </a:t>
            </a:r>
            <a:r>
              <a:rPr lang="en-US" sz="2000" err="1"/>
              <a:t>hoạch</a:t>
            </a:r>
            <a:r>
              <a:rPr lang="en-US" sz="2000"/>
              <a:t> </a:t>
            </a:r>
            <a:r>
              <a:rPr lang="en-US" sz="2000" err="1"/>
              <a:t>và</a:t>
            </a:r>
            <a:r>
              <a:rPr lang="en-US" sz="2000"/>
              <a:t> </a:t>
            </a:r>
            <a:r>
              <a:rPr lang="en-US" sz="2000" err="1"/>
              <a:t>lịch</a:t>
            </a:r>
            <a:r>
              <a:rPr lang="en-US" sz="2000"/>
              <a:t> </a:t>
            </a:r>
            <a:r>
              <a:rPr lang="en-US" sz="2000" err="1"/>
              <a:t>trình</a:t>
            </a:r>
            <a:r>
              <a:rPr lang="en-US" sz="2000"/>
              <a:t> </a:t>
            </a:r>
            <a:r>
              <a:rPr lang="en-US" sz="2000" err="1"/>
              <a:t>dự</a:t>
            </a:r>
            <a:r>
              <a:rPr lang="en-US" sz="2000"/>
              <a:t> </a:t>
            </a:r>
            <a:r>
              <a:rPr lang="en-US" sz="2000" err="1"/>
              <a:t>án</a:t>
            </a:r>
            <a:r>
              <a:rPr lang="en-US" sz="2000"/>
              <a:t>.</a:t>
            </a:r>
          </a:p>
          <a:p>
            <a:pPr lvl="1"/>
            <a:r>
              <a:rPr lang="en-US" sz="2000"/>
              <a:t>Quản </a:t>
            </a:r>
            <a:r>
              <a:rPr lang="en-US" sz="2000" err="1"/>
              <a:t>lý</a:t>
            </a:r>
            <a:r>
              <a:rPr lang="en-US" sz="2000"/>
              <a:t> team, tasks.</a:t>
            </a:r>
          </a:p>
          <a:p>
            <a:pPr lvl="1"/>
            <a:r>
              <a:rPr lang="en-US" sz="2000"/>
              <a:t>Giao </a:t>
            </a:r>
            <a:r>
              <a:rPr lang="en-US" sz="2000" err="1"/>
              <a:t>tiếp</a:t>
            </a:r>
            <a:r>
              <a:rPr lang="en-US" sz="2000"/>
              <a:t> </a:t>
            </a:r>
            <a:r>
              <a:rPr lang="en-US" sz="2000" err="1"/>
              <a:t>làm</a:t>
            </a:r>
            <a:r>
              <a:rPr lang="en-US" sz="2000"/>
              <a:t> </a:t>
            </a:r>
            <a:r>
              <a:rPr lang="en-US" sz="2000" err="1"/>
              <a:t>việc</a:t>
            </a:r>
            <a:r>
              <a:rPr lang="en-US" sz="2000"/>
              <a:t> </a:t>
            </a:r>
            <a:r>
              <a:rPr lang="en-US" sz="2000" err="1"/>
              <a:t>với</a:t>
            </a:r>
            <a:r>
              <a:rPr lang="en-US" sz="2000"/>
              <a:t> </a:t>
            </a:r>
            <a:r>
              <a:rPr lang="en-US" sz="2000" err="1"/>
              <a:t>các</a:t>
            </a:r>
            <a:r>
              <a:rPr lang="en-US" sz="2000"/>
              <a:t> </a:t>
            </a:r>
            <a:r>
              <a:rPr lang="en-US" sz="2000" err="1"/>
              <a:t>bên</a:t>
            </a:r>
            <a:r>
              <a:rPr lang="en-US" sz="2000"/>
              <a:t> </a:t>
            </a:r>
            <a:r>
              <a:rPr lang="en-US" sz="2000" err="1"/>
              <a:t>liên</a:t>
            </a:r>
            <a:r>
              <a:rPr lang="en-US" sz="2000"/>
              <a:t> </a:t>
            </a:r>
            <a:r>
              <a:rPr lang="en-US" sz="2000" err="1"/>
              <a:t>quan</a:t>
            </a:r>
            <a:r>
              <a:rPr lang="en-US" sz="2000"/>
              <a:t>.</a:t>
            </a:r>
          </a:p>
          <a:p>
            <a:pPr>
              <a:buFont typeface="Wingdings" pitchFamily="2" charset="2"/>
              <a:buChar char="&amp;"/>
            </a:pPr>
            <a:r>
              <a:rPr lang="en-US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Tasks</a:t>
            </a:r>
            <a:endParaRPr lang="en-US" sz="20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lvl="1"/>
            <a:r>
              <a:rPr lang="en-US" sz="2000" err="1"/>
              <a:t>Thiết</a:t>
            </a:r>
            <a:r>
              <a:rPr lang="en-US" sz="2000"/>
              <a:t> </a:t>
            </a:r>
            <a:r>
              <a:rPr lang="en-US" sz="2000" err="1"/>
              <a:t>kế</a:t>
            </a:r>
            <a:r>
              <a:rPr lang="en-US" sz="2000"/>
              <a:t> </a:t>
            </a:r>
            <a:r>
              <a:rPr lang="en-US" sz="2000" err="1"/>
              <a:t>hệ</a:t>
            </a:r>
            <a:r>
              <a:rPr lang="en-US" sz="2000"/>
              <a:t> </a:t>
            </a:r>
            <a:r>
              <a:rPr lang="en-US" sz="2000" err="1"/>
              <a:t>thống</a:t>
            </a:r>
            <a:r>
              <a:rPr lang="en-US" sz="2000"/>
              <a:t>.</a:t>
            </a:r>
          </a:p>
          <a:p>
            <a:pPr lvl="1"/>
            <a:r>
              <a:rPr lang="en-US" sz="2000" err="1"/>
              <a:t>Tạo</a:t>
            </a:r>
            <a:r>
              <a:rPr lang="en-US" sz="2000"/>
              <a:t> measure.</a:t>
            </a:r>
          </a:p>
          <a:p>
            <a:pPr lvl="1"/>
            <a:r>
              <a:rPr lang="en-US" sz="2000" err="1"/>
              <a:t>Viết</a:t>
            </a:r>
            <a:r>
              <a:rPr lang="en-US" sz="2000"/>
              <a:t> </a:t>
            </a:r>
            <a:r>
              <a:rPr lang="en-US" sz="2000" err="1"/>
              <a:t>báo</a:t>
            </a:r>
            <a:r>
              <a:rPr lang="en-US" sz="2000"/>
              <a:t> </a:t>
            </a:r>
            <a:r>
              <a:rPr lang="en-US" sz="2000" err="1"/>
              <a:t>cáo</a:t>
            </a:r>
            <a:r>
              <a:rPr lang="en-US" sz="2000"/>
              <a:t>.</a:t>
            </a:r>
          </a:p>
          <a:p>
            <a:pPr>
              <a:buFont typeface="Wingdings" pitchFamily="2" charset="2"/>
              <a:buChar char="&amp;"/>
            </a:pPr>
            <a:r>
              <a:rPr lang="en-US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Reports to</a:t>
            </a:r>
            <a:endParaRPr lang="en-US" sz="20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lvl="1"/>
            <a:r>
              <a:rPr lang="en-US" sz="2000" err="1"/>
              <a:t>Giảng</a:t>
            </a:r>
            <a:r>
              <a:rPr lang="en-US" sz="2000"/>
              <a:t> </a:t>
            </a:r>
            <a:r>
              <a:rPr lang="en-US" sz="2000" err="1"/>
              <a:t>viên</a:t>
            </a:r>
            <a:r>
              <a:rPr lang="en-US" sz="2000"/>
              <a:t> (Product Owner).</a:t>
            </a:r>
          </a:p>
          <a:p>
            <a:pPr lvl="1"/>
            <a:endParaRPr lang="en-US" sz="2000"/>
          </a:p>
          <a:p>
            <a:endParaRPr lang="en-US" sz="20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E008E75-C89F-E4C4-EDA0-6BD86ABCBA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</a:t>
            </a:r>
            <a:r>
              <a:rPr lang="vi-VN"/>
              <a:t> Phân tích thói quen dùng MXH </a:t>
            </a:r>
            <a:r>
              <a:rPr lang="en-US"/>
              <a:t>&gt;&gt;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4836D8-BC7B-7758-D7E2-79711F1997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5394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Giới thiệu thành viên #2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066800"/>
            <a:ext cx="10972800" cy="5791200"/>
          </a:xfrm>
        </p:spPr>
        <p:txBody>
          <a:bodyPr>
            <a:noAutofit/>
          </a:bodyPr>
          <a:lstStyle/>
          <a:p>
            <a:pPr>
              <a:buFont typeface="Wingdings" pitchFamily="2" charset="2"/>
              <a:buChar char="&amp;"/>
            </a:pPr>
            <a:r>
              <a:rPr lang="vi-VN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Lê Nhựt Thái</a:t>
            </a:r>
            <a:r>
              <a:rPr lang="en-US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endParaRPr lang="en-US" sz="20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lvl="1"/>
            <a:r>
              <a:rPr lang="en-US" sz="2000"/>
              <a:t>Business Analyst</a:t>
            </a:r>
          </a:p>
          <a:p>
            <a:pPr>
              <a:buFont typeface="Wingdings" pitchFamily="2" charset="2"/>
              <a:buChar char="&amp;"/>
            </a:pPr>
            <a:r>
              <a:rPr lang="en-US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Responsibilities</a:t>
            </a:r>
            <a:endParaRPr lang="en-US" sz="20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lvl="1"/>
            <a:r>
              <a:rPr lang="en-US" sz="2000" err="1"/>
              <a:t>Hỡ</a:t>
            </a:r>
            <a:r>
              <a:rPr lang="en-US" sz="2000"/>
              <a:t> </a:t>
            </a:r>
            <a:r>
              <a:rPr lang="en-US" sz="2000" err="1"/>
              <a:t>trợ</a:t>
            </a:r>
            <a:r>
              <a:rPr lang="en-US" sz="2000"/>
              <a:t> </a:t>
            </a:r>
            <a:r>
              <a:rPr lang="en-US" sz="2000" err="1"/>
              <a:t>xác</a:t>
            </a:r>
            <a:r>
              <a:rPr lang="en-US" sz="2000"/>
              <a:t> </a:t>
            </a:r>
            <a:r>
              <a:rPr lang="en-US" sz="2000" err="1"/>
              <a:t>định</a:t>
            </a:r>
            <a:r>
              <a:rPr lang="en-US" sz="2000"/>
              <a:t> </a:t>
            </a:r>
            <a:r>
              <a:rPr lang="en-US" sz="2000" err="1"/>
              <a:t>dự</a:t>
            </a:r>
            <a:r>
              <a:rPr lang="en-US" sz="2000"/>
              <a:t> </a:t>
            </a:r>
            <a:r>
              <a:rPr lang="en-US" sz="2000" err="1"/>
              <a:t>án</a:t>
            </a:r>
            <a:r>
              <a:rPr lang="en-US" sz="2000"/>
              <a:t>.</a:t>
            </a:r>
          </a:p>
          <a:p>
            <a:pPr lvl="1"/>
            <a:r>
              <a:rPr lang="en-US" sz="2000" err="1"/>
              <a:t>Tiếp</a:t>
            </a:r>
            <a:r>
              <a:rPr lang="en-US" sz="2000"/>
              <a:t> </a:t>
            </a:r>
            <a:r>
              <a:rPr lang="en-US" sz="2000" err="1"/>
              <a:t>nhận</a:t>
            </a:r>
            <a:r>
              <a:rPr lang="en-US" sz="2000"/>
              <a:t> </a:t>
            </a:r>
            <a:r>
              <a:rPr lang="en-US" sz="2000" err="1"/>
              <a:t>nhu</a:t>
            </a:r>
            <a:r>
              <a:rPr lang="en-US" sz="2000"/>
              <a:t> </a:t>
            </a:r>
            <a:r>
              <a:rPr lang="en-US" sz="2000" err="1"/>
              <a:t>cầu</a:t>
            </a:r>
            <a:r>
              <a:rPr lang="en-US" sz="2000"/>
              <a:t> </a:t>
            </a:r>
            <a:r>
              <a:rPr lang="en-US" sz="2000" err="1"/>
              <a:t>từ</a:t>
            </a:r>
            <a:r>
              <a:rPr lang="en-US" sz="2000"/>
              <a:t> </a:t>
            </a:r>
            <a:r>
              <a:rPr lang="en-US" sz="2000" err="1"/>
              <a:t>các</a:t>
            </a:r>
            <a:r>
              <a:rPr lang="en-US" sz="2000"/>
              <a:t> </a:t>
            </a:r>
            <a:r>
              <a:rPr lang="en-US" sz="2000" err="1"/>
              <a:t>bộ</a:t>
            </a:r>
            <a:r>
              <a:rPr lang="en-US" sz="2000"/>
              <a:t> </a:t>
            </a:r>
            <a:r>
              <a:rPr lang="en-US" sz="2000" err="1"/>
              <a:t>phân</a:t>
            </a:r>
            <a:r>
              <a:rPr lang="en-US" sz="2000"/>
              <a:t> </a:t>
            </a:r>
            <a:r>
              <a:rPr lang="en-US" sz="2000" err="1"/>
              <a:t>và</a:t>
            </a:r>
            <a:r>
              <a:rPr lang="en-US" sz="2000"/>
              <a:t> </a:t>
            </a:r>
            <a:r>
              <a:rPr lang="en-US" sz="2000" err="1"/>
              <a:t>người</a:t>
            </a:r>
            <a:r>
              <a:rPr lang="en-US" sz="2000"/>
              <a:t> </a:t>
            </a:r>
            <a:r>
              <a:rPr lang="en-US" sz="2000" err="1"/>
              <a:t>dùng</a:t>
            </a:r>
            <a:r>
              <a:rPr lang="en-US" sz="2000"/>
              <a:t>.</a:t>
            </a:r>
          </a:p>
          <a:p>
            <a:pPr lvl="1"/>
            <a:r>
              <a:rPr lang="en-US" sz="2000" err="1"/>
              <a:t>Kiểm</a:t>
            </a:r>
            <a:r>
              <a:rPr lang="en-US" sz="2000"/>
              <a:t> </a:t>
            </a:r>
            <a:r>
              <a:rPr lang="en-US" sz="2000" err="1"/>
              <a:t>tra</a:t>
            </a:r>
            <a:r>
              <a:rPr lang="en-US" sz="2000"/>
              <a:t> </a:t>
            </a:r>
            <a:r>
              <a:rPr lang="en-US" sz="2000" err="1"/>
              <a:t>sản</a:t>
            </a:r>
            <a:r>
              <a:rPr lang="en-US" sz="2000"/>
              <a:t> </a:t>
            </a:r>
            <a:r>
              <a:rPr lang="en-US" sz="2000" err="1"/>
              <a:t>phẩm</a:t>
            </a:r>
            <a:r>
              <a:rPr lang="en-US" sz="2000"/>
              <a:t> </a:t>
            </a:r>
            <a:r>
              <a:rPr lang="en-US" sz="2000" err="1"/>
              <a:t>có</a:t>
            </a:r>
            <a:r>
              <a:rPr lang="en-US" sz="2000"/>
              <a:t> </a:t>
            </a:r>
            <a:r>
              <a:rPr lang="en-US" sz="2000" err="1"/>
              <a:t>bàn</a:t>
            </a:r>
            <a:r>
              <a:rPr lang="en-US" sz="2000"/>
              <a:t> </a:t>
            </a:r>
            <a:r>
              <a:rPr lang="en-US" sz="2000" err="1"/>
              <a:t>giao</a:t>
            </a:r>
            <a:r>
              <a:rPr lang="en-US" sz="2000"/>
              <a:t> </a:t>
            </a:r>
            <a:r>
              <a:rPr lang="en-US" sz="2000" err="1"/>
              <a:t>như</a:t>
            </a:r>
            <a:r>
              <a:rPr lang="en-US" sz="2000"/>
              <a:t> </a:t>
            </a:r>
            <a:r>
              <a:rPr lang="en-US" sz="2000" err="1"/>
              <a:t>yêu</a:t>
            </a:r>
            <a:r>
              <a:rPr lang="en-US" sz="2000"/>
              <a:t> </a:t>
            </a:r>
            <a:r>
              <a:rPr lang="en-US" sz="2000" err="1"/>
              <a:t>cầu</a:t>
            </a:r>
            <a:r>
              <a:rPr lang="en-US" sz="2000"/>
              <a:t> </a:t>
            </a:r>
            <a:r>
              <a:rPr lang="en-US" sz="2000" err="1"/>
              <a:t>của</a:t>
            </a:r>
            <a:r>
              <a:rPr lang="en-US" sz="2000"/>
              <a:t> </a:t>
            </a:r>
            <a:r>
              <a:rPr lang="en-US" sz="2000" err="1"/>
              <a:t>khách</a:t>
            </a:r>
            <a:r>
              <a:rPr lang="en-US" sz="2000"/>
              <a:t> </a:t>
            </a:r>
            <a:r>
              <a:rPr lang="en-US" sz="2000" err="1"/>
              <a:t>hàng</a:t>
            </a:r>
            <a:r>
              <a:rPr lang="en-US" sz="2000"/>
              <a:t>.</a:t>
            </a:r>
          </a:p>
          <a:p>
            <a:pPr>
              <a:buFont typeface="Wingdings" pitchFamily="2" charset="2"/>
              <a:buChar char="&amp;"/>
            </a:pPr>
            <a:r>
              <a:rPr lang="en-US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Tasks</a:t>
            </a:r>
            <a:endParaRPr lang="en-US" sz="20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lvl="1"/>
            <a:r>
              <a:rPr lang="en-US" sz="2000" err="1"/>
              <a:t>Lập</a:t>
            </a:r>
            <a:r>
              <a:rPr lang="en-US" sz="2000"/>
              <a:t> </a:t>
            </a:r>
            <a:r>
              <a:rPr lang="en-US" sz="2000" err="1"/>
              <a:t>tài</a:t>
            </a:r>
            <a:r>
              <a:rPr lang="en-US" sz="2000"/>
              <a:t> </a:t>
            </a:r>
            <a:r>
              <a:rPr lang="en-US" sz="2000" err="1"/>
              <a:t>liệu</a:t>
            </a:r>
            <a:r>
              <a:rPr lang="en-US" sz="2000"/>
              <a:t> </a:t>
            </a:r>
            <a:r>
              <a:rPr lang="en-US" sz="2000" err="1"/>
              <a:t>của</a:t>
            </a:r>
            <a:r>
              <a:rPr lang="en-US" sz="2000"/>
              <a:t> </a:t>
            </a:r>
            <a:r>
              <a:rPr lang="en-US" sz="2000" err="1"/>
              <a:t>dự</a:t>
            </a:r>
            <a:r>
              <a:rPr lang="en-US" sz="2000"/>
              <a:t> </a:t>
            </a:r>
            <a:r>
              <a:rPr lang="en-US" sz="2000" err="1"/>
              <a:t>án</a:t>
            </a:r>
            <a:r>
              <a:rPr lang="en-US" sz="2000"/>
              <a:t>.</a:t>
            </a:r>
          </a:p>
          <a:p>
            <a:pPr lvl="1"/>
            <a:r>
              <a:rPr lang="en-US" sz="2000" err="1"/>
              <a:t>Kiểm</a:t>
            </a:r>
            <a:r>
              <a:rPr lang="en-US" sz="2000"/>
              <a:t> </a:t>
            </a:r>
            <a:r>
              <a:rPr lang="en-US" sz="2000" err="1"/>
              <a:t>tra</a:t>
            </a:r>
            <a:r>
              <a:rPr lang="en-US" sz="2000"/>
              <a:t> </a:t>
            </a:r>
            <a:r>
              <a:rPr lang="en-US" sz="2000" err="1"/>
              <a:t>sản</a:t>
            </a:r>
            <a:r>
              <a:rPr lang="en-US" sz="2000"/>
              <a:t> </a:t>
            </a:r>
            <a:r>
              <a:rPr lang="en-US" sz="2000" err="1"/>
              <a:t>phẩm</a:t>
            </a:r>
            <a:r>
              <a:rPr lang="en-US" sz="2000"/>
              <a:t>.</a:t>
            </a:r>
          </a:p>
          <a:p>
            <a:pPr lvl="1"/>
            <a:r>
              <a:rPr lang="en-US" sz="2000" err="1"/>
              <a:t>Viết</a:t>
            </a:r>
            <a:r>
              <a:rPr lang="en-US" sz="2000"/>
              <a:t> </a:t>
            </a:r>
            <a:r>
              <a:rPr lang="en-US" sz="2000" err="1"/>
              <a:t>báo</a:t>
            </a:r>
            <a:r>
              <a:rPr lang="en-US" sz="2000"/>
              <a:t> </a:t>
            </a:r>
            <a:r>
              <a:rPr lang="en-US" sz="2000" err="1"/>
              <a:t>cáo</a:t>
            </a:r>
            <a:r>
              <a:rPr lang="en-US" sz="2000"/>
              <a:t>.</a:t>
            </a:r>
          </a:p>
          <a:p>
            <a:pPr>
              <a:buFont typeface="Wingdings" pitchFamily="2" charset="2"/>
              <a:buChar char="&amp;"/>
            </a:pPr>
            <a:r>
              <a:rPr lang="en-US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Reports to</a:t>
            </a:r>
            <a:endParaRPr lang="en-US" sz="20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lvl="1"/>
            <a:r>
              <a:rPr lang="en-US" sz="2000" err="1"/>
              <a:t>Giảng</a:t>
            </a:r>
            <a:r>
              <a:rPr lang="en-US" sz="2000"/>
              <a:t> </a:t>
            </a:r>
            <a:r>
              <a:rPr lang="en-US" sz="2000" err="1"/>
              <a:t>viên</a:t>
            </a:r>
            <a:r>
              <a:rPr lang="en-US" sz="2000"/>
              <a:t> (Product Owner).</a:t>
            </a:r>
          </a:p>
          <a:p>
            <a:pPr lvl="1"/>
            <a:r>
              <a:rPr lang="en-US" sz="2000"/>
              <a:t>Team lead.</a:t>
            </a:r>
          </a:p>
          <a:p>
            <a:pPr lvl="1"/>
            <a:endParaRPr lang="en-US" sz="2000"/>
          </a:p>
          <a:p>
            <a:endParaRPr lang="en-US" sz="20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C5BE9D-E6F7-B586-BEE1-28AEC8C66E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</a:t>
            </a:r>
            <a:r>
              <a:rPr lang="vi-VN"/>
              <a:t> Phân tích thói quen dùng MXH </a:t>
            </a:r>
            <a:r>
              <a:rPr lang="en-US"/>
              <a:t>&gt;&gt;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B578B7-7DD8-AFE3-244F-E6BF57285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71875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Giới thiệu thành viên #3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066800"/>
            <a:ext cx="10972800" cy="5791200"/>
          </a:xfrm>
        </p:spPr>
        <p:txBody>
          <a:bodyPr>
            <a:noAutofit/>
          </a:bodyPr>
          <a:lstStyle/>
          <a:p>
            <a:pPr>
              <a:buFont typeface="Wingdings" pitchFamily="2" charset="2"/>
              <a:buChar char="&amp;"/>
            </a:pPr>
            <a:r>
              <a:rPr lang="vi-VN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Phạm Nguyễn Bảo Thi</a:t>
            </a:r>
            <a:endParaRPr lang="en-US" sz="20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lvl="1"/>
            <a:r>
              <a:rPr lang="en-US" sz="2000"/>
              <a:t>Database Administrator (DBA)</a:t>
            </a:r>
          </a:p>
          <a:p>
            <a:pPr lvl="1"/>
            <a:r>
              <a:rPr lang="en-US" sz="2000"/>
              <a:t>Developer</a:t>
            </a:r>
          </a:p>
          <a:p>
            <a:pPr>
              <a:buFont typeface="Wingdings" pitchFamily="2" charset="2"/>
              <a:buChar char="&amp;"/>
            </a:pPr>
            <a:r>
              <a:rPr lang="en-US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Responsibilities</a:t>
            </a:r>
            <a:endParaRPr lang="en-US" sz="20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lvl="1"/>
            <a:r>
              <a:rPr lang="vi-VN" sz="2000"/>
              <a:t>Lên kế hoạch, cài đặt, cấu hình, quản trị cơ sở dữ liệu</a:t>
            </a:r>
            <a:r>
              <a:rPr lang="en-US" sz="2000"/>
              <a:t>.</a:t>
            </a:r>
          </a:p>
          <a:p>
            <a:pPr lvl="1"/>
            <a:r>
              <a:rPr lang="en-US" sz="2000" err="1"/>
              <a:t>Lên</a:t>
            </a:r>
            <a:r>
              <a:rPr lang="en-US" sz="2000"/>
              <a:t> </a:t>
            </a:r>
            <a:r>
              <a:rPr lang="en-US" sz="2000" err="1"/>
              <a:t>kế</a:t>
            </a:r>
            <a:r>
              <a:rPr lang="en-US" sz="2000"/>
              <a:t> </a:t>
            </a:r>
            <a:r>
              <a:rPr lang="en-US" sz="2000" err="1"/>
              <a:t>hoạch</a:t>
            </a:r>
            <a:r>
              <a:rPr lang="en-US" sz="2000"/>
              <a:t> </a:t>
            </a:r>
            <a:r>
              <a:rPr lang="en-US" sz="2000" err="1"/>
              <a:t>và</a:t>
            </a:r>
            <a:r>
              <a:rPr lang="en-US" sz="2000"/>
              <a:t> </a:t>
            </a:r>
            <a:r>
              <a:rPr lang="en-US" sz="2000" err="1"/>
              <a:t>theo</a:t>
            </a:r>
            <a:r>
              <a:rPr lang="en-US" sz="2000"/>
              <a:t> </a:t>
            </a:r>
            <a:r>
              <a:rPr lang="en-US" sz="2000" err="1"/>
              <a:t>dõi</a:t>
            </a:r>
            <a:r>
              <a:rPr lang="en-US" sz="2000"/>
              <a:t> hay </a:t>
            </a:r>
            <a:r>
              <a:rPr lang="en-US" sz="2000" err="1"/>
              <a:t>phân</a:t>
            </a:r>
            <a:r>
              <a:rPr lang="en-US" sz="2000"/>
              <a:t> </a:t>
            </a:r>
            <a:r>
              <a:rPr lang="en-US" sz="2000" err="1"/>
              <a:t>bổ</a:t>
            </a:r>
            <a:r>
              <a:rPr lang="en-US" sz="2000"/>
              <a:t> </a:t>
            </a:r>
            <a:r>
              <a:rPr lang="en-US" sz="2000" err="1"/>
              <a:t>tài</a:t>
            </a:r>
            <a:r>
              <a:rPr lang="en-US" sz="2000"/>
              <a:t> </a:t>
            </a:r>
            <a:r>
              <a:rPr lang="en-US" sz="2000" err="1"/>
              <a:t>nguyên</a:t>
            </a:r>
            <a:r>
              <a:rPr lang="en-US" sz="2000"/>
              <a:t> </a:t>
            </a:r>
            <a:r>
              <a:rPr lang="en-US" sz="2000" err="1"/>
              <a:t>một</a:t>
            </a:r>
            <a:r>
              <a:rPr lang="en-US" sz="2000"/>
              <a:t> </a:t>
            </a:r>
            <a:r>
              <a:rPr lang="en-US" sz="2000" err="1"/>
              <a:t>cách</a:t>
            </a:r>
            <a:r>
              <a:rPr lang="en-US" sz="2000"/>
              <a:t> </a:t>
            </a:r>
            <a:r>
              <a:rPr lang="en-US" sz="2000" err="1"/>
              <a:t>hợp</a:t>
            </a:r>
            <a:r>
              <a:rPr lang="en-US" sz="2000"/>
              <a:t> </a:t>
            </a:r>
            <a:r>
              <a:rPr lang="en-US" sz="2000" err="1"/>
              <a:t>lý</a:t>
            </a:r>
            <a:r>
              <a:rPr lang="en-US" sz="2000"/>
              <a:t>.</a:t>
            </a:r>
          </a:p>
          <a:p>
            <a:pPr lvl="1"/>
            <a:r>
              <a:rPr lang="vi-VN" sz="2000"/>
              <a:t>Quản trị, tối ưu hóa hiệu suất của dữ liệu</a:t>
            </a:r>
            <a:r>
              <a:rPr lang="en-US" sz="2000"/>
              <a:t>.</a:t>
            </a:r>
          </a:p>
          <a:p>
            <a:pPr>
              <a:buFont typeface="Wingdings" pitchFamily="2" charset="2"/>
              <a:buChar char="&amp;"/>
            </a:pPr>
            <a:r>
              <a:rPr lang="en-US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Tasks</a:t>
            </a:r>
            <a:endParaRPr lang="en-US" sz="20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lvl="1"/>
            <a:r>
              <a:rPr lang="en-US" sz="2000" err="1"/>
              <a:t>Thiết</a:t>
            </a:r>
            <a:r>
              <a:rPr lang="en-US" sz="2000"/>
              <a:t> </a:t>
            </a:r>
            <a:r>
              <a:rPr lang="en-US" sz="2000" err="1"/>
              <a:t>kế</a:t>
            </a:r>
            <a:r>
              <a:rPr lang="en-US" sz="2000"/>
              <a:t> </a:t>
            </a:r>
            <a:r>
              <a:rPr lang="en-US" sz="2000" err="1"/>
              <a:t>hệ</a:t>
            </a:r>
            <a:r>
              <a:rPr lang="en-US" sz="2000"/>
              <a:t> </a:t>
            </a:r>
            <a:r>
              <a:rPr lang="en-US" sz="2000" err="1"/>
              <a:t>thống</a:t>
            </a:r>
            <a:r>
              <a:rPr lang="en-US" sz="2000"/>
              <a:t> database </a:t>
            </a:r>
            <a:r>
              <a:rPr lang="en-US" sz="2000" err="1"/>
              <a:t>lưu</a:t>
            </a:r>
            <a:r>
              <a:rPr lang="en-US" sz="2000"/>
              <a:t> </a:t>
            </a:r>
            <a:r>
              <a:rPr lang="en-US" sz="2000" err="1"/>
              <a:t>trữ</a:t>
            </a:r>
            <a:r>
              <a:rPr lang="en-US" sz="2000"/>
              <a:t>.</a:t>
            </a:r>
          </a:p>
          <a:p>
            <a:pPr lvl="1"/>
            <a:r>
              <a:rPr lang="en-US" sz="2000" err="1"/>
              <a:t>Tạo</a:t>
            </a:r>
            <a:r>
              <a:rPr lang="en-US" sz="2000"/>
              <a:t> calculated column.</a:t>
            </a:r>
          </a:p>
          <a:p>
            <a:pPr lvl="1"/>
            <a:r>
              <a:rPr lang="en-US" sz="2000" err="1"/>
              <a:t>Trực</a:t>
            </a:r>
            <a:r>
              <a:rPr lang="en-US" sz="2000"/>
              <a:t> </a:t>
            </a:r>
            <a:r>
              <a:rPr lang="en-US" sz="2000" err="1"/>
              <a:t>quan</a:t>
            </a:r>
            <a:r>
              <a:rPr lang="en-US" sz="2000"/>
              <a:t> </a:t>
            </a:r>
            <a:r>
              <a:rPr lang="en-US" sz="2000" err="1"/>
              <a:t>hóa</a:t>
            </a:r>
            <a:r>
              <a:rPr lang="en-US" sz="2000"/>
              <a:t> </a:t>
            </a:r>
            <a:r>
              <a:rPr lang="en-US" sz="2000" err="1"/>
              <a:t>dữ</a:t>
            </a:r>
            <a:r>
              <a:rPr lang="en-US" sz="2000"/>
              <a:t> </a:t>
            </a:r>
            <a:r>
              <a:rPr lang="en-US" sz="2000" err="1"/>
              <a:t>liệu</a:t>
            </a:r>
            <a:r>
              <a:rPr lang="en-US" sz="2000"/>
              <a:t>.</a:t>
            </a:r>
          </a:p>
          <a:p>
            <a:pPr>
              <a:buFont typeface="Wingdings" pitchFamily="2" charset="2"/>
              <a:buChar char="&amp;"/>
            </a:pPr>
            <a:r>
              <a:rPr lang="en-US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Reports to</a:t>
            </a:r>
            <a:endParaRPr lang="en-US" sz="20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lvl="1"/>
            <a:r>
              <a:rPr lang="en-US" sz="2000"/>
              <a:t>Team lead.</a:t>
            </a:r>
          </a:p>
          <a:p>
            <a:pPr lvl="1"/>
            <a:endParaRPr lang="en-US" sz="2000"/>
          </a:p>
          <a:p>
            <a:endParaRPr lang="en-US" sz="20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65A286-5970-3832-92AD-2D980B626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</a:t>
            </a:r>
            <a:r>
              <a:rPr lang="vi-VN"/>
              <a:t>Phân tích thói quen dùng MXH</a:t>
            </a:r>
            <a:r>
              <a:rPr lang="en-US"/>
              <a:t>&gt;&gt;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1E71D5-23CE-461A-6651-8E8E004655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76295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E057C-1B23-9BA2-0FBC-65C6097884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547C30-A84C-BA04-2221-95324660F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Giới thiệu thành viên #</a:t>
            </a:r>
            <a:r>
              <a:rPr lang="en-US">
                <a:latin typeface="Segoe UI"/>
                <a:cs typeface="Segoe UI"/>
              </a:rPr>
              <a:t>4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84F8E6-897C-D617-FE94-CC61338BB6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066800"/>
            <a:ext cx="10972800" cy="5791200"/>
          </a:xfrm>
        </p:spPr>
        <p:txBody>
          <a:bodyPr>
            <a:noAutofit/>
          </a:bodyPr>
          <a:lstStyle/>
          <a:p>
            <a:pPr>
              <a:buFont typeface="Wingdings" pitchFamily="2" charset="2"/>
              <a:buChar char="&amp;"/>
            </a:pPr>
            <a:r>
              <a:rPr lang="vi-VN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Nguyễn Thị Mỹ Huyền</a:t>
            </a:r>
          </a:p>
          <a:p>
            <a:pPr marL="806450">
              <a:buFont typeface="Wingdings" panose="05000000000000000000" pitchFamily="2" charset="2"/>
              <a:buChar char="v"/>
            </a:pPr>
            <a:r>
              <a:rPr lang="en-US" sz="2000"/>
              <a:t>Database Administrator (DBA)</a:t>
            </a:r>
          </a:p>
          <a:p>
            <a:pPr lvl="1"/>
            <a:r>
              <a:rPr lang="en-US" sz="2000"/>
              <a:t>Developer</a:t>
            </a:r>
          </a:p>
          <a:p>
            <a:pPr>
              <a:buFont typeface="Wingdings" pitchFamily="2" charset="2"/>
              <a:buChar char="&amp;"/>
            </a:pPr>
            <a:r>
              <a:rPr lang="en-US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Responsibilities</a:t>
            </a:r>
            <a:endParaRPr lang="en-US" sz="20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lvl="1"/>
            <a:r>
              <a:rPr lang="vi-VN" sz="2000"/>
              <a:t>Lên kế hoạch, cài đặt, cấu hình, quản trị cơ sở dữ liệu</a:t>
            </a:r>
            <a:r>
              <a:rPr lang="en-US" sz="2000"/>
              <a:t>.</a:t>
            </a:r>
          </a:p>
          <a:p>
            <a:pPr lvl="1"/>
            <a:r>
              <a:rPr lang="en-US" sz="2000" err="1"/>
              <a:t>Lên</a:t>
            </a:r>
            <a:r>
              <a:rPr lang="en-US" sz="2000"/>
              <a:t> </a:t>
            </a:r>
            <a:r>
              <a:rPr lang="en-US" sz="2000" err="1"/>
              <a:t>kế</a:t>
            </a:r>
            <a:r>
              <a:rPr lang="en-US" sz="2000"/>
              <a:t> </a:t>
            </a:r>
            <a:r>
              <a:rPr lang="en-US" sz="2000" err="1"/>
              <a:t>hoạch</a:t>
            </a:r>
            <a:r>
              <a:rPr lang="en-US" sz="2000"/>
              <a:t> </a:t>
            </a:r>
            <a:r>
              <a:rPr lang="en-US" sz="2000" err="1"/>
              <a:t>và</a:t>
            </a:r>
            <a:r>
              <a:rPr lang="en-US" sz="2000"/>
              <a:t> </a:t>
            </a:r>
            <a:r>
              <a:rPr lang="en-US" sz="2000" err="1"/>
              <a:t>theo</a:t>
            </a:r>
            <a:r>
              <a:rPr lang="en-US" sz="2000"/>
              <a:t> </a:t>
            </a:r>
            <a:r>
              <a:rPr lang="en-US" sz="2000" err="1"/>
              <a:t>dõi</a:t>
            </a:r>
            <a:r>
              <a:rPr lang="en-US" sz="2000"/>
              <a:t> hay </a:t>
            </a:r>
            <a:r>
              <a:rPr lang="en-US" sz="2000" err="1"/>
              <a:t>phân</a:t>
            </a:r>
            <a:r>
              <a:rPr lang="en-US" sz="2000"/>
              <a:t> </a:t>
            </a:r>
            <a:r>
              <a:rPr lang="en-US" sz="2000" err="1"/>
              <a:t>bổ</a:t>
            </a:r>
            <a:r>
              <a:rPr lang="en-US" sz="2000"/>
              <a:t> </a:t>
            </a:r>
            <a:r>
              <a:rPr lang="en-US" sz="2000" err="1"/>
              <a:t>tài</a:t>
            </a:r>
            <a:r>
              <a:rPr lang="en-US" sz="2000"/>
              <a:t> </a:t>
            </a:r>
            <a:r>
              <a:rPr lang="en-US" sz="2000" err="1"/>
              <a:t>nguyên</a:t>
            </a:r>
            <a:r>
              <a:rPr lang="en-US" sz="2000"/>
              <a:t> </a:t>
            </a:r>
            <a:r>
              <a:rPr lang="en-US" sz="2000" err="1"/>
              <a:t>một</a:t>
            </a:r>
            <a:r>
              <a:rPr lang="en-US" sz="2000"/>
              <a:t> </a:t>
            </a:r>
            <a:r>
              <a:rPr lang="en-US" sz="2000" err="1"/>
              <a:t>cách</a:t>
            </a:r>
            <a:r>
              <a:rPr lang="en-US" sz="2000"/>
              <a:t> </a:t>
            </a:r>
            <a:r>
              <a:rPr lang="en-US" sz="2000" err="1"/>
              <a:t>hợp</a:t>
            </a:r>
            <a:r>
              <a:rPr lang="en-US" sz="2000"/>
              <a:t> </a:t>
            </a:r>
            <a:r>
              <a:rPr lang="en-US" sz="2000" err="1"/>
              <a:t>lý</a:t>
            </a:r>
            <a:r>
              <a:rPr lang="en-US" sz="2000"/>
              <a:t>.</a:t>
            </a:r>
          </a:p>
          <a:p>
            <a:pPr lvl="1"/>
            <a:r>
              <a:rPr lang="vi-VN" sz="2000"/>
              <a:t>Quản trị, tối ưu hóa hiệu suất của dữ liệu</a:t>
            </a:r>
            <a:r>
              <a:rPr lang="en-US" sz="2000"/>
              <a:t>.</a:t>
            </a:r>
          </a:p>
          <a:p>
            <a:pPr>
              <a:buFont typeface="Wingdings" pitchFamily="2" charset="2"/>
              <a:buChar char="&amp;"/>
            </a:pPr>
            <a:r>
              <a:rPr lang="en-US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Tasks</a:t>
            </a:r>
            <a:endParaRPr lang="en-US" sz="20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lvl="1"/>
            <a:r>
              <a:rPr lang="en-US" sz="2000" err="1"/>
              <a:t>Thiết</a:t>
            </a:r>
            <a:r>
              <a:rPr lang="en-US" sz="2000"/>
              <a:t> </a:t>
            </a:r>
            <a:r>
              <a:rPr lang="en-US" sz="2000" err="1"/>
              <a:t>kế</a:t>
            </a:r>
            <a:r>
              <a:rPr lang="en-US" sz="2000"/>
              <a:t> </a:t>
            </a:r>
            <a:r>
              <a:rPr lang="en-US" sz="2000" err="1"/>
              <a:t>hệ</a:t>
            </a:r>
            <a:r>
              <a:rPr lang="en-US" sz="2000"/>
              <a:t> </a:t>
            </a:r>
            <a:r>
              <a:rPr lang="en-US" sz="2000" err="1"/>
              <a:t>thống</a:t>
            </a:r>
            <a:r>
              <a:rPr lang="en-US" sz="2000"/>
              <a:t> database </a:t>
            </a:r>
            <a:r>
              <a:rPr lang="en-US" sz="2000" err="1"/>
              <a:t>lưu</a:t>
            </a:r>
            <a:r>
              <a:rPr lang="en-US" sz="2000"/>
              <a:t> </a:t>
            </a:r>
            <a:r>
              <a:rPr lang="en-US" sz="2000" err="1"/>
              <a:t>trữ</a:t>
            </a:r>
            <a:r>
              <a:rPr lang="en-US" sz="2000"/>
              <a:t>.</a:t>
            </a:r>
          </a:p>
          <a:p>
            <a:pPr lvl="1"/>
            <a:r>
              <a:rPr lang="en-US" sz="2000" err="1"/>
              <a:t>Tạo</a:t>
            </a:r>
            <a:r>
              <a:rPr lang="en-US" sz="2000"/>
              <a:t> calculated column.</a:t>
            </a:r>
          </a:p>
          <a:p>
            <a:pPr lvl="1"/>
            <a:r>
              <a:rPr lang="en-US" sz="2000" err="1"/>
              <a:t>Trực</a:t>
            </a:r>
            <a:r>
              <a:rPr lang="en-US" sz="2000"/>
              <a:t> </a:t>
            </a:r>
            <a:r>
              <a:rPr lang="en-US" sz="2000" err="1"/>
              <a:t>quan</a:t>
            </a:r>
            <a:r>
              <a:rPr lang="en-US" sz="2000"/>
              <a:t> </a:t>
            </a:r>
            <a:r>
              <a:rPr lang="en-US" sz="2000" err="1"/>
              <a:t>hóa</a:t>
            </a:r>
            <a:r>
              <a:rPr lang="en-US" sz="2000"/>
              <a:t> </a:t>
            </a:r>
            <a:r>
              <a:rPr lang="en-US" sz="2000" err="1"/>
              <a:t>dữ</a:t>
            </a:r>
            <a:r>
              <a:rPr lang="en-US" sz="2000"/>
              <a:t> </a:t>
            </a:r>
            <a:r>
              <a:rPr lang="en-US" sz="2000" err="1"/>
              <a:t>liệu</a:t>
            </a:r>
            <a:r>
              <a:rPr lang="en-US" sz="2000"/>
              <a:t>.</a:t>
            </a:r>
          </a:p>
          <a:p>
            <a:pPr>
              <a:buFont typeface="Wingdings" pitchFamily="2" charset="2"/>
              <a:buChar char="&amp;"/>
            </a:pPr>
            <a:r>
              <a:rPr lang="en-US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Reports to</a:t>
            </a:r>
            <a:endParaRPr lang="en-US" sz="20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lvl="1"/>
            <a:r>
              <a:rPr lang="en-US" sz="2000"/>
              <a:t>Team lead.</a:t>
            </a:r>
          </a:p>
          <a:p>
            <a:pPr lvl="1"/>
            <a:endParaRPr lang="en-US" sz="2000"/>
          </a:p>
          <a:p>
            <a:endParaRPr lang="en-US" sz="20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8F6A32-9AF2-769D-88B0-5F6745C31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</a:t>
            </a:r>
            <a:r>
              <a:rPr lang="vi-VN"/>
              <a:t> Phân tích thói quen dùng MXH </a:t>
            </a:r>
            <a:r>
              <a:rPr lang="en-US"/>
              <a:t>&gt;&gt;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CCDFB5-A643-D66D-50E7-5866A0123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71319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AB25AE-241F-86D1-4E31-A42BA44150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D4EB05-7249-78D1-E25A-BE63C09358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Giới thiệu thành viên #</a:t>
            </a:r>
            <a:r>
              <a:rPr lang="en-US">
                <a:latin typeface="Segoe UI"/>
                <a:cs typeface="Segoe UI"/>
              </a:rPr>
              <a:t>5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5CE8BC-81AE-D269-8B54-B160C19980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066800"/>
            <a:ext cx="10972800" cy="5791200"/>
          </a:xfrm>
        </p:spPr>
        <p:txBody>
          <a:bodyPr>
            <a:noAutofit/>
          </a:bodyPr>
          <a:lstStyle/>
          <a:p>
            <a:pPr>
              <a:buFont typeface="Wingdings" pitchFamily="2" charset="2"/>
              <a:buChar char="&amp;"/>
            </a:pPr>
            <a:r>
              <a:rPr lang="vi-VN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Nguyễn Quốc Hưng</a:t>
            </a:r>
            <a:endParaRPr lang="en-US" sz="20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lvl="1"/>
            <a:r>
              <a:rPr lang="en-US" sz="2000"/>
              <a:t>Database Administrator (DBA)</a:t>
            </a:r>
          </a:p>
          <a:p>
            <a:pPr lvl="1"/>
            <a:r>
              <a:rPr lang="en-US" sz="2000"/>
              <a:t>Developer</a:t>
            </a:r>
          </a:p>
          <a:p>
            <a:pPr>
              <a:buFont typeface="Wingdings" pitchFamily="2" charset="2"/>
              <a:buChar char="&amp;"/>
            </a:pPr>
            <a:r>
              <a:rPr lang="en-US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Responsibilities</a:t>
            </a:r>
            <a:endParaRPr lang="en-US" sz="20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lvl="1"/>
            <a:r>
              <a:rPr lang="vi-VN" sz="2000"/>
              <a:t>Lên kế hoạch, cài đặt, cấu hình, quản trị cơ sở dữ liệu</a:t>
            </a:r>
            <a:r>
              <a:rPr lang="en-US" sz="2000"/>
              <a:t>.</a:t>
            </a:r>
          </a:p>
          <a:p>
            <a:pPr lvl="1"/>
            <a:r>
              <a:rPr lang="en-US" sz="2000" err="1"/>
              <a:t>Lên</a:t>
            </a:r>
            <a:r>
              <a:rPr lang="en-US" sz="2000"/>
              <a:t> </a:t>
            </a:r>
            <a:r>
              <a:rPr lang="en-US" sz="2000" err="1"/>
              <a:t>kế</a:t>
            </a:r>
            <a:r>
              <a:rPr lang="en-US" sz="2000"/>
              <a:t> </a:t>
            </a:r>
            <a:r>
              <a:rPr lang="en-US" sz="2000" err="1"/>
              <a:t>hoạch</a:t>
            </a:r>
            <a:r>
              <a:rPr lang="en-US" sz="2000"/>
              <a:t> </a:t>
            </a:r>
            <a:r>
              <a:rPr lang="en-US" sz="2000" err="1"/>
              <a:t>và</a:t>
            </a:r>
            <a:r>
              <a:rPr lang="en-US" sz="2000"/>
              <a:t> </a:t>
            </a:r>
            <a:r>
              <a:rPr lang="en-US" sz="2000" err="1"/>
              <a:t>theo</a:t>
            </a:r>
            <a:r>
              <a:rPr lang="en-US" sz="2000"/>
              <a:t> </a:t>
            </a:r>
            <a:r>
              <a:rPr lang="en-US" sz="2000" err="1"/>
              <a:t>dõi</a:t>
            </a:r>
            <a:r>
              <a:rPr lang="en-US" sz="2000"/>
              <a:t> hay </a:t>
            </a:r>
            <a:r>
              <a:rPr lang="en-US" sz="2000" err="1"/>
              <a:t>phân</a:t>
            </a:r>
            <a:r>
              <a:rPr lang="en-US" sz="2000"/>
              <a:t> </a:t>
            </a:r>
            <a:r>
              <a:rPr lang="en-US" sz="2000" err="1"/>
              <a:t>bổ</a:t>
            </a:r>
            <a:r>
              <a:rPr lang="en-US" sz="2000"/>
              <a:t> </a:t>
            </a:r>
            <a:r>
              <a:rPr lang="en-US" sz="2000" err="1"/>
              <a:t>tài</a:t>
            </a:r>
            <a:r>
              <a:rPr lang="en-US" sz="2000"/>
              <a:t> </a:t>
            </a:r>
            <a:r>
              <a:rPr lang="en-US" sz="2000" err="1"/>
              <a:t>nguyên</a:t>
            </a:r>
            <a:r>
              <a:rPr lang="en-US" sz="2000"/>
              <a:t> </a:t>
            </a:r>
            <a:r>
              <a:rPr lang="en-US" sz="2000" err="1"/>
              <a:t>một</a:t>
            </a:r>
            <a:r>
              <a:rPr lang="en-US" sz="2000"/>
              <a:t> </a:t>
            </a:r>
            <a:r>
              <a:rPr lang="en-US" sz="2000" err="1"/>
              <a:t>cách</a:t>
            </a:r>
            <a:r>
              <a:rPr lang="en-US" sz="2000"/>
              <a:t> </a:t>
            </a:r>
            <a:r>
              <a:rPr lang="en-US" sz="2000" err="1"/>
              <a:t>hợp</a:t>
            </a:r>
            <a:r>
              <a:rPr lang="en-US" sz="2000"/>
              <a:t> </a:t>
            </a:r>
            <a:r>
              <a:rPr lang="en-US" sz="2000" err="1"/>
              <a:t>lý</a:t>
            </a:r>
            <a:r>
              <a:rPr lang="en-US" sz="2000"/>
              <a:t>.</a:t>
            </a:r>
          </a:p>
          <a:p>
            <a:pPr lvl="1"/>
            <a:r>
              <a:rPr lang="vi-VN" sz="2000"/>
              <a:t>Quản trị, tối ưu hóa hiệu suất của dữ liệu</a:t>
            </a:r>
            <a:r>
              <a:rPr lang="en-US" sz="2000"/>
              <a:t>.</a:t>
            </a:r>
          </a:p>
          <a:p>
            <a:pPr>
              <a:buFont typeface="Wingdings" pitchFamily="2" charset="2"/>
              <a:buChar char="&amp;"/>
            </a:pPr>
            <a:r>
              <a:rPr lang="en-US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Tasks</a:t>
            </a:r>
            <a:endParaRPr lang="en-US" sz="20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lvl="1"/>
            <a:r>
              <a:rPr lang="en-US" sz="2000" err="1"/>
              <a:t>Thiết</a:t>
            </a:r>
            <a:r>
              <a:rPr lang="en-US" sz="2000"/>
              <a:t> </a:t>
            </a:r>
            <a:r>
              <a:rPr lang="en-US" sz="2000" err="1"/>
              <a:t>kế</a:t>
            </a:r>
            <a:r>
              <a:rPr lang="en-US" sz="2000"/>
              <a:t> </a:t>
            </a:r>
            <a:r>
              <a:rPr lang="en-US" sz="2000" err="1"/>
              <a:t>hệ</a:t>
            </a:r>
            <a:r>
              <a:rPr lang="en-US" sz="2000"/>
              <a:t> </a:t>
            </a:r>
            <a:r>
              <a:rPr lang="en-US" sz="2000" err="1"/>
              <a:t>thống</a:t>
            </a:r>
            <a:r>
              <a:rPr lang="en-US" sz="2000"/>
              <a:t> database </a:t>
            </a:r>
            <a:r>
              <a:rPr lang="en-US" sz="2000" err="1"/>
              <a:t>lưu</a:t>
            </a:r>
            <a:r>
              <a:rPr lang="en-US" sz="2000"/>
              <a:t> </a:t>
            </a:r>
            <a:r>
              <a:rPr lang="en-US" sz="2000" err="1"/>
              <a:t>trữ</a:t>
            </a:r>
            <a:r>
              <a:rPr lang="en-US" sz="2000"/>
              <a:t>.</a:t>
            </a:r>
          </a:p>
          <a:p>
            <a:pPr lvl="1"/>
            <a:r>
              <a:rPr lang="en-US" sz="2000" err="1"/>
              <a:t>Tạo</a:t>
            </a:r>
            <a:r>
              <a:rPr lang="en-US" sz="2000"/>
              <a:t> calculated column.</a:t>
            </a:r>
          </a:p>
          <a:p>
            <a:pPr lvl="1"/>
            <a:r>
              <a:rPr lang="en-US" sz="2000" err="1"/>
              <a:t>Trực</a:t>
            </a:r>
            <a:r>
              <a:rPr lang="en-US" sz="2000"/>
              <a:t> </a:t>
            </a:r>
            <a:r>
              <a:rPr lang="en-US" sz="2000" err="1"/>
              <a:t>quan</a:t>
            </a:r>
            <a:r>
              <a:rPr lang="en-US" sz="2000"/>
              <a:t> </a:t>
            </a:r>
            <a:r>
              <a:rPr lang="en-US" sz="2000" err="1"/>
              <a:t>hóa</a:t>
            </a:r>
            <a:r>
              <a:rPr lang="en-US" sz="2000"/>
              <a:t> </a:t>
            </a:r>
            <a:r>
              <a:rPr lang="en-US" sz="2000" err="1"/>
              <a:t>dữ</a:t>
            </a:r>
            <a:r>
              <a:rPr lang="en-US" sz="2000"/>
              <a:t> </a:t>
            </a:r>
            <a:r>
              <a:rPr lang="en-US" sz="2000" err="1"/>
              <a:t>liệu</a:t>
            </a:r>
            <a:r>
              <a:rPr lang="en-US" sz="2000"/>
              <a:t>.</a:t>
            </a:r>
          </a:p>
          <a:p>
            <a:pPr>
              <a:buFont typeface="Wingdings" pitchFamily="2" charset="2"/>
              <a:buChar char="&amp;"/>
            </a:pPr>
            <a:r>
              <a:rPr lang="en-US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Reports to</a:t>
            </a:r>
            <a:endParaRPr lang="en-US" sz="20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lvl="1"/>
            <a:r>
              <a:rPr lang="en-US" sz="2000"/>
              <a:t>Team lead.</a:t>
            </a:r>
          </a:p>
          <a:p>
            <a:pPr lvl="1"/>
            <a:endParaRPr lang="en-US" sz="2000"/>
          </a:p>
          <a:p>
            <a:endParaRPr lang="en-US" sz="20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01A54D-BED9-28E1-07FE-84C2569E5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</a:t>
            </a:r>
            <a:r>
              <a:rPr lang="vi-VN"/>
              <a:t> Phân tích thói quen dùng MXH </a:t>
            </a:r>
            <a:r>
              <a:rPr lang="en-US"/>
              <a:t>&gt;&gt;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CA0861-867B-6752-CB30-CFE760C61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66135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3657600" y="2967335"/>
            <a:ext cx="4653838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glow" dir="tl">
                <a:rot lat="0" lon="0" rev="5400000"/>
              </a:lightRig>
            </a:scene3d>
            <a:sp3d contourW="12700">
              <a:bevelT w="25400" h="25400"/>
              <a:contourClr>
                <a:schemeClr val="accent6">
                  <a:shade val="73000"/>
                </a:schemeClr>
              </a:contourClr>
            </a:sp3d>
          </a:bodyPr>
          <a:lstStyle/>
          <a:p>
            <a:r>
              <a:rPr lang="en-US" sz="5400" b="1" cap="small">
                <a:ln w="11430"/>
                <a:gradFill>
                  <a:gsLst>
                    <a:gs pos="0">
                      <a:schemeClr val="accent6">
                        <a:tint val="90000"/>
                        <a:satMod val="120000"/>
                      </a:schemeClr>
                    </a:gs>
                    <a:gs pos="25000">
                      <a:schemeClr val="accent6">
                        <a:tint val="93000"/>
                        <a:satMod val="120000"/>
                      </a:schemeClr>
                    </a:gs>
                    <a:gs pos="50000">
                      <a:schemeClr val="accent6">
                        <a:shade val="89000"/>
                        <a:satMod val="110000"/>
                      </a:schemeClr>
                    </a:gs>
                    <a:gs pos="75000">
                      <a:schemeClr val="accent6">
                        <a:tint val="93000"/>
                        <a:satMod val="120000"/>
                      </a:schemeClr>
                    </a:gs>
                    <a:gs pos="100000">
                      <a:schemeClr val="accent6">
                        <a:tint val="90000"/>
                        <a:satMod val="120000"/>
                      </a:schemeClr>
                    </a:gs>
                  </a:gsLst>
                  <a:lin ang="5400000"/>
                </a:gradFill>
                <a:effectLst>
                  <a:outerShdw blurRad="80000" dist="40000" dir="5040000" algn="tl">
                    <a:srgbClr val="000000">
                      <a:alpha val="30000"/>
                    </a:srgbClr>
                  </a:outerShdw>
                </a:effectLst>
              </a:rPr>
              <a:t>Giới thiệu dự án</a:t>
            </a:r>
          </a:p>
        </p:txBody>
      </p:sp>
      <p:cxnSp>
        <p:nvCxnSpPr>
          <p:cNvPr id="3" name="Straight Connector 2"/>
          <p:cNvCxnSpPr/>
          <p:nvPr/>
        </p:nvCxnSpPr>
        <p:spPr>
          <a:xfrm>
            <a:off x="762000" y="3886200"/>
            <a:ext cx="10744200" cy="0"/>
          </a:xfrm>
          <a:prstGeom prst="line">
            <a:avLst/>
          </a:prstGeom>
          <a:ln w="76200" cmpd="thinThick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C6B99B34-DDF0-4FAD-F970-26CF03DDE9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</a:t>
            </a:r>
            <a:r>
              <a:rPr lang="vi-VN"/>
              <a:t> Phân tích thói quen dùng MXH </a:t>
            </a:r>
            <a:r>
              <a:rPr lang="en-US"/>
              <a:t>&gt;&gt;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E79145-A4D9-F73A-529C-38044F5F7B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48705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Giới thiệu dự án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066800"/>
            <a:ext cx="10972800" cy="5257800"/>
          </a:xfrm>
        </p:spPr>
        <p:txBody>
          <a:bodyPr vert="horz" lIns="91440" tIns="45720" rIns="91440" bIns="45720" rtlCol="0" anchor="t">
            <a:noAutofit/>
          </a:bodyPr>
          <a:lstStyle/>
          <a:p>
            <a:pPr>
              <a:buFont typeface="Wingdings" pitchFamily="2" charset="2"/>
              <a:buChar char="&amp;"/>
            </a:pPr>
            <a:r>
              <a:rPr lang="en-US" sz="2400" b="1" dirty="0" err="1"/>
              <a:t>Hiện</a:t>
            </a:r>
            <a:r>
              <a:rPr lang="en-US" sz="2400" b="1" dirty="0"/>
              <a:t> </a:t>
            </a:r>
            <a:r>
              <a:rPr lang="en-US" sz="2400" b="1" dirty="0" err="1"/>
              <a:t>trạng</a:t>
            </a:r>
            <a:r>
              <a:rPr lang="en-US" sz="2400" b="1" dirty="0"/>
              <a:t> </a:t>
            </a:r>
            <a:r>
              <a:rPr lang="en-US" sz="2400" b="1" dirty="0" err="1"/>
              <a:t>khách</a:t>
            </a:r>
            <a:r>
              <a:rPr lang="en-US" sz="2400" b="1" dirty="0"/>
              <a:t> </a:t>
            </a:r>
            <a:r>
              <a:rPr lang="vi-VN" sz="2400" b="1" dirty="0"/>
              <a:t>hàng </a:t>
            </a:r>
            <a:endParaRPr lang="en-US" sz="2400" dirty="0"/>
          </a:p>
          <a:p>
            <a:pPr lvl="1"/>
            <a:r>
              <a:rPr lang="vi-VN" dirty="0">
                <a:latin typeface="Segoe UI"/>
                <a:cs typeface="Segoe UI"/>
              </a:rPr>
              <a:t>Ở </a:t>
            </a:r>
            <a:r>
              <a:rPr lang="en-US" dirty="0" err="1">
                <a:latin typeface="Segoe UI"/>
                <a:cs typeface="Segoe UI"/>
              </a:rPr>
              <a:t>tổ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chức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giáo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dục</a:t>
            </a:r>
            <a:r>
              <a:rPr lang="en-US" dirty="0">
                <a:latin typeface="Segoe UI"/>
                <a:cs typeface="Segoe UI"/>
              </a:rPr>
              <a:t> </a:t>
            </a:r>
            <a:r>
              <a:rPr lang="vi-VN" dirty="0">
                <a:latin typeface="Segoe UI"/>
                <a:cs typeface="Segoe UI"/>
              </a:rPr>
              <a:t>ÚC</a:t>
            </a:r>
            <a:r>
              <a:rPr lang="en-US" dirty="0">
                <a:latin typeface="Segoe UI"/>
                <a:cs typeface="Segoe UI"/>
              </a:rPr>
              <a:t> QTS Australia</a:t>
            </a:r>
            <a:r>
              <a:rPr lang="vi-VN" dirty="0">
                <a:latin typeface="Segoe UI"/>
                <a:cs typeface="Segoe UI"/>
              </a:rPr>
              <a:t> , </a:t>
            </a:r>
            <a:r>
              <a:rPr lang="en-US" dirty="0">
                <a:latin typeface="Segoe UI"/>
                <a:cs typeface="Segoe UI"/>
              </a:rPr>
              <a:t>Ban </a:t>
            </a:r>
            <a:r>
              <a:rPr lang="en-US" dirty="0" err="1">
                <a:latin typeface="Segoe UI"/>
                <a:cs typeface="Segoe UI"/>
              </a:rPr>
              <a:t>Giám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hiệu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hoặc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Phòng</a:t>
            </a:r>
            <a:r>
              <a:rPr lang="en-US" dirty="0">
                <a:latin typeface="Segoe UI"/>
                <a:cs typeface="Segoe UI"/>
              </a:rPr>
              <a:t> Công </a:t>
            </a:r>
            <a:r>
              <a:rPr lang="vi-VN" dirty="0">
                <a:latin typeface="Segoe UI"/>
                <a:cs typeface="Segoe UI"/>
              </a:rPr>
              <a:t>t</a:t>
            </a:r>
            <a:r>
              <a:rPr lang="en-US" dirty="0" err="1">
                <a:latin typeface="Segoe UI"/>
                <a:cs typeface="Segoe UI"/>
              </a:rPr>
              <a:t>ác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vi-VN" dirty="0">
                <a:latin typeface="Segoe UI"/>
                <a:cs typeface="Segoe UI"/>
              </a:rPr>
              <a:t>s</a:t>
            </a:r>
            <a:r>
              <a:rPr lang="en-US" dirty="0" err="1">
                <a:latin typeface="Segoe UI"/>
                <a:cs typeface="Segoe UI"/>
              </a:rPr>
              <a:t>inh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viên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đang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muốn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hiểu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rõ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tác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động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của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mạng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xã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hội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đến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sinh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viên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để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đưa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ra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các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chương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trình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tuyên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truyền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hợp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lý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nhầm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tác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động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nâng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cao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chất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lượng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học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tập</a:t>
            </a:r>
            <a:r>
              <a:rPr lang="en-US" dirty="0">
                <a:latin typeface="Segoe UI"/>
                <a:cs typeface="Segoe UI"/>
              </a:rPr>
              <a:t>, </a:t>
            </a:r>
            <a:r>
              <a:rPr lang="en-US" dirty="0" err="1">
                <a:latin typeface="Segoe UI"/>
                <a:cs typeface="Segoe UI"/>
              </a:rPr>
              <a:t>sức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khỏe</a:t>
            </a:r>
            <a:r>
              <a:rPr lang="en-US" dirty="0">
                <a:latin typeface="Segoe UI"/>
                <a:cs typeface="Segoe UI"/>
              </a:rPr>
              <a:t>, </a:t>
            </a:r>
            <a:r>
              <a:rPr lang="en-US" dirty="0" err="1">
                <a:latin typeface="Segoe UI"/>
                <a:cs typeface="Segoe UI"/>
              </a:rPr>
              <a:t>quản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lý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thời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gian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sử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dụng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vi-VN" dirty="0">
                <a:latin typeface="Segoe UI"/>
                <a:cs typeface="Segoe UI"/>
              </a:rPr>
              <a:t>mạng.</a:t>
            </a:r>
            <a:endParaRPr lang="en-US" dirty="0">
              <a:latin typeface="Segoe UI"/>
              <a:cs typeface="Segoe UI"/>
            </a:endParaRPr>
          </a:p>
          <a:p>
            <a:pPr>
              <a:buFont typeface="Wingdings" pitchFamily="2" charset="2"/>
              <a:buChar char="&amp;"/>
            </a:pPr>
            <a:r>
              <a:rPr lang="en-US" sz="2400" b="1" dirty="0"/>
              <a:t>Thông tin </a:t>
            </a:r>
            <a:r>
              <a:rPr lang="en-US" sz="2400" b="1" dirty="0" err="1"/>
              <a:t>dữ</a:t>
            </a:r>
            <a:r>
              <a:rPr lang="en-US" sz="2400" b="1" dirty="0"/>
              <a:t> </a:t>
            </a:r>
            <a:r>
              <a:rPr lang="en-US" sz="2400" b="1" dirty="0" err="1"/>
              <a:t>liệu</a:t>
            </a:r>
            <a:r>
              <a:rPr lang="en-US" sz="2400" b="1" dirty="0"/>
              <a:t> </a:t>
            </a:r>
            <a:r>
              <a:rPr lang="en-US" sz="2400" b="1" dirty="0" err="1"/>
              <a:t>là</a:t>
            </a:r>
            <a:r>
              <a:rPr lang="en-US" sz="2400" b="1" dirty="0"/>
              <a:t> </a:t>
            </a:r>
            <a:endParaRPr lang="en-US" sz="2400" dirty="0"/>
          </a:p>
          <a:p>
            <a:pPr lvl="1"/>
            <a:r>
              <a:rPr lang="en-US" dirty="0" err="1">
                <a:latin typeface="Segoe UI"/>
                <a:cs typeface="Segoe UI"/>
              </a:rPr>
              <a:t>Tên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bộ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dữ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liệu</a:t>
            </a:r>
            <a:r>
              <a:rPr lang="en-US" dirty="0">
                <a:latin typeface="Segoe UI"/>
                <a:cs typeface="Segoe UI"/>
              </a:rPr>
              <a:t>: Students Social Media Addiction.csv</a:t>
            </a:r>
          </a:p>
          <a:p>
            <a:pPr lvl="1"/>
            <a:r>
              <a:rPr lang="en-US" dirty="0" err="1">
                <a:latin typeface="Segoe UI"/>
                <a:cs typeface="Segoe UI"/>
              </a:rPr>
              <a:t>Nguồn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dữ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liệu</a:t>
            </a:r>
            <a:r>
              <a:rPr lang="en-US" dirty="0">
                <a:latin typeface="Segoe UI"/>
                <a:cs typeface="Segoe UI"/>
              </a:rPr>
              <a:t>: kaggle.com</a:t>
            </a:r>
            <a:endParaRPr lang="vi-VN" dirty="0">
              <a:latin typeface="Segoe UI"/>
              <a:cs typeface="Segoe UI"/>
            </a:endParaRPr>
          </a:p>
          <a:p>
            <a:pPr lvl="1"/>
            <a:r>
              <a:rPr lang="en-US" dirty="0" err="1">
                <a:latin typeface="Segoe UI"/>
                <a:cs typeface="Segoe UI"/>
              </a:rPr>
              <a:t>Số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lượng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bản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ghi</a:t>
            </a:r>
            <a:r>
              <a:rPr lang="en-US" dirty="0">
                <a:latin typeface="Segoe UI"/>
                <a:cs typeface="Segoe UI"/>
              </a:rPr>
              <a:t>: 705 </a:t>
            </a:r>
            <a:r>
              <a:rPr lang="en-US" dirty="0" err="1">
                <a:latin typeface="Segoe UI"/>
                <a:cs typeface="Segoe UI"/>
              </a:rPr>
              <a:t>bản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ghi</a:t>
            </a:r>
            <a:r>
              <a:rPr lang="en-US" dirty="0">
                <a:latin typeface="Segoe UI"/>
                <a:cs typeface="Segoe UI"/>
              </a:rPr>
              <a:t> ( </a:t>
            </a:r>
            <a:r>
              <a:rPr lang="en-US" dirty="0" err="1">
                <a:latin typeface="Segoe UI"/>
                <a:cs typeface="Segoe UI"/>
              </a:rPr>
              <a:t>tương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đương</a:t>
            </a:r>
            <a:r>
              <a:rPr lang="en-US" dirty="0">
                <a:latin typeface="Segoe UI"/>
                <a:cs typeface="Segoe UI"/>
              </a:rPr>
              <a:t> 705 </a:t>
            </a:r>
            <a:r>
              <a:rPr lang="en-US" dirty="0" err="1">
                <a:latin typeface="Segoe UI"/>
                <a:cs typeface="Segoe UI"/>
              </a:rPr>
              <a:t>sinh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viên</a:t>
            </a:r>
            <a:r>
              <a:rPr lang="en-US" dirty="0">
                <a:latin typeface="Segoe UI"/>
                <a:cs typeface="Segoe UI"/>
              </a:rPr>
              <a:t> )</a:t>
            </a:r>
            <a:endParaRPr lang="vi-VN" dirty="0">
              <a:latin typeface="Segoe UI"/>
              <a:cs typeface="Segoe UI"/>
            </a:endParaRPr>
          </a:p>
          <a:p>
            <a:pPr lvl="1"/>
            <a:r>
              <a:rPr lang="en-US" dirty="0" err="1">
                <a:latin typeface="Segoe UI"/>
                <a:cs typeface="Segoe UI"/>
              </a:rPr>
              <a:t>Số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trường</a:t>
            </a:r>
            <a:r>
              <a:rPr lang="en-US" dirty="0">
                <a:latin typeface="Segoe UI"/>
                <a:cs typeface="Segoe UI"/>
              </a:rPr>
              <a:t>: </a:t>
            </a:r>
            <a:r>
              <a:rPr lang="vi-VN" b="1" dirty="0">
                <a:latin typeface="Segoe UI"/>
                <a:cs typeface="Segoe UI"/>
              </a:rPr>
              <a:t>15</a:t>
            </a:r>
            <a:r>
              <a:rPr lang="en-US" b="1" dirty="0">
                <a:latin typeface="Segoe UI"/>
                <a:cs typeface="Segoe UI"/>
              </a:rPr>
              <a:t> </a:t>
            </a:r>
            <a:r>
              <a:rPr lang="en-US" b="1" dirty="0" err="1">
                <a:latin typeface="Segoe UI"/>
                <a:cs typeface="Segoe UI"/>
              </a:rPr>
              <a:t>trường</a:t>
            </a:r>
            <a:r>
              <a:rPr lang="en-US" dirty="0">
                <a:latin typeface="Segoe UI"/>
                <a:cs typeface="Segoe UI"/>
              </a:rPr>
              <a:t> ( </a:t>
            </a:r>
            <a:r>
              <a:rPr lang="en-US" dirty="0" err="1">
                <a:latin typeface="Segoe UI"/>
                <a:cs typeface="Segoe UI"/>
              </a:rPr>
              <a:t>độ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tuổi</a:t>
            </a:r>
            <a:r>
              <a:rPr lang="en-US" dirty="0">
                <a:latin typeface="Segoe UI"/>
                <a:cs typeface="Segoe UI"/>
              </a:rPr>
              <a:t>, </a:t>
            </a:r>
            <a:r>
              <a:rPr lang="en-US" dirty="0" err="1">
                <a:latin typeface="Segoe UI"/>
                <a:cs typeface="Segoe UI"/>
              </a:rPr>
              <a:t>giới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tính</a:t>
            </a:r>
            <a:r>
              <a:rPr lang="en-US" dirty="0">
                <a:latin typeface="Segoe UI"/>
                <a:cs typeface="Segoe UI"/>
              </a:rPr>
              <a:t>, </a:t>
            </a:r>
            <a:r>
              <a:rPr lang="en-US" dirty="0" err="1">
                <a:latin typeface="Segoe UI"/>
                <a:cs typeface="Segoe UI"/>
              </a:rPr>
              <a:t>trình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độ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học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vấn</a:t>
            </a:r>
            <a:r>
              <a:rPr lang="en-US" dirty="0">
                <a:latin typeface="Segoe UI"/>
                <a:cs typeface="Segoe UI"/>
              </a:rPr>
              <a:t>, </a:t>
            </a:r>
            <a:r>
              <a:rPr lang="en-US" dirty="0" err="1">
                <a:latin typeface="Segoe UI"/>
                <a:cs typeface="Segoe UI"/>
              </a:rPr>
              <a:t>quốc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gia</a:t>
            </a:r>
            <a:r>
              <a:rPr lang="en-US" dirty="0">
                <a:latin typeface="Segoe UI"/>
                <a:cs typeface="Segoe UI"/>
              </a:rPr>
              <a:t>, </a:t>
            </a:r>
            <a:r>
              <a:rPr lang="en-US" dirty="0" err="1">
                <a:latin typeface="Segoe UI"/>
                <a:cs typeface="Segoe UI"/>
              </a:rPr>
              <a:t>thời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gian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sử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dụng</a:t>
            </a:r>
            <a:r>
              <a:rPr lang="en-US" dirty="0">
                <a:latin typeface="Segoe UI"/>
                <a:cs typeface="Segoe UI"/>
              </a:rPr>
              <a:t>, </a:t>
            </a:r>
            <a:r>
              <a:rPr lang="en-US" dirty="0" err="1">
                <a:latin typeface="Segoe UI"/>
                <a:cs typeface="Segoe UI"/>
              </a:rPr>
              <a:t>nền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tảng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phổ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biến</a:t>
            </a:r>
            <a:r>
              <a:rPr lang="en-US" dirty="0">
                <a:latin typeface="Segoe UI"/>
                <a:cs typeface="Segoe UI"/>
              </a:rPr>
              <a:t>, </a:t>
            </a:r>
            <a:r>
              <a:rPr lang="en-US" dirty="0" err="1">
                <a:latin typeface="Segoe UI"/>
                <a:cs typeface="Segoe UI"/>
              </a:rPr>
              <a:t>điểm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sức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khỏe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tinh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thần</a:t>
            </a:r>
            <a:r>
              <a:rPr lang="en-US" dirty="0">
                <a:latin typeface="Segoe UI"/>
                <a:cs typeface="Segoe UI"/>
              </a:rPr>
              <a:t>, v.v.)</a:t>
            </a:r>
          </a:p>
          <a:p>
            <a:pPr lvl="1"/>
            <a:r>
              <a:rPr lang="en-US" dirty="0">
                <a:latin typeface="Segoe UI"/>
                <a:cs typeface="Segoe UI"/>
              </a:rPr>
              <a:t>Phạm vi </a:t>
            </a:r>
            <a:r>
              <a:rPr lang="en-US" dirty="0" err="1">
                <a:latin typeface="Segoe UI"/>
                <a:cs typeface="Segoe UI"/>
              </a:rPr>
              <a:t>dữ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liệu</a:t>
            </a:r>
            <a:r>
              <a:rPr lang="en-US" dirty="0">
                <a:latin typeface="Segoe UI"/>
                <a:cs typeface="Segoe UI"/>
              </a:rPr>
              <a:t>: </a:t>
            </a:r>
            <a:r>
              <a:rPr lang="en-US" dirty="0" err="1">
                <a:latin typeface="Segoe UI"/>
                <a:cs typeface="Segoe UI"/>
              </a:rPr>
              <a:t>Độ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tuổi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từ</a:t>
            </a:r>
            <a:r>
              <a:rPr lang="en-US" dirty="0">
                <a:latin typeface="Segoe UI"/>
                <a:cs typeface="Segoe UI"/>
              </a:rPr>
              <a:t> 18-24</a:t>
            </a:r>
          </a:p>
          <a:p>
            <a:pPr lvl="1"/>
            <a:endParaRPr lang="en-US" dirty="0"/>
          </a:p>
          <a:p>
            <a:endParaRPr lang="en-US" sz="24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A36362-D5F3-7152-2FE5-EB81C5118A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</a:t>
            </a:r>
            <a:r>
              <a:rPr lang="vi-VN"/>
              <a:t> Phân tích thói quen dùng MXH </a:t>
            </a:r>
            <a:r>
              <a:rPr lang="en-US"/>
              <a:t>&gt;&gt;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2E721A-37D5-EA22-0BAB-C32714A465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6578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Yêu cầu</a:t>
            </a:r>
            <a:r>
              <a:rPr lang="en-US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dự án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066800"/>
            <a:ext cx="10972800" cy="5257800"/>
          </a:xfrm>
        </p:spPr>
        <p:txBody>
          <a:bodyPr vert="horz" lIns="91440" tIns="45720" rIns="91440" bIns="45720" rtlCol="0" anchor="t">
            <a:noAutofit/>
          </a:bodyPr>
          <a:lstStyle/>
          <a:p>
            <a:pPr>
              <a:buFont typeface="Wingdings" pitchFamily="2" charset="2"/>
              <a:buChar char="&amp;"/>
            </a:pPr>
            <a:r>
              <a:rPr lang="en-US" sz="2400" b="1" dirty="0" err="1">
                <a:latin typeface="Segoe UI"/>
                <a:cs typeface="Segoe UI"/>
              </a:rPr>
              <a:t>Dữ</a:t>
            </a:r>
            <a:r>
              <a:rPr lang="en-US" sz="2400" b="1" dirty="0">
                <a:latin typeface="Segoe UI"/>
                <a:cs typeface="Segoe UI"/>
              </a:rPr>
              <a:t> </a:t>
            </a:r>
            <a:r>
              <a:rPr lang="en-US" sz="2400" b="1" dirty="0" err="1">
                <a:latin typeface="Segoe UI"/>
                <a:cs typeface="Segoe UI"/>
              </a:rPr>
              <a:t>liệu</a:t>
            </a:r>
            <a:r>
              <a:rPr lang="en-US" sz="2400" dirty="0">
                <a:latin typeface="Segoe UI"/>
                <a:cs typeface="Segoe UI"/>
              </a:rPr>
              <a:t>.</a:t>
            </a:r>
          </a:p>
          <a:p>
            <a:pPr lvl="1"/>
            <a:r>
              <a:rPr lang="en-US" dirty="0" err="1">
                <a:latin typeface="Segoe UI"/>
                <a:cs typeface="Segoe UI"/>
              </a:rPr>
              <a:t>Đầu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vào</a:t>
            </a:r>
            <a:r>
              <a:rPr lang="en-US" dirty="0">
                <a:latin typeface="Segoe UI"/>
                <a:cs typeface="Segoe UI"/>
              </a:rPr>
              <a:t>: </a:t>
            </a:r>
            <a:r>
              <a:rPr lang="en-US" dirty="0" err="1">
                <a:latin typeface="Segoe UI"/>
                <a:cs typeface="Segoe UI"/>
              </a:rPr>
              <a:t>bộ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dữ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liệu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thô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chứa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thông</a:t>
            </a:r>
            <a:r>
              <a:rPr lang="en-US" dirty="0">
                <a:latin typeface="Segoe UI"/>
                <a:cs typeface="Segoe UI"/>
              </a:rPr>
              <a:t> tin </a:t>
            </a:r>
            <a:r>
              <a:rPr lang="en-US" dirty="0" err="1">
                <a:latin typeface="Segoe UI"/>
                <a:cs typeface="Segoe UI"/>
              </a:rPr>
              <a:t>sinh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viên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với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vi-VN" dirty="0">
                <a:latin typeface="Segoe UI"/>
                <a:cs typeface="Segoe UI"/>
              </a:rPr>
              <a:t>15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trường</a:t>
            </a:r>
            <a:r>
              <a:rPr lang="en-US" dirty="0">
                <a:latin typeface="Segoe UI"/>
                <a:cs typeface="Segoe UI"/>
              </a:rPr>
              <a:t> &amp; 705 </a:t>
            </a:r>
            <a:r>
              <a:rPr lang="en-US" dirty="0" err="1">
                <a:latin typeface="Segoe UI"/>
                <a:cs typeface="Segoe UI"/>
              </a:rPr>
              <a:t>bản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ghi</a:t>
            </a:r>
            <a:endParaRPr lang="en-US" dirty="0">
              <a:latin typeface="Segoe UI"/>
              <a:cs typeface="Segoe UI"/>
            </a:endParaRPr>
          </a:p>
          <a:p>
            <a:pPr lvl="1"/>
            <a:r>
              <a:rPr lang="en-US" dirty="0" err="1">
                <a:latin typeface="Segoe UI"/>
                <a:cs typeface="Segoe UI"/>
              </a:rPr>
              <a:t>Đầu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ra</a:t>
            </a:r>
            <a:r>
              <a:rPr lang="en-US" dirty="0">
                <a:latin typeface="Segoe UI"/>
                <a:cs typeface="Segoe UI"/>
              </a:rPr>
              <a:t>: Báo </a:t>
            </a:r>
            <a:r>
              <a:rPr lang="en-US" dirty="0" err="1">
                <a:latin typeface="Segoe UI"/>
                <a:cs typeface="Segoe UI"/>
              </a:rPr>
              <a:t>cáo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tổng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quan</a:t>
            </a:r>
            <a:r>
              <a:rPr lang="en-US" dirty="0">
                <a:latin typeface="Segoe UI"/>
                <a:cs typeface="Segoe UI"/>
              </a:rPr>
              <a:t> Dashboard </a:t>
            </a:r>
            <a:r>
              <a:rPr lang="en-US" dirty="0" err="1">
                <a:latin typeface="Segoe UI"/>
                <a:cs typeface="Segoe UI"/>
              </a:rPr>
              <a:t>thể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hiện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rõ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nhóm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đối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tượng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sử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dụng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mạng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quá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mức</a:t>
            </a:r>
            <a:r>
              <a:rPr lang="en-US" dirty="0">
                <a:latin typeface="Segoe UI"/>
                <a:cs typeface="Segoe UI"/>
              </a:rPr>
              <a:t> &amp; </a:t>
            </a:r>
            <a:r>
              <a:rPr lang="en-US" dirty="0" err="1">
                <a:latin typeface="Segoe UI"/>
                <a:cs typeface="Segoe UI"/>
              </a:rPr>
              <a:t>các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hệ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quả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tương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vi-VN" dirty="0">
                <a:latin typeface="Segoe UI"/>
                <a:cs typeface="Segoe UI"/>
              </a:rPr>
              <a:t>quan</a:t>
            </a:r>
            <a:endParaRPr lang="en-US" dirty="0">
              <a:latin typeface="Segoe UI"/>
              <a:cs typeface="Segoe UI"/>
            </a:endParaRPr>
          </a:p>
          <a:p>
            <a:pPr>
              <a:buFont typeface="Wingdings" pitchFamily="2" charset="2"/>
              <a:buChar char="&amp;"/>
            </a:pPr>
            <a:r>
              <a:rPr lang="en-US" sz="2400" b="1" dirty="0">
                <a:latin typeface="Segoe UI"/>
                <a:cs typeface="Segoe UI"/>
              </a:rPr>
              <a:t>Quản </a:t>
            </a:r>
            <a:r>
              <a:rPr lang="en-US" sz="2400" b="1" dirty="0" err="1">
                <a:latin typeface="Segoe UI"/>
                <a:cs typeface="Segoe UI"/>
              </a:rPr>
              <a:t>lý</a:t>
            </a:r>
            <a:r>
              <a:rPr lang="en-US" sz="2400" b="1" dirty="0">
                <a:latin typeface="Segoe UI"/>
                <a:cs typeface="Segoe UI"/>
              </a:rPr>
              <a:t> </a:t>
            </a:r>
            <a:r>
              <a:rPr lang="en-US" sz="2400" b="1" dirty="0" err="1">
                <a:latin typeface="Segoe UI"/>
                <a:cs typeface="Segoe UI"/>
              </a:rPr>
              <a:t>và</a:t>
            </a:r>
            <a:r>
              <a:rPr lang="en-US" sz="2400" b="1" dirty="0">
                <a:latin typeface="Segoe UI"/>
                <a:cs typeface="Segoe UI"/>
              </a:rPr>
              <a:t> </a:t>
            </a:r>
            <a:r>
              <a:rPr lang="en-US" sz="2400" b="1" dirty="0" err="1">
                <a:latin typeface="Segoe UI"/>
                <a:cs typeface="Segoe UI"/>
              </a:rPr>
              <a:t>lưu</a:t>
            </a:r>
            <a:r>
              <a:rPr lang="en-US" sz="2400" b="1" dirty="0">
                <a:latin typeface="Segoe UI"/>
                <a:cs typeface="Segoe UI"/>
              </a:rPr>
              <a:t> </a:t>
            </a:r>
            <a:r>
              <a:rPr lang="en-US" sz="2400" b="1" dirty="0" err="1">
                <a:latin typeface="Segoe UI"/>
                <a:cs typeface="Segoe UI"/>
              </a:rPr>
              <a:t>trữ</a:t>
            </a:r>
            <a:r>
              <a:rPr lang="en-US" sz="2400" b="1" dirty="0">
                <a:latin typeface="Segoe UI"/>
                <a:cs typeface="Segoe UI"/>
              </a:rPr>
              <a:t> </a:t>
            </a:r>
            <a:endParaRPr lang="en-US" sz="2400" dirty="0">
              <a:latin typeface="Segoe UI"/>
              <a:cs typeface="Segoe UI"/>
            </a:endParaRPr>
          </a:p>
          <a:p>
            <a:pPr lvl="1"/>
            <a:r>
              <a:rPr lang="en-US" dirty="0">
                <a:latin typeface="Segoe UI"/>
                <a:cs typeface="Segoe UI"/>
              </a:rPr>
              <a:t>Báo </a:t>
            </a:r>
            <a:r>
              <a:rPr lang="en-US" dirty="0" err="1">
                <a:latin typeface="Segoe UI"/>
                <a:cs typeface="Segoe UI"/>
              </a:rPr>
              <a:t>cáo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cần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được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triển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khai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trên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nền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tảng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đám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mây</a:t>
            </a:r>
            <a:r>
              <a:rPr lang="en-US" dirty="0">
                <a:latin typeface="Segoe UI"/>
                <a:cs typeface="Segoe UI"/>
              </a:rPr>
              <a:t> (</a:t>
            </a:r>
            <a:r>
              <a:rPr lang="en-US" b="1" dirty="0">
                <a:latin typeface="Segoe UI"/>
                <a:cs typeface="Segoe UI"/>
              </a:rPr>
              <a:t>cloud-based</a:t>
            </a:r>
            <a:r>
              <a:rPr lang="en-US" dirty="0">
                <a:latin typeface="Segoe UI"/>
                <a:cs typeface="Segoe UI"/>
              </a:rPr>
              <a:t>) </a:t>
            </a:r>
            <a:r>
              <a:rPr lang="en-US" dirty="0" err="1">
                <a:latin typeface="Segoe UI"/>
                <a:cs typeface="Segoe UI"/>
              </a:rPr>
              <a:t>để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các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bên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liên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quan</a:t>
            </a:r>
            <a:r>
              <a:rPr lang="en-US" dirty="0">
                <a:latin typeface="Segoe UI"/>
                <a:cs typeface="Segoe UI"/>
              </a:rPr>
              <a:t> (Ban </a:t>
            </a:r>
            <a:r>
              <a:rPr lang="en-US" dirty="0" err="1">
                <a:latin typeface="Segoe UI"/>
                <a:cs typeface="Segoe UI"/>
              </a:rPr>
              <a:t>Giám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hiệu</a:t>
            </a:r>
            <a:r>
              <a:rPr lang="en-US" dirty="0">
                <a:latin typeface="Segoe UI"/>
                <a:cs typeface="Segoe UI"/>
              </a:rPr>
              <a:t>, </a:t>
            </a:r>
            <a:r>
              <a:rPr lang="en-US" dirty="0" err="1">
                <a:latin typeface="Segoe UI"/>
                <a:cs typeface="Segoe UI"/>
              </a:rPr>
              <a:t>cố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vấn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học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tập</a:t>
            </a:r>
            <a:r>
              <a:rPr lang="en-US" dirty="0">
                <a:latin typeface="Segoe UI"/>
                <a:cs typeface="Segoe UI"/>
              </a:rPr>
              <a:t>) </a:t>
            </a:r>
            <a:r>
              <a:rPr lang="en-US" dirty="0" err="1">
                <a:latin typeface="Segoe UI"/>
                <a:cs typeface="Segoe UI"/>
              </a:rPr>
              <a:t>có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thể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truy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cập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mọi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lúc</a:t>
            </a:r>
            <a:r>
              <a:rPr lang="en-US" dirty="0">
                <a:latin typeface="Segoe UI"/>
                <a:cs typeface="Segoe UI"/>
              </a:rPr>
              <a:t>, </a:t>
            </a:r>
            <a:r>
              <a:rPr lang="en-US" dirty="0" err="1">
                <a:latin typeface="Segoe UI"/>
                <a:cs typeface="Segoe UI"/>
              </a:rPr>
              <a:t>mọi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nơi</a:t>
            </a:r>
            <a:r>
              <a:rPr lang="en-US" dirty="0">
                <a:latin typeface="Segoe UI"/>
                <a:cs typeface="Segoe UI"/>
              </a:rPr>
              <a:t>. ( </a:t>
            </a:r>
            <a:r>
              <a:rPr lang="en-US" dirty="0" err="1">
                <a:latin typeface="Segoe UI"/>
                <a:cs typeface="Segoe UI"/>
              </a:rPr>
              <a:t>có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thể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xem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bằng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điện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thoại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hoặc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máy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tính</a:t>
            </a:r>
            <a:r>
              <a:rPr lang="en-US" dirty="0">
                <a:latin typeface="Segoe UI"/>
                <a:cs typeface="Segoe UI"/>
              </a:rPr>
              <a:t> qua website.)</a:t>
            </a:r>
          </a:p>
          <a:p>
            <a:pPr>
              <a:buFont typeface="Wingdings" pitchFamily="2" charset="2"/>
              <a:buChar char="&amp;"/>
            </a:pPr>
            <a:r>
              <a:rPr lang="en-US" sz="2400" b="1" dirty="0">
                <a:latin typeface="Segoe UI"/>
                <a:cs typeface="Segoe UI"/>
              </a:rPr>
              <a:t>Công </a:t>
            </a:r>
            <a:r>
              <a:rPr lang="en-US" sz="2400" b="1" dirty="0" err="1">
                <a:latin typeface="Segoe UI"/>
                <a:cs typeface="Segoe UI"/>
              </a:rPr>
              <a:t>nghệ</a:t>
            </a:r>
            <a:r>
              <a:rPr lang="en-US" sz="2400" b="1" dirty="0">
                <a:latin typeface="Segoe UI"/>
                <a:cs typeface="Segoe UI"/>
              </a:rPr>
              <a:t> </a:t>
            </a:r>
            <a:endParaRPr lang="en-US" sz="2400" dirty="0">
              <a:latin typeface="Segoe UI"/>
              <a:cs typeface="Segoe UI"/>
            </a:endParaRPr>
          </a:p>
          <a:p>
            <a:pPr lvl="1"/>
            <a:r>
              <a:rPr lang="en-US" b="1" dirty="0">
                <a:latin typeface="Segoe UI"/>
                <a:cs typeface="Segoe UI"/>
              </a:rPr>
              <a:t>Microsoft Power BI (Desktop &amp; Service).</a:t>
            </a:r>
          </a:p>
          <a:p>
            <a:pPr lvl="1"/>
            <a:endParaRPr lang="en-US" sz="2400" dirty="0"/>
          </a:p>
          <a:p>
            <a:endParaRPr lang="en-US" sz="24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E8C06F7-20AA-4F62-EA79-F78482262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&lt;&lt;Phân tích thói quen dùng MXH&gt;&gt;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97AF7AF-5E8E-9917-2279-1448E10890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71343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Sản phẩm mục tiêu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C923A4-851B-5EF0-B718-7CBE8DB39E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&lt;&lt;Phân tích thói quen dùng MXH&gt;&gt;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08786B-6DDC-2579-38DB-D4E9FC788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12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8A66B6E-0D6A-E447-8D0C-F9F103E428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9514" y="924451"/>
            <a:ext cx="9673151" cy="5431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8495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3657600" y="2967335"/>
            <a:ext cx="5476179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glow" dir="tl">
                <a:rot lat="0" lon="0" rev="5400000"/>
              </a:lightRig>
            </a:scene3d>
            <a:sp3d contourW="12700">
              <a:bevelT w="25400" h="25400"/>
              <a:contourClr>
                <a:schemeClr val="accent6">
                  <a:shade val="73000"/>
                </a:schemeClr>
              </a:contourClr>
            </a:sp3d>
          </a:bodyPr>
          <a:lstStyle/>
          <a:p>
            <a:r>
              <a:rPr lang="en-US" sz="5400" b="1" cap="small">
                <a:ln w="11430"/>
                <a:gradFill>
                  <a:gsLst>
                    <a:gs pos="0">
                      <a:schemeClr val="accent6">
                        <a:tint val="90000"/>
                        <a:satMod val="120000"/>
                      </a:schemeClr>
                    </a:gs>
                    <a:gs pos="25000">
                      <a:schemeClr val="accent6">
                        <a:tint val="93000"/>
                        <a:satMod val="120000"/>
                      </a:schemeClr>
                    </a:gs>
                    <a:gs pos="50000">
                      <a:schemeClr val="accent6">
                        <a:shade val="89000"/>
                        <a:satMod val="110000"/>
                      </a:schemeClr>
                    </a:gs>
                    <a:gs pos="75000">
                      <a:schemeClr val="accent6">
                        <a:tint val="93000"/>
                        <a:satMod val="120000"/>
                      </a:schemeClr>
                    </a:gs>
                    <a:gs pos="100000">
                      <a:schemeClr val="accent6">
                        <a:tint val="90000"/>
                        <a:satMod val="120000"/>
                      </a:schemeClr>
                    </a:gs>
                  </a:gsLst>
                  <a:lin ang="5400000"/>
                </a:gradFill>
                <a:effectLst>
                  <a:outerShdw blurRad="80000" dist="40000" dir="5040000" algn="tl">
                    <a:srgbClr val="000000">
                      <a:alpha val="30000"/>
                    </a:srgbClr>
                  </a:outerShdw>
                </a:effectLst>
              </a:rPr>
              <a:t>Phân tích hệ thống</a:t>
            </a:r>
          </a:p>
        </p:txBody>
      </p:sp>
      <p:cxnSp>
        <p:nvCxnSpPr>
          <p:cNvPr id="3" name="Straight Connector 2"/>
          <p:cNvCxnSpPr/>
          <p:nvPr/>
        </p:nvCxnSpPr>
        <p:spPr>
          <a:xfrm>
            <a:off x="762000" y="3886200"/>
            <a:ext cx="10744200" cy="0"/>
          </a:xfrm>
          <a:prstGeom prst="line">
            <a:avLst/>
          </a:prstGeom>
          <a:ln w="76200" cmpd="thinThick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A4F92CC-4E18-498A-196D-75FB36CB72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&lt;&lt;Phân tích thói quen dùng MXH&gt;&gt;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A61F8E-A029-F37E-570D-13286C169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26392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Phân tích hệ thống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066800"/>
            <a:ext cx="9347198" cy="5257800"/>
          </a:xfrm>
        </p:spPr>
        <p:txBody>
          <a:bodyPr vert="horz" lIns="91440" tIns="45720" rIns="91440" bIns="45720" rtlCol="0" anchor="t">
            <a:noAutofit/>
          </a:bodyPr>
          <a:lstStyle/>
          <a:p>
            <a:pPr>
              <a:buFont typeface="Wingdings" pitchFamily="2" charset="2"/>
              <a:buChar char="&amp;"/>
            </a:pPr>
            <a:r>
              <a:rPr lang="en-US" sz="2400" b="1" err="1">
                <a:latin typeface="Segoe UI"/>
                <a:cs typeface="Segoe UI"/>
              </a:rPr>
              <a:t>Cơ</a:t>
            </a:r>
            <a:r>
              <a:rPr lang="en-US" sz="2400" b="1">
                <a:latin typeface="Segoe UI"/>
                <a:cs typeface="Segoe UI"/>
              </a:rPr>
              <a:t> </a:t>
            </a:r>
            <a:r>
              <a:rPr lang="en-US" sz="2400" b="1" err="1">
                <a:latin typeface="Segoe UI"/>
                <a:cs typeface="Segoe UI"/>
              </a:rPr>
              <a:t>sở</a:t>
            </a:r>
            <a:r>
              <a:rPr lang="en-US" sz="2400" b="1">
                <a:latin typeface="Segoe UI"/>
                <a:cs typeface="Segoe UI"/>
              </a:rPr>
              <a:t> </a:t>
            </a:r>
            <a:r>
              <a:rPr lang="en-US" sz="2400" b="1" err="1">
                <a:latin typeface="Segoe UI"/>
                <a:cs typeface="Segoe UI"/>
              </a:rPr>
              <a:t>dữ</a:t>
            </a:r>
            <a:r>
              <a:rPr lang="en-US" sz="2400" b="1">
                <a:latin typeface="Segoe UI"/>
                <a:cs typeface="Segoe UI"/>
              </a:rPr>
              <a:t> </a:t>
            </a:r>
            <a:r>
              <a:rPr lang="en-US" sz="2400" b="1" err="1">
                <a:latin typeface="Segoe UI"/>
                <a:cs typeface="Segoe UI"/>
              </a:rPr>
              <a:t>liệu</a:t>
            </a:r>
            <a:r>
              <a:rPr lang="en-US" sz="2400">
                <a:latin typeface="Segoe UI"/>
                <a:cs typeface="Segoe UI"/>
              </a:rPr>
              <a:t>.</a:t>
            </a:r>
          </a:p>
          <a:p>
            <a:pPr lvl="1"/>
            <a:r>
              <a:rPr lang="en-US">
                <a:latin typeface="Segoe UI"/>
                <a:cs typeface="Segoe UI"/>
              </a:rPr>
              <a:t>SQL Server.</a:t>
            </a:r>
            <a:endParaRPr lang="en-US"/>
          </a:p>
          <a:p>
            <a:pPr>
              <a:buFont typeface="Wingdings" pitchFamily="2" charset="2"/>
              <a:buChar char="&amp;"/>
            </a:pPr>
            <a:r>
              <a:rPr lang="en-US" sz="2400" b="1">
                <a:latin typeface="Segoe UI"/>
                <a:cs typeface="Segoe UI"/>
              </a:rPr>
              <a:t>Công </a:t>
            </a:r>
            <a:r>
              <a:rPr lang="en-US" sz="2400" b="1" err="1">
                <a:latin typeface="Segoe UI"/>
                <a:cs typeface="Segoe UI"/>
              </a:rPr>
              <a:t>cụ</a:t>
            </a:r>
            <a:r>
              <a:rPr lang="en-US" sz="2400" b="1">
                <a:latin typeface="Segoe UI"/>
                <a:cs typeface="Segoe UI"/>
              </a:rPr>
              <a:t> </a:t>
            </a:r>
            <a:endParaRPr lang="en-US" sz="2400">
              <a:latin typeface="Segoe UI"/>
              <a:cs typeface="Segoe UI"/>
            </a:endParaRPr>
          </a:p>
          <a:p>
            <a:pPr lvl="1"/>
            <a:r>
              <a:rPr lang="en-US">
                <a:latin typeface="Segoe UI"/>
                <a:cs typeface="Segoe UI"/>
              </a:rPr>
              <a:t>Microsoft Power BI</a:t>
            </a:r>
          </a:p>
          <a:p>
            <a:pPr>
              <a:buFont typeface="Wingdings" pitchFamily="2" charset="2"/>
              <a:buChar char="&amp;"/>
            </a:pPr>
            <a:r>
              <a:rPr lang="en-US" sz="2400" b="1">
                <a:latin typeface="Segoe UI"/>
                <a:cs typeface="Segoe UI"/>
              </a:rPr>
              <a:t> </a:t>
            </a:r>
            <a:r>
              <a:rPr lang="en-US" sz="2400" b="1" err="1">
                <a:latin typeface="Segoe UI"/>
                <a:cs typeface="Segoe UI"/>
              </a:rPr>
              <a:t>Hạ</a:t>
            </a:r>
            <a:r>
              <a:rPr lang="en-US" sz="2400" b="1">
                <a:latin typeface="Segoe UI"/>
                <a:cs typeface="Segoe UI"/>
              </a:rPr>
              <a:t> </a:t>
            </a:r>
            <a:r>
              <a:rPr lang="en-US" sz="2400" b="1" err="1">
                <a:latin typeface="Segoe UI"/>
                <a:cs typeface="Segoe UI"/>
              </a:rPr>
              <a:t>tầng</a:t>
            </a:r>
            <a:r>
              <a:rPr lang="en-US" sz="2400" b="1">
                <a:latin typeface="Segoe UI"/>
                <a:cs typeface="Segoe UI"/>
              </a:rPr>
              <a:t> </a:t>
            </a:r>
            <a:r>
              <a:rPr lang="en-US" sz="2400" b="1" err="1">
                <a:latin typeface="Segoe UI"/>
                <a:cs typeface="Segoe UI"/>
              </a:rPr>
              <a:t>kỹ</a:t>
            </a:r>
            <a:r>
              <a:rPr lang="en-US" sz="2400" b="1">
                <a:latin typeface="Segoe UI"/>
                <a:cs typeface="Segoe UI"/>
              </a:rPr>
              <a:t> </a:t>
            </a:r>
            <a:r>
              <a:rPr lang="en-US" sz="2400" b="1" err="1">
                <a:latin typeface="Segoe UI"/>
                <a:cs typeface="Segoe UI"/>
              </a:rPr>
              <a:t>thuật</a:t>
            </a:r>
            <a:endParaRPr lang="en-US" sz="2400" err="1">
              <a:latin typeface="Segoe UI"/>
              <a:cs typeface="Segoe UI"/>
            </a:endParaRPr>
          </a:p>
          <a:p>
            <a:pPr lvl="1"/>
            <a:r>
              <a:rPr lang="en-US" err="1">
                <a:latin typeface="Segoe UI"/>
                <a:cs typeface="Segoe UI"/>
              </a:rPr>
              <a:t>Máy</a:t>
            </a:r>
            <a:r>
              <a:rPr lang="en-US">
                <a:latin typeface="Segoe UI"/>
                <a:cs typeface="Segoe UI"/>
              </a:rPr>
              <a:t> </a:t>
            </a:r>
            <a:r>
              <a:rPr lang="en-US" err="1">
                <a:latin typeface="Segoe UI"/>
                <a:cs typeface="Segoe UI"/>
              </a:rPr>
              <a:t>chủ</a:t>
            </a:r>
            <a:r>
              <a:rPr lang="en-US">
                <a:latin typeface="Segoe UI"/>
                <a:cs typeface="Segoe UI"/>
              </a:rPr>
              <a:t> </a:t>
            </a:r>
            <a:r>
              <a:rPr lang="en-US" err="1">
                <a:latin typeface="Segoe UI"/>
                <a:cs typeface="Segoe UI"/>
              </a:rPr>
              <a:t>nội</a:t>
            </a:r>
            <a:r>
              <a:rPr lang="en-US">
                <a:latin typeface="Segoe UI"/>
                <a:cs typeface="Segoe UI"/>
              </a:rPr>
              <a:t> </a:t>
            </a:r>
            <a:r>
              <a:rPr lang="en-US" err="1">
                <a:latin typeface="Segoe UI"/>
                <a:cs typeface="Segoe UI"/>
              </a:rPr>
              <a:t>bộ</a:t>
            </a:r>
            <a:endParaRPr lang="en-US" err="1"/>
          </a:p>
          <a:p>
            <a:pPr lvl="1"/>
            <a:endParaRPr lang="en-US"/>
          </a:p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6CBD106-A31D-CD7E-3483-B67F879DAD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&lt;&lt;Phân tích thói quen dùng MXH&gt;&gt;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9F8D410-CBB9-65C6-6A03-DF34FC837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90305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Kiến trúc hệ thống</a:t>
            </a:r>
          </a:p>
        </p:txBody>
      </p:sp>
      <p:pic>
        <p:nvPicPr>
          <p:cNvPr id="7" name="Picture 6" descr="A diagram of a computer&#10;&#10;Description automatically generated">
            <a:extLst>
              <a:ext uri="{FF2B5EF4-FFF2-40B4-BE49-F238E27FC236}">
                <a16:creationId xmlns:a16="http://schemas.microsoft.com/office/drawing/2014/main" id="{A91CCF9D-1A62-524B-C72E-BDD12E2EE0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5400" y="990600"/>
            <a:ext cx="9785132" cy="579120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CC9413-44B7-2ED4-7B9D-0729D9C81A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28167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3657600" y="2967335"/>
            <a:ext cx="4610558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glow" dir="tl">
                <a:rot lat="0" lon="0" rev="5400000"/>
              </a:lightRig>
            </a:scene3d>
            <a:sp3d contourW="12700">
              <a:bevelT w="25400" h="25400"/>
              <a:contourClr>
                <a:schemeClr val="accent6">
                  <a:shade val="73000"/>
                </a:schemeClr>
              </a:contourClr>
            </a:sp3d>
          </a:bodyPr>
          <a:lstStyle/>
          <a:p>
            <a:r>
              <a:rPr lang="en-US" sz="5400" b="1" cap="small">
                <a:ln w="11430"/>
                <a:gradFill>
                  <a:gsLst>
                    <a:gs pos="0">
                      <a:schemeClr val="accent6">
                        <a:tint val="90000"/>
                        <a:satMod val="120000"/>
                      </a:schemeClr>
                    </a:gs>
                    <a:gs pos="25000">
                      <a:schemeClr val="accent6">
                        <a:tint val="93000"/>
                        <a:satMod val="120000"/>
                      </a:schemeClr>
                    </a:gs>
                    <a:gs pos="50000">
                      <a:schemeClr val="accent6">
                        <a:shade val="89000"/>
                        <a:satMod val="110000"/>
                      </a:schemeClr>
                    </a:gs>
                    <a:gs pos="75000">
                      <a:schemeClr val="accent6">
                        <a:tint val="93000"/>
                        <a:satMod val="120000"/>
                      </a:schemeClr>
                    </a:gs>
                    <a:gs pos="100000">
                      <a:schemeClr val="accent6">
                        <a:tint val="90000"/>
                        <a:satMod val="120000"/>
                      </a:schemeClr>
                    </a:gs>
                  </a:gsLst>
                  <a:lin ang="5400000"/>
                </a:gradFill>
                <a:effectLst>
                  <a:outerShdw blurRad="80000" dist="40000" dir="5040000" algn="tl">
                    <a:srgbClr val="000000">
                      <a:alpha val="30000"/>
                    </a:srgbClr>
                  </a:outerShdw>
                </a:effectLst>
              </a:rPr>
              <a:t>Phân tích dự án</a:t>
            </a:r>
          </a:p>
        </p:txBody>
      </p:sp>
      <p:cxnSp>
        <p:nvCxnSpPr>
          <p:cNvPr id="3" name="Straight Connector 2"/>
          <p:cNvCxnSpPr/>
          <p:nvPr/>
        </p:nvCxnSpPr>
        <p:spPr>
          <a:xfrm>
            <a:off x="762000" y="3886200"/>
            <a:ext cx="10744200" cy="0"/>
          </a:xfrm>
          <a:prstGeom prst="line">
            <a:avLst/>
          </a:prstGeom>
          <a:ln w="76200" cmpd="thinThick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80E9188-0A61-253C-DDCD-49194B97B7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&lt;&lt;Tên Dự Án&gt;&gt;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CD50E5A-6FAA-561C-D5EC-AFF0A5A861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7539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Phân tích</a:t>
            </a:r>
            <a:r>
              <a:rPr lang="en-US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dự án #1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066800"/>
            <a:ext cx="10972800" cy="5257800"/>
          </a:xfrm>
        </p:spPr>
        <p:txBody>
          <a:bodyPr>
            <a:noAutofit/>
          </a:bodyPr>
          <a:lstStyle/>
          <a:p>
            <a:pPr>
              <a:buFont typeface="Wingdings" pitchFamily="2" charset="2"/>
              <a:buChar char="&amp;"/>
            </a:pPr>
            <a:r>
              <a:rPr lang="en-US" sz="2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Bạn</a:t>
            </a:r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sz="2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đang</a:t>
            </a:r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sz="2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cố</a:t>
            </a:r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sz="2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gắng</a:t>
            </a:r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sz="2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giải</a:t>
            </a:r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sz="2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thích</a:t>
            </a:r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sz="2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điều</a:t>
            </a:r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sz="2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gì</a:t>
            </a:r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sz="2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từ</a:t>
            </a:r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sz="2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dữ</a:t>
            </a:r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sz="2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liệu</a:t>
            </a:r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?</a:t>
            </a:r>
            <a:endParaRPr lang="en-US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lvl="1"/>
            <a:r>
              <a:rPr lang="en-US" dirty="0" err="1"/>
              <a:t>Chúng</a:t>
            </a:r>
            <a:r>
              <a:rPr lang="en-US" dirty="0"/>
              <a:t> </a:t>
            </a:r>
            <a:r>
              <a:rPr lang="en-US" dirty="0" err="1"/>
              <a:t>tôi</a:t>
            </a:r>
            <a:r>
              <a:rPr lang="en-US" dirty="0"/>
              <a:t> </a:t>
            </a:r>
            <a:r>
              <a:rPr lang="en-US" dirty="0" err="1"/>
              <a:t>đang</a:t>
            </a:r>
            <a:r>
              <a:rPr lang="en-US" dirty="0"/>
              <a:t> </a:t>
            </a:r>
            <a:r>
              <a:rPr lang="en-US" dirty="0" err="1"/>
              <a:t>cố</a:t>
            </a:r>
            <a:r>
              <a:rPr lang="en-US" dirty="0"/>
              <a:t> </a:t>
            </a:r>
            <a:r>
              <a:rPr lang="en-US" dirty="0" err="1"/>
              <a:t>gắng</a:t>
            </a:r>
            <a:r>
              <a:rPr lang="en-US" dirty="0"/>
              <a:t> </a:t>
            </a:r>
            <a:r>
              <a:rPr lang="en-US" dirty="0" err="1"/>
              <a:t>giải</a:t>
            </a:r>
            <a:r>
              <a:rPr lang="en-US" dirty="0"/>
              <a:t> </a:t>
            </a:r>
            <a:r>
              <a:rPr lang="en-US" dirty="0" err="1"/>
              <a:t>thích</a:t>
            </a:r>
            <a:r>
              <a:rPr lang="en-US" dirty="0"/>
              <a:t> </a:t>
            </a:r>
            <a:r>
              <a:rPr lang="en-US" dirty="0" err="1"/>
              <a:t>mối</a:t>
            </a:r>
            <a:r>
              <a:rPr lang="en-US" dirty="0"/>
              <a:t> </a:t>
            </a:r>
            <a:r>
              <a:rPr lang="en-US" dirty="0" err="1"/>
              <a:t>liên</a:t>
            </a:r>
            <a:r>
              <a:rPr lang="en-US" dirty="0"/>
              <a:t> </a:t>
            </a:r>
            <a:r>
              <a:rPr lang="en-US" dirty="0" err="1"/>
              <a:t>hệ</a:t>
            </a:r>
            <a:r>
              <a:rPr lang="en-US" dirty="0"/>
              <a:t> </a:t>
            </a:r>
            <a:r>
              <a:rPr lang="en-US" dirty="0" err="1"/>
              <a:t>rõ</a:t>
            </a:r>
            <a:r>
              <a:rPr lang="en-US" dirty="0"/>
              <a:t> </a:t>
            </a:r>
            <a:r>
              <a:rPr lang="en-US" dirty="0" err="1"/>
              <a:t>ràng</a:t>
            </a:r>
            <a:r>
              <a:rPr lang="en-US" dirty="0"/>
              <a:t> </a:t>
            </a:r>
            <a:r>
              <a:rPr lang="en-US" dirty="0" err="1"/>
              <a:t>giữa</a:t>
            </a:r>
            <a:r>
              <a:rPr lang="en-US" dirty="0"/>
              <a:t> </a:t>
            </a:r>
            <a:r>
              <a:rPr lang="en-US" i="1" dirty="0" err="1"/>
              <a:t>thời</a:t>
            </a:r>
            <a:r>
              <a:rPr lang="en-US" i="1" dirty="0"/>
              <a:t> </a:t>
            </a:r>
            <a:r>
              <a:rPr lang="en-US" i="1" dirty="0" err="1"/>
              <a:t>gian</a:t>
            </a:r>
            <a:r>
              <a:rPr lang="en-US" i="1" dirty="0"/>
              <a:t> </a:t>
            </a:r>
            <a:r>
              <a:rPr lang="en-US" i="1" dirty="0" err="1"/>
              <a:t>sử</a:t>
            </a:r>
            <a:r>
              <a:rPr lang="en-US" i="1" dirty="0"/>
              <a:t> </a:t>
            </a:r>
            <a:r>
              <a:rPr lang="en-US" i="1" dirty="0" err="1"/>
              <a:t>dụng</a:t>
            </a:r>
            <a:r>
              <a:rPr lang="en-US" i="1" dirty="0"/>
              <a:t> MXH</a:t>
            </a:r>
            <a:r>
              <a:rPr lang="en-US" dirty="0"/>
              <a:t> </a:t>
            </a:r>
            <a:r>
              <a:rPr lang="en-US" dirty="0" err="1"/>
              <a:t>với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i="1" dirty="0" err="1"/>
              <a:t>tác</a:t>
            </a:r>
            <a:r>
              <a:rPr lang="en-US" i="1" dirty="0"/>
              <a:t> </a:t>
            </a:r>
            <a:r>
              <a:rPr lang="en-US" i="1" dirty="0" err="1"/>
              <a:t>động</a:t>
            </a:r>
            <a:r>
              <a:rPr lang="en-US" i="1" dirty="0"/>
              <a:t> </a:t>
            </a:r>
            <a:r>
              <a:rPr lang="en-US" i="1" dirty="0" err="1"/>
              <a:t>tiêu</a:t>
            </a:r>
            <a:r>
              <a:rPr lang="en-US" i="1" dirty="0"/>
              <a:t> </a:t>
            </a:r>
            <a:r>
              <a:rPr lang="en-US" i="1" dirty="0" err="1"/>
              <a:t>cực</a:t>
            </a:r>
            <a:r>
              <a:rPr lang="en-US" dirty="0"/>
              <a:t> </a:t>
            </a:r>
            <a:r>
              <a:rPr lang="en-US" dirty="0" err="1"/>
              <a:t>đến</a:t>
            </a:r>
            <a:r>
              <a:rPr lang="en-US" dirty="0"/>
              <a:t> </a:t>
            </a:r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 </a:t>
            </a:r>
            <a:r>
              <a:rPr lang="en-US" dirty="0" err="1"/>
              <a:t>học</a:t>
            </a:r>
            <a:r>
              <a:rPr lang="en-US" dirty="0"/>
              <a:t> </a:t>
            </a:r>
            <a:r>
              <a:rPr lang="en-US" dirty="0" err="1"/>
              <a:t>tập</a:t>
            </a:r>
            <a:r>
              <a:rPr lang="en-US" dirty="0"/>
              <a:t>, </a:t>
            </a:r>
            <a:r>
              <a:rPr lang="en-US" dirty="0" err="1"/>
              <a:t>sức</a:t>
            </a:r>
            <a:r>
              <a:rPr lang="en-US" dirty="0"/>
              <a:t> </a:t>
            </a:r>
            <a:r>
              <a:rPr lang="en-US" dirty="0" err="1"/>
              <a:t>khỏe</a:t>
            </a:r>
            <a:r>
              <a:rPr lang="en-US" dirty="0"/>
              <a:t> </a:t>
            </a:r>
            <a:r>
              <a:rPr lang="en-US" dirty="0" err="1"/>
              <a:t>tinh</a:t>
            </a:r>
            <a:r>
              <a:rPr lang="en-US" dirty="0"/>
              <a:t> </a:t>
            </a:r>
            <a:r>
              <a:rPr lang="en-US" dirty="0" err="1"/>
              <a:t>thần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giấc</a:t>
            </a:r>
            <a:r>
              <a:rPr lang="en-US" dirty="0"/>
              <a:t> </a:t>
            </a:r>
            <a:r>
              <a:rPr lang="en-US" dirty="0" err="1"/>
              <a:t>ngủ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</a:t>
            </a:r>
            <a:r>
              <a:rPr lang="en-US" dirty="0" err="1"/>
              <a:t>sinh</a:t>
            </a:r>
            <a:r>
              <a:rPr lang="en-US" dirty="0"/>
              <a:t> </a:t>
            </a:r>
            <a:r>
              <a:rPr lang="vi-VN" dirty="0"/>
              <a:t>viên.</a:t>
            </a:r>
            <a:endParaRPr lang="en-US" sz="2000" dirty="0"/>
          </a:p>
          <a:p>
            <a:pPr>
              <a:buFont typeface="Wingdings" pitchFamily="2" charset="2"/>
              <a:buChar char="&amp;"/>
            </a:pPr>
            <a:r>
              <a:rPr lang="en-US" sz="2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Mục</a:t>
            </a:r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sz="2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tiêu</a:t>
            </a:r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sz="2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cụ</a:t>
            </a:r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sz="2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thể</a:t>
            </a:r>
            <a:endParaRPr lang="en-US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lvl="1"/>
            <a:r>
              <a:rPr lang="en-US" i="1" dirty="0" err="1"/>
              <a:t>Xác</a:t>
            </a:r>
            <a:r>
              <a:rPr lang="en-US" i="1" dirty="0"/>
              <a:t> </a:t>
            </a:r>
            <a:r>
              <a:rPr lang="en-US" i="1" dirty="0" err="1"/>
              <a:t>định</a:t>
            </a:r>
            <a:r>
              <a:rPr lang="en-US" i="1" dirty="0"/>
              <a:t> </a:t>
            </a:r>
            <a:r>
              <a:rPr lang="en-US" dirty="0" err="1"/>
              <a:t>nhóm</a:t>
            </a:r>
            <a:r>
              <a:rPr lang="en-US" dirty="0"/>
              <a:t> </a:t>
            </a:r>
            <a:r>
              <a:rPr lang="en-US" dirty="0" err="1"/>
              <a:t>sinh</a:t>
            </a:r>
            <a:r>
              <a:rPr lang="en-US" dirty="0"/>
              <a:t> </a:t>
            </a:r>
            <a:r>
              <a:rPr lang="en-US" dirty="0" err="1"/>
              <a:t>viên</a:t>
            </a:r>
            <a:r>
              <a:rPr lang="en-US" dirty="0"/>
              <a:t> </a:t>
            </a:r>
            <a:r>
              <a:rPr lang="en-US" dirty="0" err="1"/>
              <a:t>sử</a:t>
            </a:r>
            <a:r>
              <a:rPr lang="en-US" dirty="0"/>
              <a:t> </a:t>
            </a:r>
            <a:r>
              <a:rPr lang="en-US" dirty="0" err="1"/>
              <a:t>dụng</a:t>
            </a:r>
            <a:r>
              <a:rPr lang="en-US" dirty="0"/>
              <a:t> </a:t>
            </a:r>
            <a:r>
              <a:rPr lang="en-US" dirty="0" err="1"/>
              <a:t>mạng</a:t>
            </a:r>
            <a:r>
              <a:rPr lang="en-US" dirty="0"/>
              <a:t> </a:t>
            </a:r>
            <a:r>
              <a:rPr lang="en-US" dirty="0" err="1"/>
              <a:t>quá</a:t>
            </a:r>
            <a:r>
              <a:rPr lang="en-US" dirty="0"/>
              <a:t> </a:t>
            </a:r>
            <a:r>
              <a:rPr lang="en-US" dirty="0" err="1"/>
              <a:t>mức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ảnh</a:t>
            </a:r>
            <a:r>
              <a:rPr lang="en-US" dirty="0"/>
              <a:t> </a:t>
            </a:r>
            <a:r>
              <a:rPr lang="en-US" dirty="0" err="1"/>
              <a:t>hưởng</a:t>
            </a:r>
            <a:r>
              <a:rPr lang="en-US" dirty="0"/>
              <a:t> </a:t>
            </a:r>
            <a:r>
              <a:rPr lang="en-US" dirty="0" err="1"/>
              <a:t>như</a:t>
            </a:r>
            <a:r>
              <a:rPr lang="en-US" dirty="0"/>
              <a:t> </a:t>
            </a:r>
            <a:r>
              <a:rPr lang="en-US" dirty="0" err="1"/>
              <a:t>trung</a:t>
            </a:r>
            <a:r>
              <a:rPr lang="en-US" dirty="0"/>
              <a:t> </a:t>
            </a:r>
            <a:r>
              <a:rPr lang="en-US" dirty="0" err="1"/>
              <a:t>bình</a:t>
            </a:r>
            <a:r>
              <a:rPr lang="en-US" dirty="0"/>
              <a:t> </a:t>
            </a:r>
            <a:r>
              <a:rPr lang="en-US" dirty="0" err="1"/>
              <a:t>giờ</a:t>
            </a:r>
            <a:r>
              <a:rPr lang="en-US" dirty="0"/>
              <a:t> </a:t>
            </a:r>
            <a:r>
              <a:rPr lang="en-US" dirty="0" err="1"/>
              <a:t>ngủ</a:t>
            </a:r>
            <a:r>
              <a:rPr lang="en-US" dirty="0"/>
              <a:t>, </a:t>
            </a:r>
            <a:r>
              <a:rPr lang="en-US" dirty="0" err="1"/>
              <a:t>học</a:t>
            </a:r>
            <a:r>
              <a:rPr lang="en-US" dirty="0"/>
              <a:t> </a:t>
            </a:r>
            <a:r>
              <a:rPr lang="en-US" dirty="0" err="1"/>
              <a:t>tập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sút</a:t>
            </a:r>
            <a:r>
              <a:rPr lang="en-US" dirty="0"/>
              <a:t> </a:t>
            </a:r>
            <a:r>
              <a:rPr lang="en-US" dirty="0" err="1"/>
              <a:t>đồng</a:t>
            </a:r>
            <a:r>
              <a:rPr lang="en-US" dirty="0"/>
              <a:t> </a:t>
            </a:r>
            <a:r>
              <a:rPr lang="en-US" dirty="0" err="1"/>
              <a:t>thời</a:t>
            </a:r>
            <a:r>
              <a:rPr lang="en-US" dirty="0"/>
              <a:t> so </a:t>
            </a:r>
            <a:r>
              <a:rPr lang="en-US" dirty="0" err="1"/>
              <a:t>sánh</a:t>
            </a:r>
            <a:r>
              <a:rPr lang="en-US" dirty="0"/>
              <a:t> </a:t>
            </a:r>
            <a:r>
              <a:rPr lang="en-US" dirty="0" err="1"/>
              <a:t>với</a:t>
            </a:r>
            <a:r>
              <a:rPr lang="en-US" dirty="0"/>
              <a:t> </a:t>
            </a:r>
            <a:r>
              <a:rPr lang="en-US" dirty="0" err="1"/>
              <a:t>nhóm</a:t>
            </a:r>
            <a:r>
              <a:rPr lang="en-US" dirty="0"/>
              <a:t> </a:t>
            </a:r>
            <a:r>
              <a:rPr lang="en-US" dirty="0" err="1"/>
              <a:t>sinh</a:t>
            </a:r>
            <a:r>
              <a:rPr lang="en-US" dirty="0"/>
              <a:t> </a:t>
            </a:r>
            <a:r>
              <a:rPr lang="en-US" dirty="0" err="1"/>
              <a:t>viên</a:t>
            </a:r>
            <a:r>
              <a:rPr lang="en-US" dirty="0"/>
              <a:t>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sử</a:t>
            </a:r>
            <a:r>
              <a:rPr lang="en-US" dirty="0"/>
              <a:t> </a:t>
            </a:r>
            <a:r>
              <a:rPr lang="en-US" dirty="0" err="1"/>
              <a:t>dụng</a:t>
            </a:r>
            <a:r>
              <a:rPr lang="en-US" dirty="0"/>
              <a:t> </a:t>
            </a:r>
            <a:r>
              <a:rPr lang="en-US" dirty="0" err="1"/>
              <a:t>mạng</a:t>
            </a:r>
            <a:r>
              <a:rPr lang="en-US" dirty="0"/>
              <a:t> </a:t>
            </a:r>
            <a:r>
              <a:rPr lang="en-US" dirty="0" err="1"/>
              <a:t>nhiều</a:t>
            </a:r>
            <a:endParaRPr lang="en-US" sz="2000" dirty="0"/>
          </a:p>
          <a:p>
            <a:pPr>
              <a:buFont typeface="Wingdings" pitchFamily="2" charset="2"/>
              <a:buChar char="&amp;"/>
            </a:pPr>
            <a:r>
              <a:rPr lang="en-US" sz="2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Bạn</a:t>
            </a:r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sz="2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muốn</a:t>
            </a:r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sz="2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đề</a:t>
            </a:r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sz="2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xuất</a:t>
            </a:r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sz="2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giải</a:t>
            </a:r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sz="2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pháp</a:t>
            </a:r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sz="2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gì</a:t>
            </a:r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sz="2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từ</a:t>
            </a:r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sz="2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những</a:t>
            </a:r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sz="2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phân</a:t>
            </a:r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sz="2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tích</a:t>
            </a:r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sz="2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này</a:t>
            </a:r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?</a:t>
            </a:r>
            <a:endParaRPr lang="en-US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lvl="1"/>
            <a:r>
              <a:rPr lang="en-US" dirty="0" err="1"/>
              <a:t>Hướng</a:t>
            </a:r>
            <a:r>
              <a:rPr lang="en-US" dirty="0"/>
              <a:t> </a:t>
            </a:r>
            <a:r>
              <a:rPr lang="en-US" dirty="0" err="1"/>
              <a:t>sinh</a:t>
            </a:r>
            <a:r>
              <a:rPr lang="en-US" dirty="0"/>
              <a:t> </a:t>
            </a:r>
            <a:r>
              <a:rPr lang="en-US" dirty="0" err="1"/>
              <a:t>viên</a:t>
            </a:r>
            <a:r>
              <a:rPr lang="en-US" dirty="0"/>
              <a:t> </a:t>
            </a:r>
            <a:r>
              <a:rPr lang="en-US" dirty="0" err="1"/>
              <a:t>kĩ</a:t>
            </a:r>
            <a:r>
              <a:rPr lang="en-US" dirty="0"/>
              <a:t> </a:t>
            </a:r>
            <a:r>
              <a:rPr lang="en-US" dirty="0" err="1"/>
              <a:t>năng</a:t>
            </a:r>
            <a:r>
              <a:rPr lang="en-US" dirty="0"/>
              <a:t> </a:t>
            </a:r>
            <a:r>
              <a:rPr lang="en-US" dirty="0" err="1"/>
              <a:t>quản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thời</a:t>
            </a:r>
            <a:r>
              <a:rPr lang="en-US" dirty="0"/>
              <a:t> </a:t>
            </a:r>
            <a:r>
              <a:rPr lang="en-US" dirty="0" err="1"/>
              <a:t>gian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tham</a:t>
            </a:r>
            <a:r>
              <a:rPr lang="en-US" dirty="0"/>
              <a:t> </a:t>
            </a:r>
            <a:r>
              <a:rPr lang="en-US" dirty="0" err="1"/>
              <a:t>gia</a:t>
            </a:r>
            <a:r>
              <a:rPr lang="en-US" dirty="0"/>
              <a:t> </a:t>
            </a:r>
            <a:r>
              <a:rPr lang="en-US" dirty="0" err="1"/>
              <a:t>vào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hoạt</a:t>
            </a:r>
            <a:r>
              <a:rPr lang="en-US" dirty="0"/>
              <a:t> </a:t>
            </a:r>
            <a:r>
              <a:rPr lang="en-US" dirty="0" err="1"/>
              <a:t>động</a:t>
            </a:r>
            <a:r>
              <a:rPr lang="en-US" dirty="0"/>
              <a:t> </a:t>
            </a:r>
            <a:r>
              <a:rPr lang="en-US" dirty="0" err="1"/>
              <a:t>ngoại</a:t>
            </a:r>
            <a:r>
              <a:rPr lang="en-US" dirty="0"/>
              <a:t> </a:t>
            </a:r>
            <a:r>
              <a:rPr lang="en-US" dirty="0" err="1"/>
              <a:t>khóa</a:t>
            </a:r>
            <a:r>
              <a:rPr lang="en-US" dirty="0"/>
              <a:t> </a:t>
            </a:r>
            <a:r>
              <a:rPr lang="en-US" dirty="0" err="1"/>
              <a:t>khác</a:t>
            </a:r>
            <a:r>
              <a:rPr lang="en-US" dirty="0"/>
              <a:t> </a:t>
            </a:r>
            <a:r>
              <a:rPr lang="en-US" dirty="0" err="1"/>
              <a:t>như</a:t>
            </a:r>
            <a:r>
              <a:rPr lang="en-US" dirty="0"/>
              <a:t> </a:t>
            </a:r>
            <a:r>
              <a:rPr lang="en-US" dirty="0" err="1"/>
              <a:t>học</a:t>
            </a:r>
            <a:r>
              <a:rPr lang="en-US" dirty="0"/>
              <a:t> </a:t>
            </a:r>
            <a:r>
              <a:rPr lang="en-US" dirty="0" err="1"/>
              <a:t>nhóm</a:t>
            </a:r>
            <a:r>
              <a:rPr lang="en-US" dirty="0"/>
              <a:t>, </a:t>
            </a:r>
            <a:r>
              <a:rPr lang="en-US" dirty="0" err="1"/>
              <a:t>chơi</a:t>
            </a:r>
            <a:r>
              <a:rPr lang="en-US" dirty="0"/>
              <a:t> </a:t>
            </a:r>
            <a:r>
              <a:rPr lang="en-US" dirty="0" err="1"/>
              <a:t>thể</a:t>
            </a:r>
            <a:r>
              <a:rPr lang="en-US" dirty="0"/>
              <a:t> </a:t>
            </a:r>
            <a:r>
              <a:rPr lang="en-US" dirty="0" err="1"/>
              <a:t>thao</a:t>
            </a:r>
            <a:r>
              <a:rPr lang="en-US" dirty="0"/>
              <a:t>. </a:t>
            </a:r>
            <a:r>
              <a:rPr lang="en-US" dirty="0" err="1"/>
              <a:t>Làm</a:t>
            </a:r>
            <a:r>
              <a:rPr lang="en-US" dirty="0"/>
              <a:t> </a:t>
            </a:r>
            <a:r>
              <a:rPr lang="en-US" dirty="0" err="1"/>
              <a:t>công</a:t>
            </a:r>
            <a:r>
              <a:rPr lang="en-US" dirty="0"/>
              <a:t> </a:t>
            </a:r>
            <a:r>
              <a:rPr lang="en-US" dirty="0" err="1"/>
              <a:t>tác</a:t>
            </a:r>
            <a:r>
              <a:rPr lang="en-US" dirty="0"/>
              <a:t> </a:t>
            </a:r>
            <a:r>
              <a:rPr lang="en-US" dirty="0" err="1"/>
              <a:t>tư</a:t>
            </a:r>
            <a:r>
              <a:rPr lang="en-US" dirty="0"/>
              <a:t> </a:t>
            </a:r>
            <a:r>
              <a:rPr lang="en-US" dirty="0" err="1"/>
              <a:t>tưởng</a:t>
            </a:r>
            <a:r>
              <a:rPr lang="en-US" dirty="0"/>
              <a:t> </a:t>
            </a:r>
            <a:r>
              <a:rPr lang="en-US" dirty="0" err="1"/>
              <a:t>nhằm</a:t>
            </a:r>
            <a:r>
              <a:rPr lang="en-US" dirty="0"/>
              <a:t> </a:t>
            </a:r>
            <a:r>
              <a:rPr lang="en-US" dirty="0" err="1"/>
              <a:t>nâng</a:t>
            </a:r>
            <a:r>
              <a:rPr lang="en-US" dirty="0"/>
              <a:t> </a:t>
            </a:r>
            <a:r>
              <a:rPr lang="en-US" dirty="0" err="1"/>
              <a:t>cao</a:t>
            </a:r>
            <a:r>
              <a:rPr lang="en-US" dirty="0"/>
              <a:t> ý </a:t>
            </a:r>
            <a:r>
              <a:rPr lang="en-US" dirty="0" err="1"/>
              <a:t>thức</a:t>
            </a:r>
            <a:r>
              <a:rPr lang="en-US" dirty="0"/>
              <a:t> </a:t>
            </a:r>
            <a:r>
              <a:rPr lang="en-US" dirty="0" err="1"/>
              <a:t>sử</a:t>
            </a:r>
            <a:r>
              <a:rPr lang="en-US" dirty="0"/>
              <a:t> </a:t>
            </a:r>
            <a:r>
              <a:rPr lang="en-US" dirty="0" err="1"/>
              <a:t>dụng</a:t>
            </a:r>
            <a:r>
              <a:rPr lang="en-US" dirty="0"/>
              <a:t> </a:t>
            </a:r>
            <a:r>
              <a:rPr lang="en-US" dirty="0" err="1"/>
              <a:t>mạng</a:t>
            </a:r>
            <a:r>
              <a:rPr lang="en-US" dirty="0"/>
              <a:t> </a:t>
            </a:r>
            <a:r>
              <a:rPr lang="en-US" dirty="0" err="1"/>
              <a:t>đúng</a:t>
            </a:r>
            <a:r>
              <a:rPr lang="en-US" dirty="0"/>
              <a:t> </a:t>
            </a:r>
            <a:r>
              <a:rPr lang="vi-VN" dirty="0"/>
              <a:t>cách.</a:t>
            </a:r>
            <a:endParaRPr lang="en-US" sz="20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22B0B0-5D26-5259-50F8-D17B510053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&lt;&lt;</a:t>
            </a:r>
            <a:r>
              <a:rPr lang="vi-VN" dirty="0"/>
              <a:t>Phân tích thói quen dùng MXH</a:t>
            </a:r>
            <a:r>
              <a:rPr lang="en-US" dirty="0"/>
              <a:t>&gt;&gt;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50B8EB-6135-D8CC-5585-58A7EF749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9991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Phân tích</a:t>
            </a:r>
            <a:r>
              <a:rPr lang="en-US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dự án #2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066800"/>
            <a:ext cx="10972800" cy="5257800"/>
          </a:xfrm>
        </p:spPr>
        <p:txBody>
          <a:bodyPr vert="horz" lIns="91440" tIns="45720" rIns="91440" bIns="45720" rtlCol="0" anchor="t">
            <a:noAutofit/>
          </a:bodyPr>
          <a:lstStyle/>
          <a:p>
            <a:pPr>
              <a:buFont typeface="Wingdings" pitchFamily="2" charset="2"/>
              <a:buChar char="v"/>
            </a:pPr>
            <a:r>
              <a:rPr lang="vi-VN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Ai là người cần </a:t>
            </a:r>
            <a:r>
              <a:rPr lang="en-US" sz="2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xem</a:t>
            </a:r>
            <a:r>
              <a:rPr lang="vi-VN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</a:t>
            </a:r>
            <a:r>
              <a:rPr lang="en-US" sz="2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báo</a:t>
            </a:r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</a:t>
            </a:r>
            <a:r>
              <a:rPr lang="en-US" sz="2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cáo</a:t>
            </a:r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</a:t>
            </a:r>
            <a:r>
              <a:rPr lang="vi-VN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này </a:t>
            </a:r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?</a:t>
            </a:r>
            <a:endParaRPr lang="en-US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"/>
              <a:cs typeface="Segoe UI"/>
            </a:endParaRPr>
          </a:p>
          <a:p>
            <a:pPr lvl="1"/>
            <a:r>
              <a:rPr lang="pt-BR" dirty="0">
                <a:latin typeface="Segoe UI"/>
                <a:cs typeface="Segoe UI"/>
              </a:rPr>
              <a:t>Ban giám hiệu &amp; Phòng Công Tác Sinh Viên</a:t>
            </a:r>
            <a:endParaRPr lang="en-US" sz="2000" dirty="0">
              <a:latin typeface="Segoe UI"/>
              <a:cs typeface="Segoe UI"/>
            </a:endParaRPr>
          </a:p>
          <a:p>
            <a:pPr lvl="1"/>
            <a:r>
              <a:rPr lang="vi-VN" dirty="0">
                <a:latin typeface="Segoe UI"/>
                <a:cs typeface="Segoe UI"/>
              </a:rPr>
              <a:t>C</a:t>
            </a:r>
            <a:r>
              <a:rPr lang="pt-BR" dirty="0">
                <a:latin typeface="Segoe UI"/>
                <a:cs typeface="Segoe UI"/>
              </a:rPr>
              <a:t>ố vấn học tập</a:t>
            </a:r>
            <a:endParaRPr lang="en-US" sz="2000" dirty="0">
              <a:latin typeface="Segoe UI"/>
              <a:cs typeface="Segoe UI"/>
            </a:endParaRPr>
          </a:p>
          <a:p>
            <a:pPr>
              <a:buFont typeface="Wingdings" pitchFamily="2" charset="2"/>
              <a:buChar char="v"/>
            </a:pPr>
            <a:r>
              <a:rPr lang="en-US" sz="2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Họ</a:t>
            </a:r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</a:t>
            </a:r>
            <a:r>
              <a:rPr lang="en-US" sz="2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đã</a:t>
            </a:r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</a:t>
            </a:r>
            <a:r>
              <a:rPr lang="en-US" sz="2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biết</a:t>
            </a:r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</a:t>
            </a:r>
            <a:r>
              <a:rPr lang="en-US" sz="2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tới</a:t>
            </a:r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</a:t>
            </a:r>
            <a:r>
              <a:rPr lang="en-US" sz="2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lĩnh</a:t>
            </a:r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</a:t>
            </a:r>
            <a:r>
              <a:rPr lang="en-US" sz="2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vực</a:t>
            </a:r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</a:t>
            </a:r>
            <a:r>
              <a:rPr lang="en-US" sz="2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này</a:t>
            </a:r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</a:t>
            </a:r>
            <a:r>
              <a:rPr lang="en-US" sz="2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chưa</a:t>
            </a:r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?</a:t>
            </a:r>
            <a:endParaRPr lang="en-US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"/>
              <a:cs typeface="Segoe UI"/>
            </a:endParaRPr>
          </a:p>
          <a:p>
            <a:pPr lvl="1"/>
            <a:r>
              <a:rPr lang="vi-VN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Họ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hiểu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về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các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vấn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đề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của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sinh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viên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nhưng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không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phải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là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chuyên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gia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dữ</a:t>
            </a:r>
            <a:r>
              <a:rPr lang="vi-VN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liệu</a:t>
            </a:r>
            <a:r>
              <a:rPr lang="en-US" dirty="0">
                <a:latin typeface="Segoe UI"/>
                <a:cs typeface="Segoe UI"/>
              </a:rPr>
              <a:t>. </a:t>
            </a:r>
            <a:r>
              <a:rPr lang="en-US" dirty="0" err="1">
                <a:latin typeface="Segoe UI"/>
                <a:cs typeface="Segoe UI"/>
              </a:rPr>
              <a:t>Họ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cần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thông</a:t>
            </a:r>
            <a:r>
              <a:rPr lang="en-US" dirty="0">
                <a:latin typeface="Segoe UI"/>
                <a:cs typeface="Segoe UI"/>
              </a:rPr>
              <a:t> tin </a:t>
            </a:r>
            <a:r>
              <a:rPr lang="en-US" dirty="0" err="1">
                <a:latin typeface="Segoe UI"/>
                <a:cs typeface="Segoe UI"/>
              </a:rPr>
              <a:t>rõ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ràng</a:t>
            </a:r>
            <a:r>
              <a:rPr lang="en-US" dirty="0">
                <a:latin typeface="Segoe UI"/>
                <a:cs typeface="Segoe UI"/>
              </a:rPr>
              <a:t>, </a:t>
            </a:r>
            <a:r>
              <a:rPr lang="en-US" dirty="0" err="1">
                <a:latin typeface="Segoe UI"/>
                <a:cs typeface="Segoe UI"/>
              </a:rPr>
              <a:t>súc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tích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và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có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tính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cảnh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báo</a:t>
            </a:r>
            <a:r>
              <a:rPr lang="en-US" dirty="0">
                <a:latin typeface="Segoe UI"/>
                <a:cs typeface="Segoe UI"/>
              </a:rPr>
              <a:t>.</a:t>
            </a:r>
            <a:endParaRPr lang="en-US" sz="2000" dirty="0">
              <a:latin typeface="Segoe UI"/>
              <a:cs typeface="Segoe UI"/>
            </a:endParaRPr>
          </a:p>
          <a:p>
            <a:pPr>
              <a:buFont typeface="Wingdings" pitchFamily="2" charset="2"/>
              <a:buChar char="v"/>
            </a:pPr>
            <a:r>
              <a:rPr lang="en-US" sz="2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Xác</a:t>
            </a:r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</a:t>
            </a:r>
            <a:r>
              <a:rPr lang="en-US" sz="2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định</a:t>
            </a:r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</a:t>
            </a:r>
            <a:r>
              <a:rPr lang="en-US" sz="2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phạm</a:t>
            </a:r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vi </a:t>
            </a:r>
            <a:r>
              <a:rPr lang="en-US" sz="2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của</a:t>
            </a:r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</a:t>
            </a:r>
            <a:r>
              <a:rPr lang="en-US" sz="2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nội</a:t>
            </a:r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dung </a:t>
            </a:r>
            <a:r>
              <a:rPr lang="en-US" sz="2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báo</a:t>
            </a:r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</a:t>
            </a:r>
            <a:r>
              <a:rPr lang="en-US" sz="20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cáo</a:t>
            </a:r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?</a:t>
            </a:r>
            <a:endParaRPr lang="en-US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"/>
              <a:cs typeface="Segoe UI"/>
            </a:endParaRPr>
          </a:p>
          <a:p>
            <a:pPr lvl="1">
              <a:buChar char="v"/>
            </a:pPr>
            <a:r>
              <a:rPr lang="vi-VN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Phân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tích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thói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quen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sử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dụng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mạng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xã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hội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của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sinh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viên</a:t>
            </a:r>
            <a:r>
              <a:rPr lang="en-US" dirty="0">
                <a:latin typeface="Segoe UI"/>
                <a:cs typeface="Segoe UI"/>
              </a:rPr>
              <a:t>.  </a:t>
            </a:r>
            <a:endParaRPr lang="en-US" dirty="0"/>
          </a:p>
          <a:p>
            <a:pPr lvl="1">
              <a:buChar char="v"/>
            </a:pP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Đánh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giá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tác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động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đến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học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tập</a:t>
            </a:r>
            <a:r>
              <a:rPr lang="en-US" dirty="0">
                <a:latin typeface="Segoe UI"/>
                <a:cs typeface="Segoe UI"/>
              </a:rPr>
              <a:t>, </a:t>
            </a:r>
            <a:r>
              <a:rPr lang="en-US" dirty="0" err="1">
                <a:latin typeface="Segoe UI"/>
                <a:cs typeface="Segoe UI"/>
              </a:rPr>
              <a:t>sức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khỏe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tinh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thần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và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giấc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ngủ</a:t>
            </a:r>
            <a:r>
              <a:rPr lang="en-US" dirty="0">
                <a:latin typeface="Segoe UI"/>
                <a:cs typeface="Segoe UI"/>
              </a:rPr>
              <a:t>.  </a:t>
            </a:r>
          </a:p>
          <a:p>
            <a:pPr lvl="1">
              <a:buChar char="v"/>
            </a:pP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Xác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định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nhóm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sinh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viên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có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nguy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cơ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cao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để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cảnh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báo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sớm</a:t>
            </a:r>
            <a:r>
              <a:rPr lang="en-US" dirty="0">
                <a:latin typeface="Segoe UI"/>
                <a:cs typeface="Segoe UI"/>
              </a:rPr>
              <a:t>.  </a:t>
            </a:r>
          </a:p>
          <a:p>
            <a:pPr lvl="1">
              <a:buChar char="v"/>
            </a:pP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Đề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xuất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hướng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tuyên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truyền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và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quản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lý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phù</a:t>
            </a:r>
            <a:r>
              <a:rPr lang="en-US" dirty="0">
                <a:latin typeface="Segoe UI"/>
                <a:cs typeface="Segoe UI"/>
              </a:rPr>
              <a:t> </a:t>
            </a:r>
            <a:r>
              <a:rPr lang="en-US" dirty="0" err="1">
                <a:latin typeface="Segoe UI"/>
                <a:cs typeface="Segoe UI"/>
              </a:rPr>
              <a:t>hợp</a:t>
            </a:r>
            <a:r>
              <a:rPr lang="en-US" dirty="0">
                <a:latin typeface="Segoe UI"/>
                <a:cs typeface="Segoe UI"/>
              </a:rPr>
              <a:t>.</a:t>
            </a:r>
            <a:endParaRPr lang="en-US" dirty="0"/>
          </a:p>
          <a:p>
            <a:pPr marL="457200" lvl="1" indent="0">
              <a:buNone/>
            </a:pPr>
            <a:endParaRPr lang="en-US" sz="2000" dirty="0"/>
          </a:p>
          <a:p>
            <a:pPr>
              <a:buChar char="v"/>
            </a:pPr>
            <a:endParaRPr lang="en-US" sz="2000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A449B3-0DCA-4F81-5584-7DC686A1BE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&lt;&lt;</a:t>
            </a:r>
            <a:r>
              <a:rPr lang="vi-VN" dirty="0"/>
              <a:t>Phân tích thói quen dùng MXH</a:t>
            </a:r>
            <a:r>
              <a:rPr lang="en-US" dirty="0"/>
              <a:t>&gt;&gt;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EECD4D-F254-262B-FEB0-BD984B8146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63959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Phân tích</a:t>
            </a:r>
            <a:r>
              <a:rPr lang="en-US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dự án #2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066800"/>
            <a:ext cx="9347198" cy="5257800"/>
          </a:xfrm>
        </p:spPr>
        <p:txBody>
          <a:bodyPr>
            <a:noAutofit/>
          </a:bodyPr>
          <a:lstStyle/>
          <a:p>
            <a:pPr>
              <a:buFont typeface="Wingdings" pitchFamily="2" charset="2"/>
              <a:buChar char="&amp;"/>
            </a:pPr>
            <a:r>
              <a:rPr lang="en-US" sz="2000" b="1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Bạn</a:t>
            </a:r>
            <a:r>
              <a:rPr lang="en-US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sz="2000" b="1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dự</a:t>
            </a:r>
            <a:r>
              <a:rPr lang="en-US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sz="2000" b="1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định</a:t>
            </a:r>
            <a:r>
              <a:rPr lang="en-US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sz="2000" b="1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dùng</a:t>
            </a:r>
            <a:r>
              <a:rPr lang="en-US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sz="2000" b="1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hình</a:t>
            </a:r>
            <a:r>
              <a:rPr lang="en-US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sz="2000" b="1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ảnh</a:t>
            </a:r>
            <a:r>
              <a:rPr lang="en-US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, </a:t>
            </a:r>
            <a:r>
              <a:rPr lang="en-US" sz="2000" b="1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biểu</a:t>
            </a:r>
            <a:r>
              <a:rPr lang="en-US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sz="2000" b="1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đồ</a:t>
            </a:r>
            <a:r>
              <a:rPr lang="en-US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sz="2000" b="1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gì</a:t>
            </a:r>
            <a:r>
              <a:rPr lang="en-US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sz="2000" b="1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cho</a:t>
            </a:r>
            <a:r>
              <a:rPr lang="en-US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sz="2000" b="1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báo</a:t>
            </a:r>
            <a:r>
              <a:rPr lang="en-US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sz="2000" b="1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cáo</a:t>
            </a:r>
            <a:r>
              <a:rPr lang="vi-VN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?</a:t>
            </a:r>
            <a:endParaRPr lang="en-US" sz="20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lvl="1"/>
            <a:r>
              <a:rPr lang="en-US" err="1"/>
              <a:t>Biểu</a:t>
            </a:r>
            <a:r>
              <a:rPr lang="en-US"/>
              <a:t> </a:t>
            </a:r>
            <a:r>
              <a:rPr lang="en-US" err="1"/>
              <a:t>đồ</a:t>
            </a:r>
            <a:r>
              <a:rPr lang="en-US"/>
              <a:t> </a:t>
            </a:r>
            <a:r>
              <a:rPr lang="en-US" err="1"/>
              <a:t>Treemap</a:t>
            </a:r>
            <a:endParaRPr lang="en-US" sz="2000"/>
          </a:p>
          <a:p>
            <a:pPr lvl="1"/>
            <a:r>
              <a:rPr lang="en-US" err="1"/>
              <a:t>Biểu</a:t>
            </a:r>
            <a:r>
              <a:rPr lang="en-US"/>
              <a:t> </a:t>
            </a:r>
            <a:r>
              <a:rPr lang="en-US" err="1"/>
              <a:t>đồ</a:t>
            </a:r>
            <a:r>
              <a:rPr lang="en-US"/>
              <a:t> </a:t>
            </a:r>
            <a:r>
              <a:rPr lang="en-US" err="1"/>
              <a:t>cột</a:t>
            </a:r>
            <a:endParaRPr lang="en-US" sz="2000"/>
          </a:p>
          <a:p>
            <a:pPr lvl="1"/>
            <a:r>
              <a:rPr lang="en-US" err="1"/>
              <a:t>Biểu</a:t>
            </a:r>
            <a:r>
              <a:rPr lang="en-US"/>
              <a:t> </a:t>
            </a:r>
            <a:r>
              <a:rPr lang="en-US" err="1"/>
              <a:t>đồ</a:t>
            </a:r>
            <a:r>
              <a:rPr lang="en-US"/>
              <a:t> </a:t>
            </a:r>
            <a:r>
              <a:rPr lang="en-US" err="1"/>
              <a:t>thanh</a:t>
            </a:r>
            <a:r>
              <a:rPr lang="en-US"/>
              <a:t> (Bar chart)</a:t>
            </a:r>
            <a:endParaRPr lang="en-US" sz="2000"/>
          </a:p>
          <a:p>
            <a:pPr lvl="1"/>
            <a:r>
              <a:rPr lang="en-US" err="1"/>
              <a:t>Biểu</a:t>
            </a:r>
            <a:r>
              <a:rPr lang="en-US"/>
              <a:t> </a:t>
            </a:r>
            <a:r>
              <a:rPr lang="en-US" err="1"/>
              <a:t>đồ</a:t>
            </a:r>
            <a:r>
              <a:rPr lang="en-US"/>
              <a:t> Scatter Plot</a:t>
            </a:r>
            <a:endParaRPr lang="en-US" sz="20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lvl="1"/>
            <a:r>
              <a:rPr lang="en-US" err="1"/>
              <a:t>Biểu</a:t>
            </a:r>
            <a:r>
              <a:rPr lang="en-US"/>
              <a:t> </a:t>
            </a:r>
            <a:r>
              <a:rPr lang="en-US" err="1"/>
              <a:t>đồ</a:t>
            </a:r>
            <a:r>
              <a:rPr lang="en-US"/>
              <a:t> Donut</a:t>
            </a:r>
            <a:endParaRPr lang="en-US" sz="2000"/>
          </a:p>
          <a:p>
            <a:endParaRPr lang="en-US" sz="20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F4D594-AF29-E937-78F0-77E4757A7A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&lt;&lt;</a:t>
            </a:r>
            <a:r>
              <a:rPr lang="vi-VN" dirty="0"/>
              <a:t>Phân tích thói quen dùng MXH</a:t>
            </a:r>
            <a:r>
              <a:rPr lang="en-US" dirty="0"/>
              <a:t>&gt;&gt;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A73F37E-AB0C-5D6E-B067-B57AD0029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02702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Phân tích</a:t>
            </a:r>
            <a:r>
              <a:rPr lang="en-US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dự án #3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066800"/>
            <a:ext cx="10963873" cy="5288691"/>
          </a:xfrm>
        </p:spPr>
        <p:txBody>
          <a:bodyPr vert="horz" lIns="91440" tIns="45720" rIns="91440" bIns="45720" rtlCol="0" anchor="t">
            <a:noAutofit/>
          </a:bodyPr>
          <a:lstStyle/>
          <a:p>
            <a:pPr>
              <a:buFont typeface="Wingdings" pitchFamily="2" charset="2"/>
              <a:buChar char="&amp;"/>
            </a:pPr>
            <a:r>
              <a:rPr lang="en-US" sz="2000" b="1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Những</a:t>
            </a:r>
            <a:r>
              <a:rPr lang="en-US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</a:t>
            </a:r>
            <a:r>
              <a:rPr lang="en-US" sz="2000" b="1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lưu</a:t>
            </a:r>
            <a:r>
              <a:rPr lang="en-US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ý </a:t>
            </a:r>
            <a:r>
              <a:rPr lang="en-US" sz="2000" b="1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và</a:t>
            </a:r>
            <a:r>
              <a:rPr lang="en-US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</a:t>
            </a:r>
            <a:r>
              <a:rPr lang="en-US" sz="2000" b="1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quy</a:t>
            </a:r>
            <a:r>
              <a:rPr lang="en-US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</a:t>
            </a:r>
            <a:r>
              <a:rPr lang="en-US" sz="2000" b="1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ước</a:t>
            </a:r>
            <a:r>
              <a:rPr lang="en-US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</a:t>
            </a:r>
            <a:r>
              <a:rPr lang="en-US" sz="2000" b="1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trong</a:t>
            </a:r>
            <a:r>
              <a:rPr lang="en-US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</a:t>
            </a:r>
            <a:r>
              <a:rPr lang="en-US" sz="2000" b="1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nội</a:t>
            </a:r>
            <a:r>
              <a:rPr lang="en-US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dung </a:t>
            </a:r>
            <a:r>
              <a:rPr lang="en-US" sz="2000" b="1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báo</a:t>
            </a:r>
            <a:r>
              <a:rPr lang="en-US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</a:t>
            </a:r>
            <a:r>
              <a:rPr lang="en-US" sz="2000" b="1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cáo</a:t>
            </a:r>
            <a:r>
              <a:rPr lang="vi-VN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</a:t>
            </a:r>
            <a:r>
              <a:rPr lang="en-US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?</a:t>
            </a:r>
            <a:endParaRPr lang="en-US" sz="20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"/>
              <a:cs typeface="Segoe UI"/>
            </a:endParaRPr>
          </a:p>
          <a:p>
            <a:pPr lvl="1"/>
            <a:r>
              <a:rPr lang="en-US">
                <a:latin typeface="Segoe UI"/>
                <a:cs typeface="Segoe UI"/>
              </a:rPr>
              <a:t>🔴🟠🟡 </a:t>
            </a:r>
            <a:r>
              <a:rPr lang="en-US" err="1">
                <a:latin typeface="Segoe UI"/>
                <a:cs typeface="Segoe UI"/>
              </a:rPr>
              <a:t>Sử</a:t>
            </a:r>
            <a:r>
              <a:rPr lang="en-US">
                <a:latin typeface="Segoe UI"/>
                <a:cs typeface="Segoe UI"/>
              </a:rPr>
              <a:t> </a:t>
            </a:r>
            <a:r>
              <a:rPr lang="en-US" err="1">
                <a:latin typeface="Segoe UI"/>
                <a:cs typeface="Segoe UI"/>
              </a:rPr>
              <a:t>dụng</a:t>
            </a:r>
            <a:r>
              <a:rPr lang="en-US">
                <a:latin typeface="Segoe UI"/>
                <a:cs typeface="Segoe UI"/>
              </a:rPr>
              <a:t> </a:t>
            </a:r>
            <a:r>
              <a:rPr lang="en-US" err="1">
                <a:latin typeface="Segoe UI"/>
                <a:cs typeface="Segoe UI"/>
              </a:rPr>
              <a:t>màu</a:t>
            </a:r>
            <a:r>
              <a:rPr lang="en-US">
                <a:latin typeface="Segoe UI"/>
                <a:cs typeface="Segoe UI"/>
              </a:rPr>
              <a:t> </a:t>
            </a:r>
            <a:r>
              <a:rPr lang="en-US" err="1">
                <a:latin typeface="Segoe UI"/>
                <a:cs typeface="Segoe UI"/>
              </a:rPr>
              <a:t>sắc</a:t>
            </a:r>
            <a:r>
              <a:rPr lang="en-US">
                <a:latin typeface="Segoe UI"/>
                <a:cs typeface="Segoe UI"/>
              </a:rPr>
              <a:t> </a:t>
            </a:r>
            <a:r>
              <a:rPr lang="en-US" err="1">
                <a:latin typeface="Segoe UI"/>
                <a:cs typeface="Segoe UI"/>
              </a:rPr>
              <a:t>cảnh</a:t>
            </a:r>
            <a:r>
              <a:rPr lang="en-US">
                <a:latin typeface="Segoe UI"/>
                <a:cs typeface="Segoe UI"/>
              </a:rPr>
              <a:t> </a:t>
            </a:r>
            <a:r>
              <a:rPr lang="en-US" err="1">
                <a:latin typeface="Segoe UI"/>
                <a:cs typeface="Segoe UI"/>
              </a:rPr>
              <a:t>báo</a:t>
            </a:r>
            <a:r>
              <a:rPr lang="en-US">
                <a:latin typeface="Segoe UI"/>
                <a:cs typeface="Segoe UI"/>
              </a:rPr>
              <a:t> (</a:t>
            </a:r>
            <a:r>
              <a:rPr lang="en-US" err="1">
                <a:latin typeface="Segoe UI"/>
                <a:cs typeface="Segoe UI"/>
              </a:rPr>
              <a:t>đỏ</a:t>
            </a:r>
            <a:r>
              <a:rPr lang="en-US">
                <a:latin typeface="Segoe UI"/>
                <a:cs typeface="Segoe UI"/>
              </a:rPr>
              <a:t>, cam, </a:t>
            </a:r>
            <a:r>
              <a:rPr lang="en-US" err="1">
                <a:latin typeface="Segoe UI"/>
                <a:cs typeface="Segoe UI"/>
              </a:rPr>
              <a:t>vàng</a:t>
            </a:r>
            <a:r>
              <a:rPr lang="en-US">
                <a:latin typeface="Segoe UI"/>
                <a:cs typeface="Segoe UI"/>
              </a:rPr>
              <a:t>) </a:t>
            </a:r>
            <a:r>
              <a:rPr lang="en-US" err="1">
                <a:latin typeface="Segoe UI"/>
                <a:cs typeface="Segoe UI"/>
              </a:rPr>
              <a:t>cho</a:t>
            </a:r>
            <a:r>
              <a:rPr lang="en-US">
                <a:latin typeface="Segoe UI"/>
                <a:cs typeface="Segoe UI"/>
              </a:rPr>
              <a:t> </a:t>
            </a:r>
            <a:r>
              <a:rPr lang="en-US" err="1">
                <a:latin typeface="Segoe UI"/>
                <a:cs typeface="Segoe UI"/>
              </a:rPr>
              <a:t>các</a:t>
            </a:r>
            <a:r>
              <a:rPr lang="en-US">
                <a:latin typeface="Segoe UI"/>
                <a:cs typeface="Segoe UI"/>
              </a:rPr>
              <a:t> </a:t>
            </a:r>
            <a:r>
              <a:rPr lang="en-US" err="1">
                <a:latin typeface="Segoe UI"/>
                <a:cs typeface="Segoe UI"/>
              </a:rPr>
              <a:t>chỉ</a:t>
            </a:r>
            <a:r>
              <a:rPr lang="en-US">
                <a:latin typeface="Segoe UI"/>
                <a:cs typeface="Segoe UI"/>
              </a:rPr>
              <a:t> </a:t>
            </a:r>
            <a:r>
              <a:rPr lang="en-US" err="1">
                <a:latin typeface="Segoe UI"/>
                <a:cs typeface="Segoe UI"/>
              </a:rPr>
              <a:t>số</a:t>
            </a:r>
            <a:r>
              <a:rPr lang="en-US">
                <a:latin typeface="Segoe UI"/>
                <a:cs typeface="Segoe UI"/>
              </a:rPr>
              <a:t> </a:t>
            </a:r>
            <a:r>
              <a:rPr lang="en-US" err="1">
                <a:latin typeface="Segoe UI"/>
                <a:cs typeface="Segoe UI"/>
              </a:rPr>
              <a:t>tiêu</a:t>
            </a:r>
            <a:r>
              <a:rPr lang="en-US">
                <a:latin typeface="Segoe UI"/>
                <a:cs typeface="Segoe UI"/>
              </a:rPr>
              <a:t> </a:t>
            </a:r>
            <a:r>
              <a:rPr lang="en-US" err="1">
                <a:latin typeface="Segoe UI"/>
                <a:cs typeface="Segoe UI"/>
              </a:rPr>
              <a:t>cực</a:t>
            </a:r>
            <a:r>
              <a:rPr lang="en-US">
                <a:latin typeface="Segoe UI"/>
                <a:cs typeface="Segoe UI"/>
              </a:rPr>
              <a:t> (</a:t>
            </a:r>
            <a:r>
              <a:rPr lang="en-US" err="1">
                <a:latin typeface="Segoe UI"/>
                <a:cs typeface="Segoe UI"/>
              </a:rPr>
              <a:t>ví</a:t>
            </a:r>
            <a:r>
              <a:rPr lang="en-US">
                <a:latin typeface="Segoe UI"/>
                <a:cs typeface="Segoe UI"/>
              </a:rPr>
              <a:t> </a:t>
            </a:r>
            <a:r>
              <a:rPr lang="en-US" err="1">
                <a:latin typeface="Segoe UI"/>
                <a:cs typeface="Segoe UI"/>
              </a:rPr>
              <a:t>dụ</a:t>
            </a:r>
            <a:r>
              <a:rPr lang="en-US">
                <a:latin typeface="Segoe UI"/>
                <a:cs typeface="Segoe UI"/>
              </a:rPr>
              <a:t>: </a:t>
            </a:r>
            <a:r>
              <a:rPr lang="en-US" err="1">
                <a:latin typeface="Segoe UI"/>
                <a:cs typeface="Segoe UI"/>
              </a:rPr>
              <a:t>Addicted_Score</a:t>
            </a:r>
            <a:r>
              <a:rPr lang="en-US">
                <a:latin typeface="Segoe UI"/>
                <a:cs typeface="Segoe UI"/>
              </a:rPr>
              <a:t> </a:t>
            </a:r>
            <a:r>
              <a:rPr lang="en-US" err="1">
                <a:latin typeface="Segoe UI"/>
                <a:cs typeface="Segoe UI"/>
              </a:rPr>
              <a:t>cao</a:t>
            </a:r>
            <a:r>
              <a:rPr lang="en-US">
                <a:latin typeface="Segoe UI"/>
                <a:cs typeface="Segoe UI"/>
              </a:rPr>
              <a:t>, </a:t>
            </a:r>
            <a:r>
              <a:rPr lang="en-US" err="1">
                <a:latin typeface="Segoe UI"/>
                <a:cs typeface="Segoe UI"/>
              </a:rPr>
              <a:t>Mental_Health_Score</a:t>
            </a:r>
            <a:r>
              <a:rPr lang="en-US">
                <a:latin typeface="Segoe UI"/>
                <a:cs typeface="Segoe UI"/>
              </a:rPr>
              <a:t> </a:t>
            </a:r>
            <a:r>
              <a:rPr lang="en-US" err="1">
                <a:latin typeface="Segoe UI"/>
                <a:cs typeface="Segoe UI"/>
              </a:rPr>
              <a:t>thấp</a:t>
            </a:r>
            <a:r>
              <a:rPr lang="en-US">
                <a:latin typeface="Segoe UI"/>
                <a:cs typeface="Segoe UI"/>
              </a:rPr>
              <a:t>).</a:t>
            </a:r>
            <a:endParaRPr lang="en-US" sz="2000">
              <a:latin typeface="Segoe UI"/>
              <a:cs typeface="Segoe UI"/>
            </a:endParaRPr>
          </a:p>
          <a:p>
            <a:pPr lvl="1"/>
            <a:r>
              <a:rPr lang="en-US">
                <a:latin typeface="Segoe UI"/>
                <a:cs typeface="Segoe UI"/>
              </a:rPr>
              <a:t>🟢 </a:t>
            </a:r>
            <a:r>
              <a:rPr lang="en-US" err="1">
                <a:latin typeface="Segoe UI"/>
                <a:cs typeface="Segoe UI"/>
              </a:rPr>
              <a:t>Sử</a:t>
            </a:r>
            <a:r>
              <a:rPr lang="en-US">
                <a:latin typeface="Segoe UI"/>
                <a:cs typeface="Segoe UI"/>
              </a:rPr>
              <a:t> </a:t>
            </a:r>
            <a:r>
              <a:rPr lang="en-US" err="1">
                <a:latin typeface="Segoe UI"/>
                <a:cs typeface="Segoe UI"/>
              </a:rPr>
              <a:t>dụng</a:t>
            </a:r>
            <a:r>
              <a:rPr lang="en-US">
                <a:latin typeface="Segoe UI"/>
                <a:cs typeface="Segoe UI"/>
              </a:rPr>
              <a:t> </a:t>
            </a:r>
            <a:r>
              <a:rPr lang="en-US" err="1">
                <a:latin typeface="Segoe UI"/>
                <a:cs typeface="Segoe UI"/>
              </a:rPr>
              <a:t>màu</a:t>
            </a:r>
            <a:r>
              <a:rPr lang="en-US">
                <a:latin typeface="Segoe UI"/>
                <a:cs typeface="Segoe UI"/>
              </a:rPr>
              <a:t> </a:t>
            </a:r>
            <a:r>
              <a:rPr lang="en-US" err="1">
                <a:latin typeface="Segoe UI"/>
                <a:cs typeface="Segoe UI"/>
              </a:rPr>
              <a:t>xanh</a:t>
            </a:r>
            <a:r>
              <a:rPr lang="en-US">
                <a:latin typeface="Segoe UI"/>
                <a:cs typeface="Segoe UI"/>
              </a:rPr>
              <a:t> </a:t>
            </a:r>
            <a:r>
              <a:rPr lang="en-US" err="1">
                <a:latin typeface="Segoe UI"/>
                <a:cs typeface="Segoe UI"/>
              </a:rPr>
              <a:t>lá</a:t>
            </a:r>
            <a:r>
              <a:rPr lang="en-US">
                <a:latin typeface="Segoe UI"/>
                <a:cs typeface="Segoe UI"/>
              </a:rPr>
              <a:t> </a:t>
            </a:r>
            <a:r>
              <a:rPr lang="en-US" err="1">
                <a:latin typeface="Segoe UI"/>
                <a:cs typeface="Segoe UI"/>
              </a:rPr>
              <a:t>cho</a:t>
            </a:r>
            <a:r>
              <a:rPr lang="en-US">
                <a:latin typeface="Segoe UI"/>
                <a:cs typeface="Segoe UI"/>
              </a:rPr>
              <a:t> </a:t>
            </a:r>
            <a:r>
              <a:rPr lang="en-US" err="1">
                <a:latin typeface="Segoe UI"/>
                <a:cs typeface="Segoe UI"/>
              </a:rPr>
              <a:t>các</a:t>
            </a:r>
            <a:r>
              <a:rPr lang="en-US">
                <a:latin typeface="Segoe UI"/>
                <a:cs typeface="Segoe UI"/>
              </a:rPr>
              <a:t> </a:t>
            </a:r>
            <a:r>
              <a:rPr lang="en-US" err="1">
                <a:latin typeface="Segoe UI"/>
                <a:cs typeface="Segoe UI"/>
              </a:rPr>
              <a:t>chỉ</a:t>
            </a:r>
            <a:r>
              <a:rPr lang="en-US">
                <a:latin typeface="Segoe UI"/>
                <a:cs typeface="Segoe UI"/>
              </a:rPr>
              <a:t> </a:t>
            </a:r>
            <a:r>
              <a:rPr lang="en-US" err="1">
                <a:latin typeface="Segoe UI"/>
                <a:cs typeface="Segoe UI"/>
              </a:rPr>
              <a:t>số</a:t>
            </a:r>
            <a:r>
              <a:rPr lang="en-US">
                <a:latin typeface="Segoe UI"/>
                <a:cs typeface="Segoe UI"/>
              </a:rPr>
              <a:t> </a:t>
            </a:r>
            <a:r>
              <a:rPr lang="en-US" err="1">
                <a:latin typeface="Segoe UI"/>
                <a:cs typeface="Segoe UI"/>
              </a:rPr>
              <a:t>tốt</a:t>
            </a:r>
            <a:r>
              <a:rPr lang="en-US">
                <a:latin typeface="Segoe UI"/>
                <a:cs typeface="Segoe UI"/>
              </a:rPr>
              <a:t> (</a:t>
            </a:r>
            <a:r>
              <a:rPr lang="en-US" err="1">
                <a:latin typeface="Segoe UI"/>
                <a:cs typeface="Segoe UI"/>
              </a:rPr>
              <a:t>ví</a:t>
            </a:r>
            <a:r>
              <a:rPr lang="en-US">
                <a:latin typeface="Segoe UI"/>
                <a:cs typeface="Segoe UI"/>
              </a:rPr>
              <a:t> </a:t>
            </a:r>
            <a:r>
              <a:rPr lang="en-US" err="1">
                <a:latin typeface="Segoe UI"/>
                <a:cs typeface="Segoe UI"/>
              </a:rPr>
              <a:t>dụ</a:t>
            </a:r>
            <a:r>
              <a:rPr lang="en-US">
                <a:latin typeface="Segoe UI"/>
                <a:cs typeface="Segoe UI"/>
              </a:rPr>
              <a:t>: </a:t>
            </a:r>
            <a:r>
              <a:rPr lang="en-US" err="1">
                <a:latin typeface="Segoe UI"/>
                <a:cs typeface="Segoe UI"/>
              </a:rPr>
              <a:t>Addicted_Score</a:t>
            </a:r>
            <a:r>
              <a:rPr lang="en-US">
                <a:latin typeface="Segoe UI"/>
                <a:cs typeface="Segoe UI"/>
              </a:rPr>
              <a:t> </a:t>
            </a:r>
            <a:r>
              <a:rPr lang="en-US" err="1">
                <a:latin typeface="Segoe UI"/>
                <a:cs typeface="Segoe UI"/>
              </a:rPr>
              <a:t>thấp</a:t>
            </a:r>
            <a:r>
              <a:rPr lang="en-US">
                <a:latin typeface="Segoe UI"/>
                <a:cs typeface="Segoe UI"/>
              </a:rPr>
              <a:t>, </a:t>
            </a:r>
            <a:r>
              <a:rPr lang="en-US" err="1">
                <a:latin typeface="Segoe UI"/>
                <a:cs typeface="Segoe UI"/>
              </a:rPr>
              <a:t>Mental_Health_Score</a:t>
            </a:r>
            <a:r>
              <a:rPr lang="en-US">
                <a:latin typeface="Segoe UI"/>
                <a:cs typeface="Segoe UI"/>
              </a:rPr>
              <a:t> </a:t>
            </a:r>
            <a:r>
              <a:rPr lang="en-US" err="1">
                <a:latin typeface="Segoe UI"/>
                <a:cs typeface="Segoe UI"/>
              </a:rPr>
              <a:t>cao</a:t>
            </a:r>
            <a:r>
              <a:rPr lang="en-US">
                <a:latin typeface="Segoe UI"/>
                <a:cs typeface="Segoe UI"/>
              </a:rPr>
              <a:t> )</a:t>
            </a:r>
            <a:br>
              <a:rPr lang="vi-VN" sz="2000"/>
            </a:br>
            <a:endParaRPr lang="en-US" sz="20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189FBC-1055-6400-C99E-7A3970FCB0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&lt;&lt;</a:t>
            </a:r>
            <a:r>
              <a:rPr lang="vi-VN" dirty="0"/>
              <a:t>Phân tích thói quen dùng MXH</a:t>
            </a:r>
            <a:r>
              <a:rPr lang="en-US" dirty="0"/>
              <a:t>&gt;&gt;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80E490-C9D3-5218-168B-4DB2A123D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87716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D16FE-BE51-29FB-5420-ABCE0E956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36A1034-BA7F-FA83-FD6F-DB58A6A857C1}"/>
              </a:ext>
            </a:extLst>
          </p:cNvPr>
          <p:cNvSpPr/>
          <p:nvPr/>
        </p:nvSpPr>
        <p:spPr>
          <a:xfrm>
            <a:off x="2843409" y="2497609"/>
            <a:ext cx="6499900" cy="92333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  <a:scene3d>
              <a:camera prst="orthographicFront"/>
              <a:lightRig rig="glow" dir="tl">
                <a:rot lat="0" lon="0" rev="5400000"/>
              </a:lightRig>
            </a:scene3d>
            <a:sp3d contourW="12700">
              <a:bevelT w="25400" h="25400"/>
              <a:contourClr>
                <a:schemeClr val="accent6">
                  <a:shade val="73000"/>
                </a:schemeClr>
              </a:contourClr>
            </a:sp3d>
          </a:bodyPr>
          <a:lstStyle/>
          <a:p>
            <a:r>
              <a:rPr lang="en-US" sz="5400" b="1" cap="small">
                <a:ln w="11430"/>
                <a:gradFill>
                  <a:gsLst>
                    <a:gs pos="0">
                      <a:schemeClr val="accent6">
                        <a:tint val="90000"/>
                        <a:satMod val="120000"/>
                      </a:schemeClr>
                    </a:gs>
                    <a:gs pos="25000">
                      <a:schemeClr val="accent6">
                        <a:tint val="93000"/>
                        <a:satMod val="120000"/>
                      </a:schemeClr>
                    </a:gs>
                    <a:gs pos="50000">
                      <a:schemeClr val="accent6">
                        <a:shade val="89000"/>
                        <a:satMod val="110000"/>
                      </a:schemeClr>
                    </a:gs>
                    <a:gs pos="75000">
                      <a:schemeClr val="accent6">
                        <a:tint val="93000"/>
                        <a:satMod val="120000"/>
                      </a:schemeClr>
                    </a:gs>
                    <a:gs pos="100000">
                      <a:schemeClr val="accent6">
                        <a:tint val="90000"/>
                        <a:satMod val="120000"/>
                      </a:schemeClr>
                    </a:gs>
                  </a:gsLst>
                  <a:lin ang="5400000"/>
                </a:gradFill>
                <a:effectLst>
                  <a:outerShdw blurRad="80000" dist="40000" dir="5040000" algn="tl">
                    <a:srgbClr val="000000">
                      <a:alpha val="30000"/>
                    </a:srgbClr>
                  </a:outerShdw>
                </a:effectLst>
              </a:rPr>
              <a:t>CHUYỂN ĐỔI DỮ LIỆU​</a:t>
            </a:r>
            <a:endParaRPr lang="en-US" sz="5400" b="1" cap="small">
              <a:ln w="11430"/>
              <a:gradFill>
                <a:gsLst>
                  <a:gs pos="0">
                    <a:srgbClr val="F79646">
                      <a:tint val="90000"/>
                      <a:satMod val="120000"/>
                    </a:srgbClr>
                  </a:gs>
                  <a:gs pos="25000">
                    <a:srgbClr val="F79646">
                      <a:tint val="93000"/>
                      <a:satMod val="120000"/>
                    </a:srgbClr>
                  </a:gs>
                  <a:gs pos="50000">
                    <a:srgbClr val="F79646">
                      <a:shade val="89000"/>
                      <a:satMod val="110000"/>
                    </a:srgbClr>
                  </a:gs>
                  <a:gs pos="75000">
                    <a:srgbClr val="F79646">
                      <a:tint val="93000"/>
                      <a:satMod val="120000"/>
                    </a:srgbClr>
                  </a:gs>
                  <a:gs pos="100000">
                    <a:srgbClr val="F79646">
                      <a:tint val="90000"/>
                      <a:satMod val="120000"/>
                    </a:srgbClr>
                  </a:gs>
                </a:gsLst>
                <a:lin ang="5400000"/>
              </a:gradFill>
              <a:effectLst>
                <a:outerShdw blurRad="80000" dist="40000" dir="5040000" algn="tl">
                  <a:srgbClr val="000000">
                    <a:alpha val="30000"/>
                  </a:srgbClr>
                </a:outerShdw>
              </a:effectLst>
              <a:ea typeface="Calibri"/>
              <a:cs typeface="Calibri"/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E8AB17F-6CBE-F3B8-6733-9A4185367D1F}"/>
              </a:ext>
            </a:extLst>
          </p:cNvPr>
          <p:cNvCxnSpPr/>
          <p:nvPr/>
        </p:nvCxnSpPr>
        <p:spPr>
          <a:xfrm>
            <a:off x="762000" y="3886200"/>
            <a:ext cx="10744200" cy="0"/>
          </a:xfrm>
          <a:prstGeom prst="line">
            <a:avLst/>
          </a:prstGeom>
          <a:ln w="76200" cmpd="thinThick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F01D2F5D-25A6-A61C-A4D5-F67A613AC4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&lt;&lt;</a:t>
            </a:r>
            <a:r>
              <a:rPr lang="vi-VN" dirty="0"/>
              <a:t>Phân tích thói quen dùng MXH</a:t>
            </a:r>
            <a:r>
              <a:rPr lang="en-US" dirty="0"/>
              <a:t>&gt;&gt;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59D9137-A7F4-31AB-788B-3E8916C1A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7052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FD0381-294E-B09A-265A-3CC54C5DA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30DB9E-3B82-E621-BD1A-247ECB31F9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Segoe UI"/>
                <a:cs typeface="Segoe UI"/>
              </a:rPr>
              <a:t>Chuyển đổi dữ liệu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C1B03C-0846-801B-C8C6-267E1D830B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22401" y="905197"/>
            <a:ext cx="9347198" cy="5257800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en-US" sz="2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Mục</a:t>
            </a:r>
            <a:r>
              <a:rPr lang="en-US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</a:t>
            </a:r>
            <a:r>
              <a:rPr lang="en-US" sz="2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tiêu</a:t>
            </a:r>
            <a:r>
              <a:rPr lang="en-US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</a:t>
            </a:r>
            <a:r>
              <a:rPr lang="en-US" sz="2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chuyển</a:t>
            </a:r>
            <a:r>
              <a:rPr lang="en-US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</a:t>
            </a:r>
            <a:r>
              <a:rPr lang="en-US" sz="2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đổi</a:t>
            </a:r>
            <a:r>
              <a:rPr lang="en-US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</a:t>
            </a:r>
            <a:r>
              <a:rPr lang="en-US" sz="2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dữ</a:t>
            </a:r>
            <a:r>
              <a:rPr lang="en-US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</a:t>
            </a:r>
            <a:r>
              <a:rPr lang="en-US" sz="2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liệu</a:t>
            </a:r>
            <a:endParaRPr lang="en-US" sz="2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>
              <a:buFont typeface="Wingdings" panose="05000000000000000000" pitchFamily="2" charset="2"/>
              <a:buChar char="v"/>
            </a:pPr>
            <a:r>
              <a:rPr lang="en-US" sz="2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Làm</a:t>
            </a:r>
            <a:r>
              <a:rPr lang="en-U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</a:t>
            </a:r>
            <a:r>
              <a:rPr lang="en-US" sz="2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cho</a:t>
            </a:r>
            <a:r>
              <a:rPr lang="en-U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</a:t>
            </a:r>
            <a:r>
              <a:rPr lang="en-US" sz="2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dữ</a:t>
            </a:r>
            <a:r>
              <a:rPr lang="en-U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</a:t>
            </a:r>
            <a:r>
              <a:rPr lang="en-US" sz="2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liệu</a:t>
            </a:r>
            <a:r>
              <a:rPr lang="en-U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</a:t>
            </a:r>
            <a:r>
              <a:rPr lang="en-US" sz="2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sạch</a:t>
            </a:r>
            <a:r>
              <a:rPr lang="en-U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, </a:t>
            </a:r>
            <a:r>
              <a:rPr lang="en-US" sz="2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chuẩn</a:t>
            </a:r>
            <a:r>
              <a:rPr lang="en-U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, </a:t>
            </a:r>
            <a:r>
              <a:rPr lang="en-US" sz="2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dễ</a:t>
            </a:r>
            <a:r>
              <a:rPr lang="en-U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</a:t>
            </a:r>
            <a:r>
              <a:rPr lang="en-US" sz="2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phân</a:t>
            </a:r>
            <a:r>
              <a:rPr lang="en-U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</a:t>
            </a:r>
            <a:r>
              <a:rPr lang="en-US" sz="2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tích</a:t>
            </a:r>
            <a:r>
              <a:rPr lang="en-U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.</a:t>
            </a:r>
            <a:endParaRPr lang="vi-VN" sz="2400" dirty="0"/>
          </a:p>
          <a:p>
            <a:pPr>
              <a:buFont typeface="Wingdings" panose="05000000000000000000" pitchFamily="2" charset="2"/>
              <a:buChar char="v"/>
            </a:pPr>
            <a:r>
              <a:rPr lang="en-US" sz="2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Chuẩn</a:t>
            </a:r>
            <a:r>
              <a:rPr lang="en-U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</a:t>
            </a:r>
            <a:r>
              <a:rPr lang="en-US" sz="2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hóa</a:t>
            </a:r>
            <a:r>
              <a:rPr lang="en-U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</a:t>
            </a:r>
            <a:r>
              <a:rPr lang="en-US" sz="2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định</a:t>
            </a:r>
            <a:r>
              <a:rPr lang="en-U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</a:t>
            </a:r>
            <a:r>
              <a:rPr lang="en-US" sz="2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dạng</a:t>
            </a:r>
            <a:r>
              <a:rPr lang="en-U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(INT, FLOAT, NVARCHAR).</a:t>
            </a:r>
            <a:endParaRPr lang="vi-VN" sz="2400" dirty="0"/>
          </a:p>
          <a:p>
            <a:pPr>
              <a:buFont typeface="Wingdings" panose="05000000000000000000" pitchFamily="2" charset="2"/>
              <a:buChar char="v"/>
            </a:pPr>
            <a:r>
              <a:rPr lang="en-US" sz="2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Loại</a:t>
            </a:r>
            <a:r>
              <a:rPr lang="en-U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</a:t>
            </a:r>
            <a:r>
              <a:rPr lang="en-US" sz="2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bỏ</a:t>
            </a:r>
            <a:r>
              <a:rPr lang="en-U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</a:t>
            </a:r>
            <a:r>
              <a:rPr lang="en-US" sz="2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giá</a:t>
            </a:r>
            <a:r>
              <a:rPr lang="en-U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</a:t>
            </a:r>
            <a:r>
              <a:rPr lang="en-US" sz="2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trị</a:t>
            </a:r>
            <a:r>
              <a:rPr lang="en-U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</a:t>
            </a:r>
            <a:r>
              <a:rPr lang="en-US" sz="2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trùng</a:t>
            </a:r>
            <a:r>
              <a:rPr lang="en-U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, </a:t>
            </a:r>
            <a:r>
              <a:rPr lang="en-US" sz="2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thiếu</a:t>
            </a:r>
            <a:r>
              <a:rPr lang="en-U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, </a:t>
            </a:r>
            <a:r>
              <a:rPr lang="en-US" sz="2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hoặc</a:t>
            </a:r>
            <a:r>
              <a:rPr lang="en-U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</a:t>
            </a:r>
            <a:r>
              <a:rPr lang="en-US" sz="2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không</a:t>
            </a:r>
            <a:r>
              <a:rPr lang="en-U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</a:t>
            </a:r>
            <a:r>
              <a:rPr lang="en-US" sz="2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hợp</a:t>
            </a:r>
            <a:r>
              <a:rPr lang="en-U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</a:t>
            </a:r>
            <a:r>
              <a:rPr lang="en-US" sz="2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lệ</a:t>
            </a:r>
            <a:r>
              <a:rPr lang="en-U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.</a:t>
            </a:r>
          </a:p>
          <a:p>
            <a:pPr marL="0" indent="0">
              <a:buNone/>
            </a:pPr>
            <a:r>
              <a:rPr lang="en-US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Các </a:t>
            </a:r>
            <a:r>
              <a:rPr lang="en-US" sz="2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bước</a:t>
            </a:r>
            <a:r>
              <a:rPr lang="en-US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</a:t>
            </a:r>
            <a:r>
              <a:rPr lang="en-US" sz="2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thực</a:t>
            </a:r>
            <a:r>
              <a:rPr lang="en-US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</a:t>
            </a:r>
            <a:r>
              <a:rPr lang="en-US" sz="2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hiện</a:t>
            </a:r>
            <a:endParaRPr lang="vi-VN" sz="2400" b="1" dirty="0"/>
          </a:p>
          <a:p>
            <a:pPr>
              <a:buFont typeface="Wingdings" panose="05000000000000000000" pitchFamily="2" charset="2"/>
              <a:buChar char="v"/>
            </a:pPr>
            <a:r>
              <a:rPr lang="en-U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TRY_CAST </a:t>
            </a:r>
            <a:r>
              <a:rPr lang="en-US" sz="2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để</a:t>
            </a:r>
            <a:r>
              <a:rPr lang="en-U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</a:t>
            </a:r>
            <a:r>
              <a:rPr lang="en-US" sz="2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chuyển</a:t>
            </a:r>
            <a:r>
              <a:rPr lang="en-U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</a:t>
            </a:r>
            <a:r>
              <a:rPr lang="en-US" sz="2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kiểu</a:t>
            </a:r>
            <a:r>
              <a:rPr lang="en-U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</a:t>
            </a:r>
            <a:r>
              <a:rPr lang="en-US" sz="2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dữ</a:t>
            </a:r>
            <a:r>
              <a:rPr lang="en-U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</a:t>
            </a:r>
            <a:r>
              <a:rPr lang="en-US" sz="2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liệu</a:t>
            </a:r>
            <a:r>
              <a:rPr lang="en-U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.</a:t>
            </a:r>
            <a:endParaRPr lang="vi-VN" sz="2400" dirty="0"/>
          </a:p>
          <a:p>
            <a:pPr>
              <a:buFont typeface="Wingdings" panose="05000000000000000000" pitchFamily="2" charset="2"/>
              <a:buChar char="v"/>
            </a:pPr>
            <a:r>
              <a:rPr lang="en-U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TRIM </a:t>
            </a:r>
            <a:r>
              <a:rPr lang="en-US" sz="2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và</a:t>
            </a:r>
            <a:r>
              <a:rPr lang="en-U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CASE WHEN </a:t>
            </a:r>
            <a:r>
              <a:rPr lang="en-US" sz="2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để</a:t>
            </a:r>
            <a:r>
              <a:rPr lang="en-U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</a:t>
            </a:r>
            <a:r>
              <a:rPr lang="en-US" sz="2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chuẩn</a:t>
            </a:r>
            <a:r>
              <a:rPr lang="en-U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</a:t>
            </a:r>
            <a:r>
              <a:rPr lang="en-US" sz="2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hóa</a:t>
            </a:r>
            <a:r>
              <a:rPr lang="en-U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</a:t>
            </a:r>
            <a:r>
              <a:rPr lang="en-US" sz="2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giá</a:t>
            </a:r>
            <a:r>
              <a:rPr lang="en-U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</a:t>
            </a:r>
            <a:r>
              <a:rPr lang="en-US" sz="2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trị</a:t>
            </a:r>
            <a:r>
              <a:rPr lang="en-U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.</a:t>
            </a:r>
            <a:endParaRPr lang="vi-VN" sz="2400" dirty="0"/>
          </a:p>
          <a:p>
            <a:pPr>
              <a:buFont typeface="Wingdings" panose="05000000000000000000" pitchFamily="2" charset="2"/>
              <a:buChar char="v"/>
            </a:pPr>
            <a:r>
              <a:rPr lang="en-US" sz="2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Thêm</a:t>
            </a:r>
            <a:r>
              <a:rPr lang="en-U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</a:t>
            </a:r>
            <a:r>
              <a:rPr lang="en-US" sz="2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cột</a:t>
            </a:r>
            <a:r>
              <a:rPr lang="en-U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</a:t>
            </a:r>
            <a:r>
              <a:rPr lang="en-US" sz="2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Usage_Category</a:t>
            </a:r>
            <a:r>
              <a:rPr lang="en-U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</a:t>
            </a:r>
            <a:r>
              <a:rPr lang="en-US" sz="2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phân</a:t>
            </a:r>
            <a:r>
              <a:rPr lang="en-U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</a:t>
            </a:r>
            <a:r>
              <a:rPr lang="en-US" sz="2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loại</a:t>
            </a:r>
            <a:r>
              <a:rPr lang="en-U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</a:t>
            </a:r>
            <a:r>
              <a:rPr lang="en-US" sz="2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nhóm</a:t>
            </a:r>
            <a:r>
              <a:rPr lang="en-U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</a:t>
            </a:r>
            <a:r>
              <a:rPr lang="en-US" sz="2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sử</a:t>
            </a:r>
            <a:r>
              <a:rPr lang="en-U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</a:t>
            </a:r>
            <a:r>
              <a:rPr lang="en-US" sz="2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dụng</a:t>
            </a:r>
            <a:r>
              <a:rPr lang="en-U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MXH.</a:t>
            </a:r>
            <a:endParaRPr lang="vi-VN" sz="2400" dirty="0"/>
          </a:p>
          <a:p>
            <a:pPr>
              <a:buFont typeface="Wingdings" panose="05000000000000000000" pitchFamily="2" charset="2"/>
              <a:buChar char="v"/>
            </a:pPr>
            <a:r>
              <a:rPr lang="en-US" sz="2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Kết</a:t>
            </a:r>
            <a:r>
              <a:rPr lang="en-U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</a:t>
            </a:r>
            <a:r>
              <a:rPr lang="en-US" sz="2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quả</a:t>
            </a:r>
            <a:r>
              <a:rPr lang="en-U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: </a:t>
            </a:r>
            <a:r>
              <a:rPr lang="en-US" sz="2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bảng</a:t>
            </a:r>
            <a:r>
              <a:rPr lang="en-U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Social_Media_Clean_Final (</a:t>
            </a:r>
            <a:r>
              <a:rPr lang="vi-VN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16</a:t>
            </a:r>
            <a:r>
              <a:rPr lang="en-U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</a:t>
            </a:r>
            <a:r>
              <a:rPr lang="en-US" sz="2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cột</a:t>
            </a:r>
            <a:r>
              <a:rPr lang="en-U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, 705 </a:t>
            </a:r>
            <a:r>
              <a:rPr lang="en-US" sz="2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dòng</a:t>
            </a:r>
            <a:r>
              <a:rPr lang="en-U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).</a:t>
            </a:r>
            <a:endParaRPr lang="en-US" sz="2400" dirty="0"/>
          </a:p>
          <a:p>
            <a:pPr>
              <a:buChar char="&amp;"/>
            </a:pPr>
            <a:endParaRPr lang="en-US" sz="2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endParaRPr lang="en-US" sz="24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2206A-58FE-7B39-DD9D-65080F80B3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&lt;&lt;</a:t>
            </a:r>
            <a:r>
              <a:rPr lang="vi-VN" dirty="0"/>
              <a:t>Phân tích thói quen dùng MXH</a:t>
            </a:r>
            <a:r>
              <a:rPr lang="en-US" dirty="0"/>
              <a:t>&gt;&gt;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03FEFE-5503-FB0B-414B-A9990A39D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29484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3006769" y="2967335"/>
            <a:ext cx="6254661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glow" dir="tl">
                <a:rot lat="0" lon="0" rev="5400000"/>
              </a:lightRig>
            </a:scene3d>
            <a:sp3d contourW="12700">
              <a:bevelT w="25400" h="25400"/>
              <a:contourClr>
                <a:schemeClr val="accent6">
                  <a:shade val="73000"/>
                </a:schemeClr>
              </a:contourClr>
            </a:sp3d>
          </a:bodyPr>
          <a:lstStyle/>
          <a:p>
            <a:r>
              <a:rPr lang="en-US" sz="5400" b="1" cap="small">
                <a:ln w="11430"/>
                <a:gradFill>
                  <a:gsLst>
                    <a:gs pos="0">
                      <a:schemeClr val="accent6">
                        <a:tint val="90000"/>
                        <a:satMod val="120000"/>
                      </a:schemeClr>
                    </a:gs>
                    <a:gs pos="25000">
                      <a:schemeClr val="accent6">
                        <a:tint val="93000"/>
                        <a:satMod val="120000"/>
                      </a:schemeClr>
                    </a:gs>
                    <a:gs pos="50000">
                      <a:schemeClr val="accent6">
                        <a:shade val="89000"/>
                        <a:satMod val="110000"/>
                      </a:schemeClr>
                    </a:gs>
                    <a:gs pos="75000">
                      <a:schemeClr val="accent6">
                        <a:tint val="93000"/>
                        <a:satMod val="120000"/>
                      </a:schemeClr>
                    </a:gs>
                    <a:gs pos="100000">
                      <a:schemeClr val="accent6">
                        <a:tint val="90000"/>
                        <a:satMod val="120000"/>
                      </a:schemeClr>
                    </a:gs>
                  </a:gsLst>
                  <a:lin ang="5400000"/>
                </a:gradFill>
                <a:effectLst>
                  <a:outerShdw blurRad="80000" dist="40000" dir="5040000" algn="tl">
                    <a:srgbClr val="000000">
                      <a:alpha val="30000"/>
                    </a:srgbClr>
                  </a:outerShdw>
                </a:effectLst>
              </a:rPr>
              <a:t>Khó khăn &amp; Thuận lợi</a:t>
            </a:r>
          </a:p>
        </p:txBody>
      </p:sp>
      <p:cxnSp>
        <p:nvCxnSpPr>
          <p:cNvPr id="3" name="Straight Connector 2"/>
          <p:cNvCxnSpPr/>
          <p:nvPr/>
        </p:nvCxnSpPr>
        <p:spPr>
          <a:xfrm>
            <a:off x="762000" y="3886200"/>
            <a:ext cx="10744200" cy="0"/>
          </a:xfrm>
          <a:prstGeom prst="line">
            <a:avLst/>
          </a:prstGeom>
          <a:ln w="76200" cmpd="thinThick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BF25773-65E6-F99A-8FE9-F3059C52C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&lt;&lt;</a:t>
            </a:r>
            <a:r>
              <a:rPr lang="vi-VN" dirty="0"/>
              <a:t>Phân tích thói quen dùng MXH</a:t>
            </a:r>
            <a:r>
              <a:rPr lang="en-US" dirty="0"/>
              <a:t>&gt;&gt;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D0638E-D141-B806-F42F-4D8E01416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72065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Khó khăn &amp; Thuận lợi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066800"/>
            <a:ext cx="10963873" cy="5288691"/>
          </a:xfrm>
        </p:spPr>
        <p:txBody>
          <a:bodyPr vert="horz" lIns="91440" tIns="45720" rIns="91440" bIns="45720" rtlCol="0" anchor="t">
            <a:noAutofit/>
          </a:bodyPr>
          <a:lstStyle/>
          <a:p>
            <a:pPr>
              <a:buFont typeface="Wingdings" pitchFamily="2" charset="2"/>
              <a:buChar char="&amp;"/>
            </a:pPr>
            <a:r>
              <a:rPr lang="en-US" sz="2000" b="1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Khó</a:t>
            </a:r>
            <a:r>
              <a:rPr lang="en-US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</a:t>
            </a:r>
            <a:r>
              <a:rPr lang="en-US" sz="2000" b="1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khăn</a:t>
            </a:r>
            <a:r>
              <a:rPr lang="en-US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?</a:t>
            </a:r>
            <a:endParaRPr lang="en-US" sz="20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"/>
              <a:cs typeface="Segoe UI"/>
            </a:endParaRPr>
          </a:p>
          <a:p>
            <a:pPr lvl="1"/>
            <a:r>
              <a:rPr lang="en-US" sz="2000" err="1">
                <a:latin typeface="Segoe UI"/>
                <a:cs typeface="Segoe UI"/>
              </a:rPr>
              <a:t>Dữ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liệu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thu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thập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từ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nhiều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nguồn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nên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định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dạng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không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đồng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nhất</a:t>
            </a:r>
            <a:r>
              <a:rPr lang="en-US" sz="2000">
                <a:latin typeface="Segoe UI"/>
                <a:cs typeface="Segoe UI"/>
              </a:rPr>
              <a:t>, </a:t>
            </a:r>
            <a:r>
              <a:rPr lang="en-US" sz="2000" err="1">
                <a:latin typeface="Segoe UI"/>
                <a:cs typeface="Segoe UI"/>
              </a:rPr>
              <a:t>phải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làm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sạch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và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chuẩn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hóa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nhiều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bước</a:t>
            </a:r>
            <a:r>
              <a:rPr lang="en-US" sz="2000">
                <a:latin typeface="Segoe UI"/>
                <a:cs typeface="Segoe UI"/>
              </a:rPr>
              <a:t>.</a:t>
            </a:r>
          </a:p>
          <a:p>
            <a:pPr lvl="1"/>
            <a:r>
              <a:rPr lang="en-US" sz="2000" err="1">
                <a:latin typeface="Segoe UI"/>
                <a:cs typeface="Segoe UI"/>
              </a:rPr>
              <a:t>Một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số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bản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ghi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bị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thiếu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giá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trị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hoặc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nhập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sai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kiểu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dữ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liệu</a:t>
            </a:r>
            <a:r>
              <a:rPr lang="en-US" sz="2000">
                <a:latin typeface="Segoe UI"/>
                <a:cs typeface="Segoe UI"/>
              </a:rPr>
              <a:t> (</a:t>
            </a:r>
            <a:r>
              <a:rPr lang="en-US" sz="2000" err="1">
                <a:latin typeface="Segoe UI"/>
                <a:cs typeface="Segoe UI"/>
              </a:rPr>
              <a:t>ví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dụ</a:t>
            </a:r>
            <a:r>
              <a:rPr lang="en-US" sz="2000">
                <a:latin typeface="Segoe UI"/>
                <a:cs typeface="Segoe UI"/>
              </a:rPr>
              <a:t>: text </a:t>
            </a:r>
            <a:r>
              <a:rPr lang="en-US" sz="2000" err="1">
                <a:latin typeface="Segoe UI"/>
                <a:cs typeface="Segoe UI"/>
              </a:rPr>
              <a:t>thay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vì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số</a:t>
            </a:r>
            <a:r>
              <a:rPr lang="en-US" sz="2000">
                <a:latin typeface="Segoe UI"/>
                <a:cs typeface="Segoe UI"/>
              </a:rPr>
              <a:t>).</a:t>
            </a:r>
          </a:p>
          <a:p>
            <a:pPr lvl="1"/>
            <a:r>
              <a:rPr lang="en-US" sz="2000" err="1">
                <a:latin typeface="Segoe UI"/>
                <a:cs typeface="Segoe UI"/>
              </a:rPr>
              <a:t>Kỹ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năng</a:t>
            </a:r>
            <a:r>
              <a:rPr lang="en-US" sz="2000">
                <a:latin typeface="Segoe UI"/>
                <a:cs typeface="Segoe UI"/>
              </a:rPr>
              <a:t> DAX </a:t>
            </a:r>
            <a:r>
              <a:rPr lang="en-US" sz="2000" err="1">
                <a:latin typeface="Segoe UI"/>
                <a:cs typeface="Segoe UI"/>
              </a:rPr>
              <a:t>và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trực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quan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hóa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trên</a:t>
            </a:r>
            <a:r>
              <a:rPr lang="en-US" sz="2000">
                <a:latin typeface="Segoe UI"/>
                <a:cs typeface="Segoe UI"/>
              </a:rPr>
              <a:t> Power BI </a:t>
            </a:r>
            <a:r>
              <a:rPr lang="en-US" sz="2000" err="1">
                <a:latin typeface="Segoe UI"/>
                <a:cs typeface="Segoe UI"/>
              </a:rPr>
              <a:t>của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nhóm</a:t>
            </a:r>
            <a:r>
              <a:rPr lang="en-US" sz="2000">
                <a:latin typeface="Segoe UI"/>
                <a:cs typeface="Segoe UI"/>
              </a:rPr>
              <a:t> ban </a:t>
            </a:r>
            <a:r>
              <a:rPr lang="en-US" sz="2000" err="1">
                <a:latin typeface="Segoe UI"/>
                <a:cs typeface="Segoe UI"/>
              </a:rPr>
              <a:t>đầu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còn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hạn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chế</a:t>
            </a:r>
            <a:r>
              <a:rPr lang="en-US" sz="2000">
                <a:latin typeface="Segoe UI"/>
                <a:cs typeface="Segoe UI"/>
              </a:rPr>
              <a:t>, </a:t>
            </a:r>
            <a:r>
              <a:rPr lang="en-US" sz="2000" err="1">
                <a:latin typeface="Segoe UI"/>
                <a:cs typeface="Segoe UI"/>
              </a:rPr>
              <a:t>mất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thời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gian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tìm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hiểu</a:t>
            </a:r>
            <a:r>
              <a:rPr lang="en-US" sz="2000">
                <a:latin typeface="Segoe UI"/>
                <a:cs typeface="Segoe UI"/>
              </a:rPr>
              <a:t>.</a:t>
            </a:r>
          </a:p>
          <a:p>
            <a:pPr lvl="1"/>
            <a:r>
              <a:rPr lang="en-US" sz="2000" err="1">
                <a:latin typeface="Segoe UI"/>
                <a:cs typeface="Segoe UI"/>
              </a:rPr>
              <a:t>Khó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đảm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bảo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tính</a:t>
            </a:r>
            <a:r>
              <a:rPr lang="en-US" sz="2000">
                <a:latin typeface="Segoe UI"/>
                <a:cs typeface="Segoe UI"/>
              </a:rPr>
              <a:t> logic </a:t>
            </a:r>
            <a:r>
              <a:rPr lang="en-US" sz="2000" err="1">
                <a:latin typeface="Segoe UI"/>
                <a:cs typeface="Segoe UI"/>
              </a:rPr>
              <a:t>giữa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các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chỉ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số</a:t>
            </a:r>
            <a:r>
              <a:rPr lang="en-US" sz="2000">
                <a:latin typeface="Segoe UI"/>
                <a:cs typeface="Segoe UI"/>
              </a:rPr>
              <a:t> (</a:t>
            </a:r>
            <a:r>
              <a:rPr lang="en-US" sz="2000" err="1">
                <a:latin typeface="Segoe UI"/>
                <a:cs typeface="Segoe UI"/>
              </a:rPr>
              <a:t>giờ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sử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dụng</a:t>
            </a:r>
            <a:r>
              <a:rPr lang="en-US" sz="2000">
                <a:latin typeface="Segoe UI"/>
                <a:cs typeface="Segoe UI"/>
              </a:rPr>
              <a:t>, </a:t>
            </a:r>
            <a:r>
              <a:rPr lang="en-US" sz="2000" err="1">
                <a:latin typeface="Segoe UI"/>
                <a:cs typeface="Segoe UI"/>
              </a:rPr>
              <a:t>giấc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ngủ</a:t>
            </a:r>
            <a:r>
              <a:rPr lang="en-US" sz="2000">
                <a:latin typeface="Segoe UI"/>
                <a:cs typeface="Segoe UI"/>
              </a:rPr>
              <a:t>, </a:t>
            </a:r>
            <a:r>
              <a:rPr lang="en-US" sz="2000" err="1">
                <a:latin typeface="Segoe UI"/>
                <a:cs typeface="Segoe UI"/>
              </a:rPr>
              <a:t>điểm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sức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khỏe</a:t>
            </a:r>
            <a:r>
              <a:rPr lang="en-US" sz="2000">
                <a:latin typeface="Segoe UI"/>
                <a:cs typeface="Segoe UI"/>
              </a:rPr>
              <a:t>) </a:t>
            </a:r>
            <a:r>
              <a:rPr lang="en-US" sz="2000" err="1">
                <a:latin typeface="Segoe UI"/>
                <a:cs typeface="Segoe UI"/>
              </a:rPr>
              <a:t>khi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dữ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liệu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có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ngoại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lệ</a:t>
            </a:r>
            <a:endParaRPr lang="en-US" sz="2000">
              <a:latin typeface="Segoe UI"/>
              <a:cs typeface="Segoe UI"/>
            </a:endParaRPr>
          </a:p>
          <a:p>
            <a:pPr>
              <a:buFont typeface="Wingdings" pitchFamily="2" charset="2"/>
              <a:buChar char="&amp;"/>
            </a:pPr>
            <a:r>
              <a:rPr lang="en-US" sz="2000" b="1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Thuận</a:t>
            </a:r>
            <a:r>
              <a:rPr lang="en-US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</a:t>
            </a:r>
            <a:r>
              <a:rPr lang="en-US" sz="2000" b="1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lợi</a:t>
            </a:r>
            <a:r>
              <a:rPr lang="en-US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cs typeface="Segoe UI"/>
              </a:rPr>
              <a:t> ?</a:t>
            </a:r>
            <a:endParaRPr lang="en-US" sz="20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"/>
              <a:cs typeface="Segoe UI"/>
            </a:endParaRPr>
          </a:p>
          <a:p>
            <a:pPr lvl="1"/>
            <a:r>
              <a:rPr lang="en-US" sz="2000" err="1">
                <a:latin typeface="Segoe UI"/>
                <a:cs typeface="Segoe UI"/>
              </a:rPr>
              <a:t>Có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hướng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dẫn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rõ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ràng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từ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giảng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viên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và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mẫu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báo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cáo</a:t>
            </a:r>
            <a:r>
              <a:rPr lang="en-US" sz="2000">
                <a:latin typeface="Segoe UI"/>
                <a:cs typeface="Segoe UI"/>
              </a:rPr>
              <a:t> chi </a:t>
            </a:r>
            <a:r>
              <a:rPr lang="en-US" sz="2000" err="1">
                <a:latin typeface="Segoe UI"/>
                <a:cs typeface="Segoe UI"/>
              </a:rPr>
              <a:t>tiết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giúp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nhóm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dễ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bám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sát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tiến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độ</a:t>
            </a:r>
            <a:r>
              <a:rPr lang="en-US" sz="2000">
                <a:latin typeface="Segoe UI"/>
                <a:cs typeface="Segoe UI"/>
              </a:rPr>
              <a:t>.</a:t>
            </a:r>
          </a:p>
          <a:p>
            <a:pPr lvl="1"/>
            <a:r>
              <a:rPr lang="en-US" sz="2000" err="1">
                <a:latin typeface="Segoe UI"/>
                <a:cs typeface="Segoe UI"/>
              </a:rPr>
              <a:t>Dữ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liệu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có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cấu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trúc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rõ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ràng</a:t>
            </a:r>
            <a:r>
              <a:rPr lang="en-US" sz="2000">
                <a:latin typeface="Segoe UI"/>
                <a:cs typeface="Segoe UI"/>
              </a:rPr>
              <a:t>, </a:t>
            </a:r>
            <a:r>
              <a:rPr lang="en-US" sz="2000" err="1">
                <a:latin typeface="Segoe UI"/>
                <a:cs typeface="Segoe UI"/>
              </a:rPr>
              <a:t>dễ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đọc</a:t>
            </a:r>
            <a:r>
              <a:rPr lang="en-US" sz="2000">
                <a:latin typeface="Segoe UI"/>
                <a:cs typeface="Segoe UI"/>
              </a:rPr>
              <a:t>, </a:t>
            </a:r>
            <a:r>
              <a:rPr lang="en-US" sz="2000" err="1">
                <a:latin typeface="Segoe UI"/>
                <a:cs typeface="Segoe UI"/>
              </a:rPr>
              <a:t>dễ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phân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tích</a:t>
            </a:r>
            <a:r>
              <a:rPr lang="en-US" sz="2000">
                <a:latin typeface="Segoe UI"/>
                <a:cs typeface="Segoe UI"/>
              </a:rPr>
              <a:t>.</a:t>
            </a:r>
          </a:p>
          <a:p>
            <a:pPr lvl="1"/>
            <a:r>
              <a:rPr lang="en-US" sz="2000">
                <a:latin typeface="Segoe UI"/>
                <a:cs typeface="Segoe UI"/>
              </a:rPr>
              <a:t>Công </a:t>
            </a:r>
            <a:r>
              <a:rPr lang="en-US" sz="2000" err="1">
                <a:latin typeface="Segoe UI"/>
                <a:cs typeface="Segoe UI"/>
              </a:rPr>
              <a:t>cụ</a:t>
            </a:r>
            <a:r>
              <a:rPr lang="en-US" sz="2000">
                <a:latin typeface="Segoe UI"/>
                <a:cs typeface="Segoe UI"/>
              </a:rPr>
              <a:t> Power BI  </a:t>
            </a:r>
            <a:r>
              <a:rPr lang="en-US" sz="2000" err="1">
                <a:latin typeface="Segoe UI"/>
                <a:cs typeface="Segoe UI"/>
              </a:rPr>
              <a:t>hỗ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trợ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trực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quan</a:t>
            </a:r>
            <a:r>
              <a:rPr lang="en-US" sz="2000">
                <a:latin typeface="Segoe UI"/>
                <a:cs typeface="Segoe UI"/>
              </a:rPr>
              <a:t>, </a:t>
            </a:r>
            <a:r>
              <a:rPr lang="en-US" sz="2000" err="1">
                <a:latin typeface="Segoe UI"/>
                <a:cs typeface="Segoe UI"/>
              </a:rPr>
              <a:t>kết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nối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nhanh</a:t>
            </a:r>
            <a:r>
              <a:rPr lang="en-US" sz="2000">
                <a:latin typeface="Segoe UI"/>
                <a:cs typeface="Segoe UI"/>
              </a:rPr>
              <a:t>, </a:t>
            </a:r>
            <a:r>
              <a:rPr lang="en-US" sz="2000" err="1">
                <a:latin typeface="Segoe UI"/>
                <a:cs typeface="Segoe UI"/>
              </a:rPr>
              <a:t>dễ</a:t>
            </a:r>
            <a:r>
              <a:rPr lang="en-US" sz="2000">
                <a:latin typeface="Segoe UI"/>
                <a:cs typeface="Segoe UI"/>
              </a:rPr>
              <a:t> chia </a:t>
            </a:r>
            <a:r>
              <a:rPr lang="en-US" sz="2000" err="1">
                <a:latin typeface="Segoe UI"/>
                <a:cs typeface="Segoe UI"/>
              </a:rPr>
              <a:t>sẻ</a:t>
            </a:r>
            <a:r>
              <a:rPr lang="en-US" sz="2000">
                <a:latin typeface="Segoe UI"/>
                <a:cs typeface="Segoe UI"/>
              </a:rPr>
              <a:t> qua cloud.</a:t>
            </a:r>
          </a:p>
          <a:p>
            <a:pPr lvl="1"/>
            <a:r>
              <a:rPr lang="en-US" sz="2000" err="1">
                <a:latin typeface="Segoe UI"/>
                <a:cs typeface="Segoe UI"/>
              </a:rPr>
              <a:t>Làm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việc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nhóm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hiệu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quả</a:t>
            </a:r>
            <a:r>
              <a:rPr lang="en-US" sz="2000">
                <a:latin typeface="Segoe UI"/>
                <a:cs typeface="Segoe UI"/>
              </a:rPr>
              <a:t>, </a:t>
            </a:r>
            <a:r>
              <a:rPr lang="en-US" sz="2000" err="1">
                <a:latin typeface="Segoe UI"/>
                <a:cs typeface="Segoe UI"/>
              </a:rPr>
              <a:t>phân</a:t>
            </a:r>
            <a:r>
              <a:rPr lang="en-US" sz="2000">
                <a:latin typeface="Segoe UI"/>
                <a:cs typeface="Segoe UI"/>
              </a:rPr>
              <a:t> chia </a:t>
            </a:r>
            <a:r>
              <a:rPr lang="en-US" sz="2000" err="1">
                <a:latin typeface="Segoe UI"/>
                <a:cs typeface="Segoe UI"/>
              </a:rPr>
              <a:t>nhiệm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vụ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hợp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lý</a:t>
            </a:r>
            <a:r>
              <a:rPr lang="en-US" sz="2000">
                <a:latin typeface="Segoe UI"/>
                <a:cs typeface="Segoe UI"/>
              </a:rPr>
              <a:t> (</a:t>
            </a:r>
            <a:r>
              <a:rPr lang="en-US" sz="2000" err="1">
                <a:latin typeface="Segoe UI"/>
                <a:cs typeface="Segoe UI"/>
              </a:rPr>
              <a:t>làm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sạch</a:t>
            </a:r>
            <a:r>
              <a:rPr lang="en-US" sz="2000">
                <a:latin typeface="Segoe UI"/>
                <a:cs typeface="Segoe UI"/>
              </a:rPr>
              <a:t>, </a:t>
            </a:r>
            <a:r>
              <a:rPr lang="en-US" sz="2000" err="1">
                <a:latin typeface="Segoe UI"/>
                <a:cs typeface="Segoe UI"/>
              </a:rPr>
              <a:t>thiết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kế</a:t>
            </a:r>
            <a:r>
              <a:rPr lang="en-US" sz="2000">
                <a:latin typeface="Segoe UI"/>
                <a:cs typeface="Segoe UI"/>
              </a:rPr>
              <a:t>, </a:t>
            </a:r>
            <a:r>
              <a:rPr lang="en-US" sz="2000" err="1">
                <a:latin typeface="Segoe UI"/>
                <a:cs typeface="Segoe UI"/>
              </a:rPr>
              <a:t>báo</a:t>
            </a:r>
            <a:r>
              <a:rPr lang="en-US" sz="2000">
                <a:latin typeface="Segoe UI"/>
                <a:cs typeface="Segoe UI"/>
              </a:rPr>
              <a:t> </a:t>
            </a:r>
            <a:r>
              <a:rPr lang="en-US" sz="2000" err="1">
                <a:latin typeface="Segoe UI"/>
                <a:cs typeface="Segoe UI"/>
              </a:rPr>
              <a:t>cáo</a:t>
            </a:r>
            <a:r>
              <a:rPr lang="en-US" sz="2000">
                <a:latin typeface="Segoe UI"/>
                <a:cs typeface="Segoe UI"/>
              </a:rPr>
              <a:t>).</a:t>
            </a:r>
          </a:p>
          <a:p>
            <a:endParaRPr lang="en-US" sz="20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0C8D48-055B-1B97-ADEB-1D4EFFE8BE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&lt;&lt;</a:t>
            </a:r>
            <a:r>
              <a:rPr lang="vi-VN" dirty="0"/>
              <a:t>Phân tích thói quen dùng MXH</a:t>
            </a:r>
            <a:r>
              <a:rPr lang="en-US" dirty="0"/>
              <a:t>&gt;&gt;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167236-AC32-49FB-45B9-3754D5D164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07764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970384" y="2971800"/>
            <a:ext cx="2327432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glow" dir="tl">
                <a:rot lat="0" lon="0" rev="5400000"/>
              </a:lightRig>
            </a:scene3d>
            <a:sp3d contourW="12700">
              <a:bevelT w="25400" h="25400"/>
              <a:contourClr>
                <a:schemeClr val="accent6">
                  <a:shade val="73000"/>
                </a:schemeClr>
              </a:contourClr>
            </a:sp3d>
          </a:bodyPr>
          <a:lstStyle/>
          <a:p>
            <a:r>
              <a:rPr lang="en-US" sz="5400" b="1" cap="small">
                <a:ln w="11430"/>
                <a:gradFill>
                  <a:gsLst>
                    <a:gs pos="0">
                      <a:schemeClr val="accent6">
                        <a:tint val="90000"/>
                        <a:satMod val="120000"/>
                      </a:schemeClr>
                    </a:gs>
                    <a:gs pos="25000">
                      <a:schemeClr val="accent6">
                        <a:tint val="93000"/>
                        <a:satMod val="120000"/>
                      </a:schemeClr>
                    </a:gs>
                    <a:gs pos="50000">
                      <a:schemeClr val="accent6">
                        <a:shade val="89000"/>
                        <a:satMod val="110000"/>
                      </a:schemeClr>
                    </a:gs>
                    <a:gs pos="75000">
                      <a:schemeClr val="accent6">
                        <a:tint val="93000"/>
                        <a:satMod val="120000"/>
                      </a:schemeClr>
                    </a:gs>
                    <a:gs pos="100000">
                      <a:schemeClr val="accent6">
                        <a:tint val="90000"/>
                        <a:satMod val="120000"/>
                      </a:schemeClr>
                    </a:gs>
                  </a:gsLst>
                  <a:lin ang="5400000"/>
                </a:gradFill>
                <a:effectLst>
                  <a:outerShdw blurRad="80000" dist="40000" dir="5040000" algn="tl">
                    <a:srgbClr val="000000">
                      <a:alpha val="30000"/>
                    </a:srgbClr>
                  </a:outerShdw>
                </a:effectLst>
              </a:rPr>
              <a:t>Kết quả</a:t>
            </a:r>
          </a:p>
        </p:txBody>
      </p:sp>
      <p:cxnSp>
        <p:nvCxnSpPr>
          <p:cNvPr id="3" name="Straight Connector 2"/>
          <p:cNvCxnSpPr/>
          <p:nvPr/>
        </p:nvCxnSpPr>
        <p:spPr>
          <a:xfrm>
            <a:off x="762000" y="3886200"/>
            <a:ext cx="10744200" cy="0"/>
          </a:xfrm>
          <a:prstGeom prst="line">
            <a:avLst/>
          </a:prstGeom>
          <a:ln w="76200" cmpd="thinThick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0D8D0E4-2E2C-9947-C808-8CB6E40C50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&lt;&lt;</a:t>
            </a:r>
            <a:r>
              <a:rPr lang="vi-VN" dirty="0"/>
              <a:t>Phân tích thói quen dùng MXH</a:t>
            </a:r>
            <a:r>
              <a:rPr lang="en-US" dirty="0"/>
              <a:t>&gt;&gt;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A92959-A7F7-3D6C-97B3-E825E72BB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56396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Sản phẩm thực tế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963DF8-DF64-609D-C42E-1898912D4F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&lt;&lt;</a:t>
            </a:r>
            <a:r>
              <a:rPr lang="vi-VN" dirty="0"/>
              <a:t>Phân tích thói quen dùng MXH</a:t>
            </a:r>
            <a:r>
              <a:rPr lang="en-US" dirty="0"/>
              <a:t>&gt;&gt;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24BF02-8623-5CEE-C97C-BD97A4AF6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26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8FD02D-6578-F8C8-32AF-D6F63EADA2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962" y="1019750"/>
            <a:ext cx="9591560" cy="5375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83814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267200" y="2971800"/>
            <a:ext cx="3536546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glow" dir="tl">
                <a:rot lat="0" lon="0" rev="5400000"/>
              </a:lightRig>
            </a:scene3d>
            <a:sp3d contourW="12700">
              <a:bevelT w="25400" h="25400"/>
              <a:contourClr>
                <a:schemeClr val="accent6">
                  <a:shade val="73000"/>
                </a:schemeClr>
              </a:contourClr>
            </a:sp3d>
          </a:bodyPr>
          <a:lstStyle/>
          <a:p>
            <a:r>
              <a:rPr lang="en-US" sz="5400" b="1" cap="small">
                <a:ln w="11430"/>
                <a:gradFill>
                  <a:gsLst>
                    <a:gs pos="0">
                      <a:schemeClr val="accent6">
                        <a:tint val="90000"/>
                        <a:satMod val="120000"/>
                      </a:schemeClr>
                    </a:gs>
                    <a:gs pos="25000">
                      <a:schemeClr val="accent6">
                        <a:tint val="93000"/>
                        <a:satMod val="120000"/>
                      </a:schemeClr>
                    </a:gs>
                    <a:gs pos="50000">
                      <a:schemeClr val="accent6">
                        <a:shade val="89000"/>
                        <a:satMod val="110000"/>
                      </a:schemeClr>
                    </a:gs>
                    <a:gs pos="75000">
                      <a:schemeClr val="accent6">
                        <a:tint val="93000"/>
                        <a:satMod val="120000"/>
                      </a:schemeClr>
                    </a:gs>
                    <a:gs pos="100000">
                      <a:schemeClr val="accent6">
                        <a:tint val="90000"/>
                        <a:satMod val="120000"/>
                      </a:schemeClr>
                    </a:gs>
                  </a:gsLst>
                  <a:lin ang="5400000"/>
                </a:gradFill>
                <a:effectLst>
                  <a:outerShdw blurRad="80000" dist="40000" dir="5040000" algn="tl">
                    <a:srgbClr val="000000">
                      <a:alpha val="30000"/>
                    </a:srgbClr>
                  </a:outerShdw>
                </a:effectLst>
              </a:rPr>
              <a:t>Demo dự án</a:t>
            </a:r>
          </a:p>
        </p:txBody>
      </p:sp>
      <p:cxnSp>
        <p:nvCxnSpPr>
          <p:cNvPr id="3" name="Straight Connector 2"/>
          <p:cNvCxnSpPr/>
          <p:nvPr/>
        </p:nvCxnSpPr>
        <p:spPr>
          <a:xfrm>
            <a:off x="762000" y="3886200"/>
            <a:ext cx="10744200" cy="0"/>
          </a:xfrm>
          <a:prstGeom prst="line">
            <a:avLst/>
          </a:prstGeom>
          <a:ln w="76200" cmpd="thinThick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40AE466B-A5DC-D3E0-828F-EE94A11DF5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&lt;&lt;</a:t>
            </a:r>
            <a:r>
              <a:rPr lang="vi-VN" dirty="0"/>
              <a:t>Phân tích thói quen dùng MXH</a:t>
            </a:r>
            <a:r>
              <a:rPr lang="en-US" dirty="0"/>
              <a:t>&gt;&gt;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E94078-7CC6-4F54-BF50-5AE7E2C2C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1740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Demo dự án</a:t>
            </a:r>
          </a:p>
        </p:txBody>
      </p:sp>
      <p:pic>
        <p:nvPicPr>
          <p:cNvPr id="8" name="Graphic 7" descr="Database with solid fill">
            <a:extLst>
              <a:ext uri="{FF2B5EF4-FFF2-40B4-BE49-F238E27FC236}">
                <a16:creationId xmlns:a16="http://schemas.microsoft.com/office/drawing/2014/main" id="{3BB74F00-AB52-EB59-16E1-54FDC11C75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90800" y="2286000"/>
            <a:ext cx="2286000" cy="2286000"/>
          </a:xfrm>
          <a:prstGeom prst="rect">
            <a:avLst/>
          </a:prstGeom>
          <a:ln>
            <a:noFill/>
          </a:ln>
          <a:effectLst>
            <a:glow rad="228600">
              <a:schemeClr val="accent6">
                <a:satMod val="175000"/>
                <a:alpha val="40000"/>
              </a:schemeClr>
            </a:glow>
          </a:effectLst>
        </p:spPr>
      </p:pic>
      <p:pic>
        <p:nvPicPr>
          <p:cNvPr id="12" name="Picture 11" descr="A yellow background with black and black logo&#10;&#10;Description automatically generated">
            <a:extLst>
              <a:ext uri="{FF2B5EF4-FFF2-40B4-BE49-F238E27FC236}">
                <a16:creationId xmlns:a16="http://schemas.microsoft.com/office/drawing/2014/main" id="{03FB827F-FDC5-F644-3A41-4997D54E206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5600" y="2419350"/>
            <a:ext cx="2019300" cy="2019300"/>
          </a:xfrm>
          <a:prstGeom prst="rect">
            <a:avLst/>
          </a:prstGeom>
          <a:effectLst>
            <a:glow rad="228600">
              <a:schemeClr val="accent6">
                <a:satMod val="175000"/>
                <a:alpha val="40000"/>
              </a:schemeClr>
            </a:glow>
          </a:effectLst>
        </p:spPr>
      </p:pic>
      <p:sp>
        <p:nvSpPr>
          <p:cNvPr id="13" name="Arrow: Right 12">
            <a:extLst>
              <a:ext uri="{FF2B5EF4-FFF2-40B4-BE49-F238E27FC236}">
                <a16:creationId xmlns:a16="http://schemas.microsoft.com/office/drawing/2014/main" id="{546D6FC9-DE12-BC14-7C32-B779DFB8F622}"/>
              </a:ext>
            </a:extLst>
          </p:cNvPr>
          <p:cNvSpPr/>
          <p:nvPr/>
        </p:nvSpPr>
        <p:spPr>
          <a:xfrm>
            <a:off x="5029200" y="3200400"/>
            <a:ext cx="1219200" cy="609600"/>
          </a:xfrm>
          <a:prstGeom prst="rightArrow">
            <a:avLst/>
          </a:prstGeo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1D4B767D-8BA3-381B-3D85-CB3827F664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&lt;&lt;</a:t>
            </a:r>
            <a:r>
              <a:rPr lang="vi-VN" dirty="0"/>
              <a:t>Phân tích thói quen dùng MXH</a:t>
            </a:r>
            <a:r>
              <a:rPr lang="en-US" dirty="0"/>
              <a:t>&gt;&gt;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F021AF32-0259-6819-3C37-7C69DDE31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76957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724400" y="2962870"/>
            <a:ext cx="188064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glow" dir="tl">
                <a:rot lat="0" lon="0" rev="5400000"/>
              </a:lightRig>
            </a:scene3d>
            <a:sp3d contourW="12700">
              <a:bevelT w="25400" h="25400"/>
              <a:contourClr>
                <a:schemeClr val="accent6">
                  <a:shade val="73000"/>
                </a:schemeClr>
              </a:contourClr>
            </a:sp3d>
          </a:bodyPr>
          <a:lstStyle/>
          <a:p>
            <a:r>
              <a:rPr lang="en-US" sz="5400" b="1" cap="small">
                <a:ln w="11430"/>
                <a:gradFill>
                  <a:gsLst>
                    <a:gs pos="0">
                      <a:schemeClr val="accent6">
                        <a:tint val="90000"/>
                        <a:satMod val="120000"/>
                      </a:schemeClr>
                    </a:gs>
                    <a:gs pos="25000">
                      <a:schemeClr val="accent6">
                        <a:tint val="93000"/>
                        <a:satMod val="120000"/>
                      </a:schemeClr>
                    </a:gs>
                    <a:gs pos="50000">
                      <a:schemeClr val="accent6">
                        <a:shade val="89000"/>
                        <a:satMod val="110000"/>
                      </a:schemeClr>
                    </a:gs>
                    <a:gs pos="75000">
                      <a:schemeClr val="accent6">
                        <a:tint val="93000"/>
                        <a:satMod val="120000"/>
                      </a:schemeClr>
                    </a:gs>
                    <a:gs pos="100000">
                      <a:schemeClr val="accent6">
                        <a:tint val="90000"/>
                        <a:satMod val="120000"/>
                      </a:schemeClr>
                    </a:gs>
                  </a:gsLst>
                  <a:lin ang="5400000"/>
                </a:gradFill>
                <a:effectLst>
                  <a:outerShdw blurRad="80000" dist="40000" dir="5040000" algn="tl">
                    <a:srgbClr val="000000">
                      <a:alpha val="30000"/>
                    </a:srgbClr>
                  </a:outerShdw>
                </a:effectLst>
              </a:rPr>
              <a:t>Q &amp; A</a:t>
            </a:r>
          </a:p>
        </p:txBody>
      </p:sp>
      <p:cxnSp>
        <p:nvCxnSpPr>
          <p:cNvPr id="3" name="Straight Connector 2"/>
          <p:cNvCxnSpPr/>
          <p:nvPr/>
        </p:nvCxnSpPr>
        <p:spPr>
          <a:xfrm>
            <a:off x="762000" y="3886200"/>
            <a:ext cx="10744200" cy="0"/>
          </a:xfrm>
          <a:prstGeom prst="line">
            <a:avLst/>
          </a:prstGeom>
          <a:ln w="76200" cmpd="thinThick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B4E379A-8AC7-9499-85BB-9036108074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&lt;&lt;</a:t>
            </a:r>
            <a:r>
              <a:rPr lang="vi-VN" dirty="0"/>
              <a:t>Phân tích thói quen dùng MXH</a:t>
            </a:r>
            <a:r>
              <a:rPr lang="en-US" dirty="0"/>
              <a:t>&gt;&gt;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F8A2BF-94E7-1B65-3708-9942E5F478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6861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267200" y="2971800"/>
            <a:ext cx="3108159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glow" dir="tl">
                <a:rot lat="0" lon="0" rev="5400000"/>
              </a:lightRig>
            </a:scene3d>
            <a:sp3d contourW="12700">
              <a:bevelT w="25400" h="25400"/>
              <a:contourClr>
                <a:schemeClr val="accent6">
                  <a:shade val="73000"/>
                </a:schemeClr>
              </a:contourClr>
            </a:sp3d>
          </a:bodyPr>
          <a:lstStyle/>
          <a:p>
            <a:r>
              <a:rPr lang="en-US" sz="5400" b="1" cap="small">
                <a:ln w="11430"/>
                <a:gradFill>
                  <a:gsLst>
                    <a:gs pos="0">
                      <a:schemeClr val="accent6">
                        <a:tint val="90000"/>
                        <a:satMod val="120000"/>
                      </a:schemeClr>
                    </a:gs>
                    <a:gs pos="25000">
                      <a:schemeClr val="accent6">
                        <a:tint val="93000"/>
                        <a:satMod val="120000"/>
                      </a:schemeClr>
                    </a:gs>
                    <a:gs pos="50000">
                      <a:schemeClr val="accent6">
                        <a:shade val="89000"/>
                        <a:satMod val="110000"/>
                      </a:schemeClr>
                    </a:gs>
                    <a:gs pos="75000">
                      <a:schemeClr val="accent6">
                        <a:tint val="93000"/>
                        <a:satMod val="120000"/>
                      </a:schemeClr>
                    </a:gs>
                    <a:gs pos="100000">
                      <a:schemeClr val="accent6">
                        <a:tint val="90000"/>
                        <a:satMod val="120000"/>
                      </a:schemeClr>
                    </a:gs>
                  </a:gsLst>
                  <a:lin ang="5400000"/>
                </a:gradFill>
                <a:effectLst>
                  <a:outerShdw blurRad="80000" dist="40000" dir="5040000" algn="tl">
                    <a:srgbClr val="000000">
                      <a:alpha val="30000"/>
                    </a:srgbClr>
                  </a:outerShdw>
                </a:effectLst>
              </a:rPr>
              <a:t>Thank You</a:t>
            </a:r>
          </a:p>
        </p:txBody>
      </p:sp>
      <p:cxnSp>
        <p:nvCxnSpPr>
          <p:cNvPr id="3" name="Straight Connector 2"/>
          <p:cNvCxnSpPr/>
          <p:nvPr/>
        </p:nvCxnSpPr>
        <p:spPr>
          <a:xfrm>
            <a:off x="762000" y="3886200"/>
            <a:ext cx="10744200" cy="0"/>
          </a:xfrm>
          <a:prstGeom prst="line">
            <a:avLst/>
          </a:prstGeom>
          <a:ln w="76200" cmpd="thinThick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842278D-D31A-C06B-2D82-430023CE88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&lt;&lt;</a:t>
            </a:r>
            <a:r>
              <a:rPr lang="vi-VN" dirty="0"/>
              <a:t>Phân tích thói quen dùng MXH</a:t>
            </a:r>
            <a:r>
              <a:rPr lang="en-US"/>
              <a:t>&gt;&gt;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8F9D0D-BF3A-AA82-F288-6EA4B334E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93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plat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100</TotalTime>
  <Words>1777</Words>
  <Application>Microsoft Office PowerPoint</Application>
  <PresentationFormat>Widescreen</PresentationFormat>
  <Paragraphs>235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30</vt:i4>
      </vt:variant>
    </vt:vector>
  </HeadingPairs>
  <TitlesOfParts>
    <vt:vector size="43" baseType="lpstr">
      <vt:lpstr>Arial</vt:lpstr>
      <vt:lpstr>Calibri</vt:lpstr>
      <vt:lpstr>Courier New</vt:lpstr>
      <vt:lpstr>Fpt-DaxlinePro-Bold</vt:lpstr>
      <vt:lpstr>Fpt-DaxlinePro-Medium</vt:lpstr>
      <vt:lpstr>Roboto Lt</vt:lpstr>
      <vt:lpstr>Segoe UI</vt:lpstr>
      <vt:lpstr>Tahoma</vt:lpstr>
      <vt:lpstr>Times New Roman</vt:lpstr>
      <vt:lpstr>Wingdings</vt:lpstr>
      <vt:lpstr>Custom Design</vt:lpstr>
      <vt:lpstr>1_Custom Design</vt:lpstr>
      <vt:lpstr>template</vt:lpstr>
      <vt:lpstr>PHÂN TÍCH THÓI QUEN DÙNG MẠNG XÃ HỘI</vt:lpstr>
      <vt:lpstr>Nội dung</vt:lpstr>
      <vt:lpstr>PowerPoint Presentation</vt:lpstr>
      <vt:lpstr>Giới thiệu thành viên #1</vt:lpstr>
      <vt:lpstr>Giới thiệu thành viên #2</vt:lpstr>
      <vt:lpstr>Giới thiệu thành viên #3</vt:lpstr>
      <vt:lpstr>Giới thiệu thành viên #4</vt:lpstr>
      <vt:lpstr>Giới thiệu thành viên #5</vt:lpstr>
      <vt:lpstr>PowerPoint Presentation</vt:lpstr>
      <vt:lpstr>Giới thiệu dự án</vt:lpstr>
      <vt:lpstr>Yêu cầu dự án</vt:lpstr>
      <vt:lpstr>Sản phẩm mục tiêu</vt:lpstr>
      <vt:lpstr>PowerPoint Presentation</vt:lpstr>
      <vt:lpstr>Phân tích hệ thống</vt:lpstr>
      <vt:lpstr>Kiến trúc hệ thống</vt:lpstr>
      <vt:lpstr>PowerPoint Presentation</vt:lpstr>
      <vt:lpstr>Phân tích dự án #1</vt:lpstr>
      <vt:lpstr>Phân tích dự án #2</vt:lpstr>
      <vt:lpstr>Phân tích dự án #2</vt:lpstr>
      <vt:lpstr>Phân tích dự án #3</vt:lpstr>
      <vt:lpstr>PowerPoint Presentation</vt:lpstr>
      <vt:lpstr>Chuyển đổi dữ liệu</vt:lpstr>
      <vt:lpstr>PowerPoint Presentation</vt:lpstr>
      <vt:lpstr>Khó khăn &amp; Thuận lợi</vt:lpstr>
      <vt:lpstr>PowerPoint Presentation</vt:lpstr>
      <vt:lpstr>Sản phẩm thực tế</vt:lpstr>
      <vt:lpstr>PowerPoint Presentation</vt:lpstr>
      <vt:lpstr>Demo dự án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Tin Học Văn Phòng</dc:title>
  <dc:creator>Hans</dc:creator>
  <cp:lastModifiedBy>Huyen imy</cp:lastModifiedBy>
  <cp:revision>3</cp:revision>
  <dcterms:created xsi:type="dcterms:W3CDTF">2013-04-23T08:05:33Z</dcterms:created>
  <dcterms:modified xsi:type="dcterms:W3CDTF">2025-12-01T11:02:08Z</dcterms:modified>
</cp:coreProperties>
</file>